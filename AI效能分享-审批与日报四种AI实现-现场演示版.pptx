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9ef504fe0a40b0" /><Relationship Type="http://schemas.openxmlformats.org/officeDocument/2006/relationships/extended-properties" Target="/docProps/app.xml" Id="R47218edcfa4746a0" /><Relationship Type="http://schemas.openxmlformats.org/officeDocument/2006/relationships/officeDocument" Target="/ppt/presentation.xml" Id="Ra60989db253e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7decda8e3345d7"/>
  </p:sldMasterIdLst>
  <p:notesMasterIdLst>
    <p:notesMasterId xmlns:r="http://schemas.openxmlformats.org/officeDocument/2006/relationships" r:id="Rfa742063fce444f2"/>
  </p:notesMasterIdLst>
  <p:sldIdLst>
    <p:sldId xmlns:r="http://schemas.openxmlformats.org/officeDocument/2006/relationships" id="256" r:id="Rc12f3e0db6f44df4"/>
    <p:sldId xmlns:r="http://schemas.openxmlformats.org/officeDocument/2006/relationships" id="257" r:id="R59e87a97ad21497f"/>
    <p:sldId xmlns:r="http://schemas.openxmlformats.org/officeDocument/2006/relationships" id="258" r:id="R1ee78c345d734767"/>
    <p:sldId xmlns:r="http://schemas.openxmlformats.org/officeDocument/2006/relationships" id="259" r:id="R19012654346d4c20"/>
    <p:sldId xmlns:r="http://schemas.openxmlformats.org/officeDocument/2006/relationships" id="260" r:id="R7146bbce8ac14853"/>
    <p:sldId xmlns:r="http://schemas.openxmlformats.org/officeDocument/2006/relationships" id="261" r:id="R258526f9ed414507"/>
    <p:sldId xmlns:r="http://schemas.openxmlformats.org/officeDocument/2006/relationships" id="262" r:id="R794649ce4dcb434c"/>
    <p:sldId xmlns:r="http://schemas.openxmlformats.org/officeDocument/2006/relationships" id="263" r:id="Rf0bc538588ae4f72"/>
    <p:sldId xmlns:r="http://schemas.openxmlformats.org/officeDocument/2006/relationships" id="264" r:id="R3065dc024e4d4b42"/>
    <p:sldId xmlns:r="http://schemas.openxmlformats.org/officeDocument/2006/relationships" id="265" r:id="Rb6ef2bcc35424af3"/>
    <p:sldId xmlns:r="http://schemas.openxmlformats.org/officeDocument/2006/relationships" id="266" r:id="Rbf4ff0cf15424c0b"/>
    <p:sldId xmlns:r="http://schemas.openxmlformats.org/officeDocument/2006/relationships" id="267" r:id="R4462f991602342c7"/>
    <p:sldId xmlns:r="http://schemas.openxmlformats.org/officeDocument/2006/relationships" id="268" r:id="R3bd8a884ece94fbf"/>
    <p:sldId xmlns:r="http://schemas.openxmlformats.org/officeDocument/2006/relationships" id="269" r:id="R0dfeb77a68aa4048"/>
    <p:sldId xmlns:r="http://schemas.openxmlformats.org/officeDocument/2006/relationships" id="270" r:id="Rb23bbdfb5be944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e08a3c68f5435c" /><Relationship Type="http://schemas.openxmlformats.org/officeDocument/2006/relationships/slideMaster" Target="/ppt/slideMasters/slideMaster1.xml" Id="R287decda8e3345d7" /><Relationship Type="http://schemas.openxmlformats.org/officeDocument/2006/relationships/notesMaster" Target="/ppt/notesMasters/notesMaster1.xml" Id="Rfa742063fce444f2" /><Relationship Type="http://schemas.openxmlformats.org/officeDocument/2006/relationships/presProps" Target="/ppt/presProps.xml" Id="R8ba496bacd4247c4" /><Relationship Type="http://schemas.openxmlformats.org/officeDocument/2006/relationships/tableStyles" Target="/ppt/tableStyles.xml" Id="R416852c387ff411d" /><Relationship Type="http://schemas.openxmlformats.org/officeDocument/2006/relationships/slide" Target="/ppt/slides/slide1.xml" Id="Rc12f3e0db6f44df4" /><Relationship Type="http://schemas.openxmlformats.org/officeDocument/2006/relationships/slide" Target="/ppt/slides/slide2.xml" Id="R59e87a97ad21497f" /><Relationship Type="http://schemas.openxmlformats.org/officeDocument/2006/relationships/slide" Target="/ppt/slides/slide3.xml" Id="R1ee78c345d734767" /><Relationship Type="http://schemas.openxmlformats.org/officeDocument/2006/relationships/slide" Target="/ppt/slides/slide4.xml" Id="R19012654346d4c20" /><Relationship Type="http://schemas.openxmlformats.org/officeDocument/2006/relationships/slide" Target="/ppt/slides/slide5.xml" Id="R7146bbce8ac14853" /><Relationship Type="http://schemas.openxmlformats.org/officeDocument/2006/relationships/slide" Target="/ppt/slides/slide6.xml" Id="R258526f9ed414507" /><Relationship Type="http://schemas.openxmlformats.org/officeDocument/2006/relationships/slide" Target="/ppt/slides/slide7.xml" Id="R794649ce4dcb434c" /><Relationship Type="http://schemas.openxmlformats.org/officeDocument/2006/relationships/slide" Target="/ppt/slides/slide8.xml" Id="Rf0bc538588ae4f72" /><Relationship Type="http://schemas.openxmlformats.org/officeDocument/2006/relationships/slide" Target="/ppt/slides/slide9.xml" Id="R3065dc024e4d4b42" /><Relationship Type="http://schemas.openxmlformats.org/officeDocument/2006/relationships/slide" Target="/ppt/slides/slide10.xml" Id="Rb6ef2bcc35424af3" /><Relationship Type="http://schemas.openxmlformats.org/officeDocument/2006/relationships/slide" Target="/ppt/slides/slide11.xml" Id="Rbf4ff0cf15424c0b" /><Relationship Type="http://schemas.openxmlformats.org/officeDocument/2006/relationships/slide" Target="/ppt/slides/slide12.xml" Id="R4462f991602342c7" /><Relationship Type="http://schemas.openxmlformats.org/officeDocument/2006/relationships/slide" Target="/ppt/slides/slide13.xml" Id="R3bd8a884ece94fbf" /><Relationship Type="http://schemas.openxmlformats.org/officeDocument/2006/relationships/slide" Target="/ppt/slides/slide14.xml" Id="R0dfeb77a68aa4048" /><Relationship Type="http://schemas.openxmlformats.org/officeDocument/2006/relationships/slide" Target="/ppt/slides/slide15.xml" Id="Rb23bbdfb5be944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4f636723648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96852c48b54090" /><Relationship Type="http://schemas.openxmlformats.org/officeDocument/2006/relationships/notesMaster" Target="/ppt/notesMasters/notesMaster1.xml" Id="R1463ef15b9a448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180676291445d" /><Relationship Type="http://schemas.openxmlformats.org/officeDocument/2006/relationships/notesMaster" Target="/ppt/notesMasters/notesMaster1.xml" Id="R63ec7c47e0964f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7300934b09485e" /><Relationship Type="http://schemas.openxmlformats.org/officeDocument/2006/relationships/notesMaster" Target="/ppt/notesMasters/notesMaster1.xml" Id="R874dfd0726564f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3a1874125c4b67" /><Relationship Type="http://schemas.openxmlformats.org/officeDocument/2006/relationships/notesMaster" Target="/ppt/notesMasters/notesMaster1.xml" Id="R9f014ae7aa854b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519480574342c7" /><Relationship Type="http://schemas.openxmlformats.org/officeDocument/2006/relationships/notesMaster" Target="/ppt/notesMasters/notesMaster1.xml" Id="Rb78bc5bcf1df42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a9c8dc083884bda" /><Relationship Type="http://schemas.openxmlformats.org/officeDocument/2006/relationships/notesMaster" Target="/ppt/notesMasters/notesMaster1.xml" Id="R971d63707d7d41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3929b881be4356" /><Relationship Type="http://schemas.openxmlformats.org/officeDocument/2006/relationships/notesMaster" Target="/ppt/notesMasters/notesMaster1.xml" Id="R59816e88ac234c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be1836dbe44264" /><Relationship Type="http://schemas.openxmlformats.org/officeDocument/2006/relationships/notesMaster" Target="/ppt/notesMasters/notesMaster1.xml" Id="R022ec8d95fa940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ea343f8e654c06" /><Relationship Type="http://schemas.openxmlformats.org/officeDocument/2006/relationships/notesMaster" Target="/ppt/notesMasters/notesMaster1.xml" Id="R873fd69c584d41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23e7cbda424beb" /><Relationship Type="http://schemas.openxmlformats.org/officeDocument/2006/relationships/notesMaster" Target="/ppt/notesMasters/notesMaster1.xml" Id="R2ddcba556c7940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87cb9119cd4474" /><Relationship Type="http://schemas.openxmlformats.org/officeDocument/2006/relationships/notesMaster" Target="/ppt/notesMasters/notesMaster1.xml" Id="R16bde3a5c3b245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685383052de4d56" /><Relationship Type="http://schemas.openxmlformats.org/officeDocument/2006/relationships/notesMaster" Target="/ppt/notesMasters/notesMaster1.xml" Id="R3b77833a0d424f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ce637fb6f244e6" /><Relationship Type="http://schemas.openxmlformats.org/officeDocument/2006/relationships/notesMaster" Target="/ppt/notesMasters/notesMaster1.xml" Id="R062eda9340464cb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cee393173b4715" /><Relationship Type="http://schemas.openxmlformats.org/officeDocument/2006/relationships/notesMaster" Target="/ppt/notesMasters/notesMaster1.xml" Id="R11566cc975da44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2adefed8de6430a" /><Relationship Type="http://schemas.openxmlformats.org/officeDocument/2006/relationships/notesMaster" Target="/ppt/notesMasters/notesMaster1.xml" Id="R3e0e4c56e68946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开场先讲业务目标，不先讲框架名：平台审批入口多、字段复杂，希望用户用一句自然语言完成信息收集、预览和提交。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按通知要求依次覆盖场景、路径、效果、问题，并把四次演示嵌入主线。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说明问答式助手解决的是入口和字段理解成本，AI 不直接替代业务规则。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D:/PythonProject/LearnOne/ai_approval_assistant/app/tools/daily_report_tools.py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讲清楚四个阶段是执行权演进：Flow 控顺序，Agent 选工具，混合架构加 Gate，Deep Agent 探索长任务。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按业务语言讲固定日报子图，强调它适合强规则生产流程。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40 秒</a:t>
            </a:r>
          </a:p>
          <a:p xmlns:a="http://schemas.openxmlformats.org/drawingml/2006/main">
            <a:r>
              <a:t>打开 8010 Swagger，输入日报内容，用同一 session 回复确认提交，展示 trace 和预览。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D:/PythonProject/LearnOne/ai_approval_assistant/app/tools/daily_report_tools.py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说明 create_agent / ReAct 的自主工具选择和 guarded_submit_daily_report。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- D:/PythonProject/LearnOne/ai_approval_assistant/app/tools/daily_report_tools.py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40 秒</a:t>
            </a:r>
          </a:p>
          <a:p xmlns:a="http://schemas.openxmlformats.org/drawingml/2006/main">
            <a:r>
              <a:t>换新 session，展示 messages 和工具调用，不只看最后一句回答。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- D:/PythonProject/LearnOne/ai_approval_assistant/app/tools/daily_report_tools.py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强调 Agent 负责智能判断，Workflow 负责业务顺序和写入权限；当前规划与生成是规则模拟。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40 秒</a:t>
            </a:r>
          </a:p>
          <a:p xmlns:a="http://schemas.openxmlformats.org/drawingml/2006/main">
            <a:r>
              <a:t>展示 trace 和结构化状态，确认后才进入 demo_submit_gate，并说明 Demo 保存/提交边界。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 30 秒</a:t>
            </a:r>
          </a:p>
          <a:p xmlns:a="http://schemas.openxmlformats.org/drawingml/2006/main">
            <a:r>
              <a:t>按风险和确定性选择，不做框架排行榜。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前三种是日报实验，Deep Agent 是独立审批探索，不做同场景性能对比；后端为 Mock。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- D:/PythonProject/LearnOne/ai_deep_agents_assistant/app/tools/approval_tools.py</a:t>
            </a:r>
          </a:p>
          <a:p xmlns:a="http://schemas.openxmlformats.org/drawingml/2006/main">
            <a:r>
              <a:t>- D:/PythonProject/LearnOne/ai_deep_agents_assistant/app/services/approval_service.py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建议时长：2 分钟</a:t>
            </a:r>
          </a:p>
          <a:p xmlns:a="http://schemas.openxmlformats.org/drawingml/2006/main">
            <a:r>
              <a:t>启动 8020，第一轮展示 awaiting_confirmation，第二轮同一 session 回复确认提交，展示恢复后的提交结果。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- D:/PythonProject/LearnOne/ai_deep_agents_assistant/app/services/chat_service.py</a:t>
            </a:r>
          </a:p>
          <a:p xmlns:a="http://schemas.openxmlformats.org/drawingml/2006/main">
            <a:r>
              <a:t>- D:/PythonProject/LearnOne/ai_deep_agents_assistant/app/services/approval_service.py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建议时长：1 分钟</a:t>
            </a:r>
          </a:p>
          <a:p xmlns:a="http://schemas.openxmlformats.org/drawingml/2006/main">
            <a:r>
              <a:t>诚实讲当前结果和问题，下一步测量轮次、成功率、延迟、Token 和失败重试。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D:/PythonProject/LearnOne/ai_approval_assistant/app/agents/daily_report_create_agent.py</a:t>
            </a:r>
          </a:p>
          <a:p xmlns:a="http://schemas.openxmlformats.org/drawingml/2006/main">
            <a:r>
              <a:t>- D:/PythonProject/LearnOne/ai_approval_assistant/app/agents/daily_report_agentic_workflow_demo.py</a:t>
            </a:r>
          </a:p>
          <a:p xmlns:a="http://schemas.openxmlformats.org/drawingml/2006/main">
            <a:r>
              <a:t>- D:/PythonProject/LearnOne/ai_deep_agents_assistant/app/services/approval_service.py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建议时长：40 秒</a:t>
            </a:r>
          </a:p>
          <a:p xmlns:a="http://schemas.openxmlformats.org/drawingml/2006/main">
            <a:r>
              <a:t>回到开场，收束为一句原则：让 AI 获得合适的决策权，而不是最大的决策权。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D:/PythonProject/LearnOne/ai_approval_assistant/app/graph/daily_report_workflow.py</a:t>
            </a:r>
          </a:p>
          <a:p xmlns:a="http://schemas.openxmlformats.org/drawingml/2006/main">
            <a:r>
              <a:t>- D:/PythonProject/LearnOne/ai_approval_assistant/app/graph/daily_report_agentic_workflow_demo.py</a:t>
            </a:r>
          </a:p>
          <a:p xmlns:a="http://schemas.openxmlformats.org/drawingml/2006/main">
            <a:r>
              <a:t>- D:/PythonProject/LearnOne/ai_deep_agents_assistant/app/agents/approval_agent.py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5d389fae945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6766e1b2c54391" /><Relationship Type="http://schemas.openxmlformats.org/officeDocument/2006/relationships/slideLayout" Target="/ppt/slideLayouts/slideLayout1.xml" Id="R3220829caffa44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20829caffa44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84ab421f841fd" /><Relationship Type="http://schemas.openxmlformats.org/officeDocument/2006/relationships/notesSlide" Target="/ppt/notesSlides/notesSlide1.xml" Id="R10a05a063b0f4a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4b0645d2e48d3" /><Relationship Type="http://schemas.openxmlformats.org/officeDocument/2006/relationships/notesSlide" Target="/ppt/notesSlides/notesSlide2.xml" Id="Rea15abd979c742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989f1ddca4ebb" /><Relationship Type="http://schemas.openxmlformats.org/officeDocument/2006/relationships/notesSlide" Target="/ppt/notesSlides/notesSlide3.xml" Id="Ra0634bf27fe149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d61797c484b89" /><Relationship Type="http://schemas.openxmlformats.org/officeDocument/2006/relationships/notesSlide" Target="/ppt/notesSlides/notesSlide4.xml" Id="R3c57e0763da04e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0c580fd1f4976" /><Relationship Type="http://schemas.openxmlformats.org/officeDocument/2006/relationships/notesSlide" Target="/ppt/notesSlides/notesSlide5.xml" Id="R46b1e4402bf846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a94ba75c642b1" /><Relationship Type="http://schemas.openxmlformats.org/officeDocument/2006/relationships/notesSlide" Target="/ppt/notesSlides/notesSlide6.xml" Id="R869c2487d46e4e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0f3a9766f46c6" /><Relationship Type="http://schemas.openxmlformats.org/officeDocument/2006/relationships/notesSlide" Target="/ppt/notesSlides/notesSlide7.xml" Id="R5659ffaed43f41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281b3ab48494b" /><Relationship Type="http://schemas.openxmlformats.org/officeDocument/2006/relationships/notesSlide" Target="/ppt/notesSlides/notesSlide8.xml" Id="R90014dc0b30443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1fbbfb67d44fc" /><Relationship Type="http://schemas.openxmlformats.org/officeDocument/2006/relationships/notesSlide" Target="/ppt/notesSlides/notesSlide9.xml" Id="R51e503afe3da49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b0e4f47174f49" /><Relationship Type="http://schemas.openxmlformats.org/officeDocument/2006/relationships/notesSlide" Target="/ppt/notesSlides/notesSlide10.xml" Id="Ra37dbe0272fc4b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b9a096e734cd8" /><Relationship Type="http://schemas.openxmlformats.org/officeDocument/2006/relationships/notesSlide" Target="/ppt/notesSlides/notesSlide11.xml" Id="R08020778493444a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6fc9be4374d06" /><Relationship Type="http://schemas.openxmlformats.org/officeDocument/2006/relationships/notesSlide" Target="/ppt/notesSlides/notesSlide12.xml" Id="Rf3ccec00b21d48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e9623a44ad4ab9" /><Relationship Type="http://schemas.openxmlformats.org/officeDocument/2006/relationships/notesSlide" Target="/ppt/notesSlides/notesSlide13.xml" Id="R8a7faa3b2f5642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ce2c06427641c4" /><Relationship Type="http://schemas.openxmlformats.org/officeDocument/2006/relationships/notesSlide" Target="/ppt/notesSlides/notesSlide14.xml" Id="Rb865c20ecc9841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62ebad7c2248b3" /><Relationship Type="http://schemas.openxmlformats.org/officeDocument/2006/relationships/notesSlide" Target="/ppt/notesSlides/notesSlide15.xml" Id="Rc688585910404b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046C13-541C-42FC-8F9F-407EDB06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2B904-30D4-415D-8A21-22140454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901BB-9311-4CDA-81DA-9EBAD617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B"/>
          </a:solidFill>
          <a:ln xmlns:a="http://schemas.openxmlformats.org/drawingml/2006/main" w="0">
            <a:solidFill>
              <a:srgbClr val="10182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77DE3-83EE-4BAC-958B-6A8BFDB0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14400"/>
            <a:ext cx="2571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CA833-22E8-4E05-A37F-035334FC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A9A2E-D95B-4B49-9A84-429009C7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695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6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46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从复杂表单</a:t>
            </a:r>
          </a:p>
          <a:p xmlns:a="http://schemas.openxmlformats.org/drawingml/2006/main">
            <a:pPr algn="l">
              <a:defRPr sz="46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46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到一句话提交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BBE76-27D5-410E-B8AD-6204CDCA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90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审批助手与日报的四种 AI 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335DF-02E6-4652-81A1-89386077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243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Flow  ·  Agent Flow  ·  Agentic Workflow  ·  Deep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B9C8D-F2BD-4A5D-9B06-90FE3331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现场分享 / 约 20 分钟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0600-D2F8-4DFF-A34E-B6D7344D4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81025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30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65615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097876-5D97-4DAC-97F0-9CDC11DF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32085B-6B63-4742-A662-750B1A97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EDE2E-B2BB-4F5F-80A5-75812B0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BCD57-B4F1-474E-850D-CE7F8DCE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分享路线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22A656-E02E-4D84-8AD2-69E027FA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E9084-28FE-4ED1-BAC7-2BD85C415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5AA27-60BF-43CE-8A4D-4EB0F2A1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今天不讲框架名词，讲一次完整演示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60CD0-6AF1-4219-8B76-F5107F7E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从业务痛点出发，看四种实现如何分配执行权。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F1B380-D174-4833-BCD0-8CF1C4AB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B15E8C-3AC8-455D-9CE0-8E20DDED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67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应用场景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97AA52-A747-4E61-A19D-CC19735E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为什么要把审批入口改成问答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8C4638-BDB3-48B9-8130-983B3FEE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48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F5735F-1A1D-4BB8-993A-89309C7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3F761-E5E9-4569-972A-7FF8BBE1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实施路径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727DFB-0E9B-4CAD-85A4-07FA24E1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从 Flow 到 Agent，再到混合架构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964092-7560-4B29-B2F2-3B73C243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D0BE3-369F-4755-9BA5-571A9481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8F7E37-4727-4619-AE89-F824DF00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10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三种日报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127486-0E23-4B0C-9EC0-6F390D31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810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同一目标，连续演示三条路径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DC55E7-7AB5-4D60-8FD7-3558E6A80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5D667-F4BD-4842-9BDF-63A4DB2F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49C322-52CE-4737-8493-47515F8B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Deep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6B0511-87E1-4513-BEB2-07F0CBB0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审批场景里的 Checkpoint 与人工确认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9FF3DB-1D9F-42C4-92BD-DFF2A05D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625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864F27-BD67-4A79-9404-631A1574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399B72-DB1B-4765-B142-E2C0270E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效果与问题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EE8F16-3CE0-4243-A18D-F429FA1A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53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当前实现了什么，下一步补什么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B231E0-0FD8-4D1E-8287-517D6E5E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025722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F7B106-5D41-47D1-BA73-D1C48CD1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53D4D-AACB-48B7-94AA-C110A9C7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3F43C-E166-49BB-9EFB-051E07EE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0FA51-F7A0-47B2-A399-EC01CDC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应用场景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BEB42-E412-44EC-A287-AA4AE3B4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715C54-DDC9-498A-9944-60DE112F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WHY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39E83A-C557-4822-9FD9-D2ED2CAA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用户不应该先学会表单，才能完成审批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1DC0C-98DB-475E-8736-9390E40D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目标：把复杂审批提交，变成一次自然语言对话。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F393E-9821-4CB7-A10B-38AAC986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4476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1D000-C612-478B-A9C2-894594ED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6315075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42EEF1-137C-4A6A-BF14-7F1726928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6B6B"/>
          </a:solidFill>
          <a:ln xmlns:a="http://schemas.openxmlformats.org/drawingml/2006/main" w="0">
            <a:solidFill>
              <a:srgbClr val="FF6B6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FCC3E-8D2B-4239-972F-C5712FDE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现在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B60E3-15B9-4D2D-A70B-EBAF90D4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289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48894-2540-49BD-B448-AD7A28DE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0861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希望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D7E2D-F758-41A2-B93F-1C41B05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找入口 → 选模板 → 理解字段</a:t>
            </a:r>
          </a:p>
          <a:p xmlns:a="http://schemas.openxmlformats.org/drawingml/2006/main">
            <a:pPr algn="l">
              <a:defRPr sz="18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逐项填写 → 找审批人 → 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D1264-DA1E-48FB-8AEE-CF700127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43300"/>
            <a:ext cx="533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直接说：</a:t>
            </a:r>
          </a:p>
          <a:p xmlns:a="http://schemas.openxmlformats.org/drawingml/2006/main">
            <a:pPr algn="l">
              <a:defRPr sz="23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“我要请假三天”</a:t>
            </a:r>
          </a:p>
          <a:p xmlns:a="http://schemas.openxmlformats.org/drawingml/2006/main">
            <a:pPr algn="l">
              <a:defRPr sz="23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3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“把今天完成的工作写进日报”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07A34-D8BD-4012-998C-564252F5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9149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AI 负责理解与追问；业务代码负责校验、预览和写入。</a:t>
            </a:r>
          </a:p>
        </p:txBody>
      </p:sp>
    </p:spTree>
    <p:extLst>
      <p:ext uri="{BB962C8B-B14F-4D97-AF65-F5344CB8AC3E}">
        <p14:creationId xmlns:p14="http://schemas.microsoft.com/office/powerpoint/2010/main" val="10927957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4B4AB8-9511-4DF9-A5EF-84B01D0C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136EEC-08EF-4D8A-8F08-95076499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37E30-2307-4869-B88D-5EAEE67A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C09A4-46BD-4A8B-9095-84690C04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实施路径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E5477-A4FB-4BFE-87B2-5CC896E3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81B48-72E6-45C9-9A9F-0C960BA2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EVOLUTION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7E2CDA-EB21-41BA-AB34-C1867F41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每次演进，都在重新分配“谁做决定”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EF3AE3-62F9-4133-8A13-88ADD0B2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不是越智能越好，而是让决策权和业务风险匹配。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444F9-3083-49B4-9D52-CA71CEC6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00488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11DA9-591C-4B5F-8E17-B1132A0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1759C-6C93-4E83-B857-645413A3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3D7165-6C28-46F5-925B-0396AB75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317EF-C832-4F08-A854-70614662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代码决定顺序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91E57-CA9B-4D62-899C-D0AAF197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先把业务跑稳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E45468-E98A-4E7B-BAC4-F485F289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19A0AB-8589-433B-B5BB-D06CD729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3D5B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3D5B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1D83D-DD89-436E-A961-0157DE29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409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Agent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125F0-B4F3-4B56-AB78-4E2AE808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886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模型选择工具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7B4CA-F7C5-4FAA-981A-F36FC137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4386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3D5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D5B3"/>
                </a:solidFill>
                <a:latin typeface="Aptos"/>
                <a:ea typeface="Aptos"/>
                <a:cs typeface="Aptos"/>
              </a:rPr>
              <a:t>验证自主调用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DB3E2D-EDFA-4392-B1FB-5C17C837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54E60-EFA9-4229-8B00-C0CCF4D2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C85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E986BD-EC12-4914-B1C5-F6431466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409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Agentic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50053A-BB59-42EF-8A92-91246E9C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886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Agent + Workflow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BEB12-85A6-4BBB-B0BC-58F415EF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386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C857"/>
                </a:solidFill>
                <a:latin typeface="Aptos"/>
                <a:ea typeface="Aptos"/>
                <a:cs typeface="Aptos"/>
              </a:rPr>
              <a:t>让 AI 进入受控流程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6003E2-32C8-4E47-9602-4369C21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E538AA-67EA-4180-A801-D9EE9752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98B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8B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9A222-DB55-4F39-B178-373567ED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99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Deep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5FCBC5-AFB3-4F1D-92BB-35B265FE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886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目标驱动 + HITL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D15BD-A19B-40F5-9109-687E2C2A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438650"/>
            <a:ext cx="2238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8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8BFF"/>
                </a:solidFill>
                <a:latin typeface="Aptos"/>
                <a:ea typeface="Aptos"/>
                <a:cs typeface="Aptos"/>
              </a:rPr>
              <a:t>探索更长任务</a:t>
            </a:r>
          </a:p>
        </p:txBody>
      </p:sp>
    </p:spTree>
    <p:extLst>
      <p:ext uri="{BB962C8B-B14F-4D97-AF65-F5344CB8AC3E}">
        <p14:creationId xmlns:p14="http://schemas.microsoft.com/office/powerpoint/2010/main" val="182727449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ECD1A0-C23E-4D42-A1C3-E7800801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46347-7635-41C9-91B6-7FE6593C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AD75E9-6ACA-40F1-8643-B5B10F13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81FB9-C81F-48FF-B023-DEAE01D0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实施路径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94E89-A612-40AE-9A63-3ED630AA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D3AE7-21FE-4322-BE23-FF930E17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8951DE-91D1-4CD6-A2CC-4962D0868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固定 Flow：把业务规则直接写进图里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8F20E5-F48F-44D4-AB2A-FFD32CBD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节点、条件边和顺序由开发者定义。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06F5D-9A98-40F0-8F99-A63CE93C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9D4A7-0626-4A86-B609-8E24E7B1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9BC24D-C723-4823-84E7-F3ED9401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DF3E4-F1B7-4373-A7B8-0502E34C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56DFE-C192-4720-B135-109EAAB0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09C7CE-C3FA-4FF3-A1B8-D9BFAA64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3B87AE-1917-4A8A-A62F-451B036D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FDCCFE-20EE-4912-AD24-EE079003B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C06044-A9CF-4BD5-AC46-C8820526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节点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85FED9-750F-454D-B731-81334216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写日报：今天完成审批助手开发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BE9B8-B397-43B5-81D4-D7F58FDD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状态清晰，失败可定位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BA96C-2627-4583-8DEE-2E27EE8F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日期 / 上下文 / 草稿 / 预览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391DB-C334-4B3E-9E60-05BF831B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EB1FA0-FEC4-4B17-B067-5E50C0E4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39963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A7091C-F391-4309-B19A-C4514198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1A90E-A865-4F7C-95F2-99114E3B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C542D-F29B-47BF-9DB1-92BB5D23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5C714-A90D-4181-B482-426BE3D5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现场演示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D2B75-D05A-4EEF-A3AB-2225A381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28506-8F6E-43B2-AD2B-B0C5653C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DEMO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F0874-6856-4F31-92AE-8A2380A9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现场演示 1｜固定 Flow：看路径是否稳定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92A20-9C13-4EE2-826A-0CC9C908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先展示输入，再展示过程，最后用一句话收束结论。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9176B-419C-47ED-9A67-A35EEF8C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B33CF7-A2CE-4EA8-AB05-166F5C2D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0153FD-3C3D-47D6-AF29-4CFBE7A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0DE42-0567-43F6-94E8-D9C11D0C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写日报：今天完成审批助手开发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517133-DBBE-4CE4-A571-056C7758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session_id：demo-flow-001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FEF81-E525-45E3-857F-767C1B09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FF430-476C-4D87-91AE-55F6157F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29675-D8DB-447D-9C3C-100E70E1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看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241A21-E42E-4D29-86F0-AC4324C1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daily_report_agent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节点顺序固定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BE66F-61F3-4451-AB32-66B8C1E2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ED9A1-8498-4128-B41A-7E6684D9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D9239-7282-4A9A-96B2-5998303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看预览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63D17A-12A2-4BC9-9987-9162D550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保存草稿 → 预览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确认后恢复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13866A-60A9-422E-A7B1-47D7E80A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D89B26-586F-41E7-8612-95581452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9DF97-907A-464B-9D6B-8BDE7014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CB4E4-D6F7-484F-B3A2-3CF8C36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流程稳定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问题可定位</a:t>
            </a:r>
          </a:p>
        </p:txBody>
      </p:sp>
    </p:spTree>
    <p:extLst>
      <p:ext uri="{BB962C8B-B14F-4D97-AF65-F5344CB8AC3E}">
        <p14:creationId xmlns:p14="http://schemas.microsoft.com/office/powerpoint/2010/main" val="20926820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306D69-BB6E-41E8-97DB-CA77CA1C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D9303-BE7B-4725-B5BD-48276B9D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952869-83B5-480C-B2C3-39D40E5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B900F-EFB4-48B2-AAC4-D1A699B6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实施路径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C3DC0-9B96-46C4-80C2-B97E0B99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1A444-F837-4756-B111-C1D0302C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AGENT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B6CD3-7108-421B-8840-8EAF9131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自主 Agent：模型自己决定调用什么工具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7049BC-AAD6-4878-9AE7-8E3D82B4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自由来自工具选择，但提交仍有参数守卫。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8371BF-90AD-4B72-AF1B-0756DB9C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E8E177-17E2-4768-A1B9-FFCDA45A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63A81B-BA6A-45ED-8072-4CAC5C6E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A0D59A-096C-40C7-8C2E-A5931414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BED33-BAA9-4B80-9FF8-27B0C416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77BC7C-6611-45AE-B6E9-99D67DBF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3269D-6327-4D6F-BDFD-828F74BA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301B41-85B6-4501-8B82-5193E70D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6F5C8-40F9-4289-B66E-1CDCA807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3A8B08-218E-431B-9DB8-7650B9F0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理解用户目标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B0D9B-D0E6-4182-AA19-4822C0B3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路径灵活，成本难预测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38E4D5-331B-4CF2-87E0-FFA15F94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日期 / 上下文 / 草稿 / 预览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37D728-8FD9-4A2E-B918-11F48AFE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43D5B3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43D5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1F2708-5C57-4A31-9C2B-1191E28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43D5B3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43D5B3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5504988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0D3C8A-B54F-420E-B9AA-0A6357FC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57388-707A-486A-BEED-7FADAF58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6E0F4-3213-4D86-B038-9710D0DC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9EDE0-59F7-4FD0-9978-AC8AA8CD3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现场演示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771CE-B9B0-4338-97E4-4B39DFD8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35FA6-1D5A-4BF3-86B3-D589AC77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DEMO 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12780-0B28-4C95-BD04-82EC612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现场演示 2｜自主 Agent：看模型如何选工具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13D1C-E690-44BB-8A25-5B451393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先展示输入，再展示过程，最后用一句话收束结论。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1838FE-8BC1-4A4B-BECA-B3413876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3EFF5-B085-4881-950F-3F7F9840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511BB-37CB-424C-A2CB-27326CE7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E1C85-2F3D-4517-8DE7-97807813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自主agent写日报：今天完成审批助手开发2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65A6D5-EDFE-45EC-B4A0-117F742B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session_id：demo-agent-001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6831C-B9BF-4EA4-8226-01ECB8FF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4784A8-677E-4B4A-84EC-C3E642B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C51CB4-96FB-4BB9-BBF9-184AD9FE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看 messages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E7BF09-83A6-4F3F-96A6-5E1E1A11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模型消息历史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ToolMessage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00911A-7965-425B-928E-6C31A555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1FA444-3A44-4EF3-AF7D-0A3C1433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C0D87-86DD-40A0-A560-5C54F90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看 tool calls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E8CBB4-B3D4-4763-A014-3C171DEB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日期 → 上下文 → 草稿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顺序由模型决定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FB6E1-2563-4661-8ACF-B4F03096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450159-2868-4E78-9B14-C18D7875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6240C7-90F4-462F-8A6F-2149129C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3DAB2-9DF8-4524-8DBF-5CEF8F890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更灵活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更难排查</a:t>
            </a:r>
          </a:p>
        </p:txBody>
      </p:sp>
    </p:spTree>
    <p:extLst>
      <p:ext uri="{BB962C8B-B14F-4D97-AF65-F5344CB8AC3E}">
        <p14:creationId xmlns:p14="http://schemas.microsoft.com/office/powerpoint/2010/main" val="9774602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E8513E-7881-4F65-852D-47845E3C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9AE8D-883C-487A-BF90-6D7CEE5C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0B718-21AE-4617-A8DD-6A285CCE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075896-6B87-4C0F-952E-FFA97E05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实施路径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FE439-0D2A-4F03-A4CC-D5D417D5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3B7DE-6FBF-4D6E-B434-0BA47A3D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AGENTIC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26AD3-2FC4-4B1F-9922-FBB224DD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Agentic Workflow：Agent 提建议，Workflow 决定能否继续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1FAB3-A450-4513-B2AD-0644E27B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把智能理解和业务写入拆开。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3F68C-E3CD-4C17-B392-3697C911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033690-F867-4248-88B0-F559702EE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86501-7A21-4455-A48B-5309812B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C91D58-9836-4679-B33E-39F59896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5AC6E-2C7B-423E-840E-E1C3D164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54E18C-38C8-4B66-A68A-47535FE1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07327-3DC4-41C9-9DDE-32F7AD1B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F6C9E-EA1F-4C42-BF87-0B28D907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F1EB4-3388-4FF4-8E81-165E2F28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559D7-CB2F-4215-8FB1-0F0C8173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理解 / 规划 / 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76DEC-28FF-4EE8-8310-C498F4DD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未确认不能提交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9DA90-35E3-4620-AD2E-4560EF68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日期 / 保存 / 预览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C36A93-FBC9-4E23-B1A7-AF8DC04E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FFC85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7B062E-8887-4109-855D-E33A474E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FFC85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20820270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63F999-2342-4EF1-A628-988808B3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0F8AB-4C96-4A2B-95C1-E0EB6D23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1C600-463E-405D-9316-2CDD02F00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83D96-4E75-46B3-B8F4-748AEE24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现场演示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61E2F-CF14-4BEB-B436-BBC992FE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562C2-02BC-4398-AF03-54D5BBF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DEMO 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CDCAB4-B47F-4BC9-A099-0C6084477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现场演示 3｜Agentic Workflow：看职责分工与 Gate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94A59-9F43-4F7E-AFFF-B0104C9E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先展示输入，再展示过程，最后用一句话收束结论。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E7FE8F-DB71-4CBE-BCA2-094FE4B3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4A3C2-FA35-4758-876F-EC8BA774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5B7C7F-5F65-46A6-984A-59C05F8F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C22129-EED9-4396-B18C-E199C67D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agentic workflow写日报：今天完成审批助手开发3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62EA52-FF45-4712-A000-B1A9C727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session_id：demo-agentic-001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093ED-DA87-4E59-A202-AB921F95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FBB54E-D7AE-4896-A166-6094D07A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585B1-3D66-461E-B7F1-6E2C0052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看结构化状态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CE71E-CE5E-4096-BD67-D04B0B69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plan / context / compose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分开保存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D23BF4-DC72-4C4D-8072-4E0EAD6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6046A-87DA-40D9-831A-996618E6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52E4E6-3C35-48F7-BE55-A84CC31F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看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12AE9-9BD4-4F3E-98A2-DF88A456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未预览不能提交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未确认不能提交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555AAF-E9A4-4DCE-B4DB-7A4D76BD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A1604E-CF5C-4BB2-B3D4-E3CBDB22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07F4B-36B7-46E4-9186-FCBC6E81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18FCF4-136C-4C8B-816E-8A0443E2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智能理解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受控写入</a:t>
            </a:r>
          </a:p>
        </p:txBody>
      </p:sp>
    </p:spTree>
    <p:extLst>
      <p:ext uri="{BB962C8B-B14F-4D97-AF65-F5344CB8AC3E}">
        <p14:creationId xmlns:p14="http://schemas.microsoft.com/office/powerpoint/2010/main" val="129530191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3E2F6A7-4FE9-4B69-9C73-2DB167265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93632F-B09E-481C-9F64-767A654F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1F27A6-1A62-4299-9DAC-63266B38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51A4C-1659-46BE-BF01-0D4641E9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怎么选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312D2-D11F-40FA-A4A3-BFD5FF4E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0AA56-3227-405A-B1FD-764DEF89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CHOICE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66EA-DFFE-44BA-8F42-6E4212AF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四种实现不是排行榜，而是四种执行权配置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B8043C-8AAF-4E5F-9D01-536095FE2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判断标准：业务确定性、写入风险、状态要求、成本预算。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344D4-7746-41C1-8461-02BBC76C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5EAD7-F18C-4D81-8D4F-60E5BF0D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52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固定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E07FE7-7FE7-496B-9B0A-083DE17C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527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顺序最确定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5A8DB-B07D-48A3-BE4C-16E0CB7B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52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状态最好排查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BCBA8B-57BA-454B-9A5E-FF3F0552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527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生产强流程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1DF53-056D-451A-A5F9-F2CA7CB4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40D7D-5106-4775-ADA5-292D65F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C74BF-8429-4B9E-8462-778F8973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自主 Agent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40E29B-DE4A-4212-B35B-EB8B0EA2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路径可变化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7AF5DE-6499-40D4-8E71-0895651F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67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需要从 messages 反推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A63D8F-8EAB-4F48-B813-06F55FDC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67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3D5B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3D5B3"/>
                </a:solidFill>
                <a:latin typeface="Aptos"/>
                <a:ea typeface="Aptos"/>
                <a:cs typeface="Aptos"/>
              </a:rPr>
              <a:t>工具实验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62928C-0342-4947-B6E1-20FFA541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1477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82C535-C476-44D6-A39D-EDD9374B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8E1EAF-9BB7-4FA4-8E83-907A8CD1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81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Agentic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9FAD0E-380C-4E3E-BF0D-00FD06AC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814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理解 + 代码 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879CF0-DA2D-411D-994B-7C503234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81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结构化状态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576A3D-2314-4364-A6A6-72EDDFC8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1814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C857"/>
                </a:solidFill>
                <a:latin typeface="Aptos"/>
                <a:ea typeface="Aptos"/>
                <a:cs typeface="Aptos"/>
              </a:rPr>
              <a:t>受控智能业务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FB373-3FE0-4D4A-BF97-70A54336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AD7A9C-FF82-4056-9897-3C7DF6AB2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857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102D99-6C57-41F0-AADB-B9FBA0D19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Deep 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6DF708-65FE-43D9-94FE-F0D16FBE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95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目标驱动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37A901-E3EA-4C97-961B-4D09854B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Checkpoint + HITL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801FA5-5ACB-43FE-83E3-A523694F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95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98B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A98BFF"/>
                </a:solidFill>
                <a:latin typeface="Aptos"/>
                <a:ea typeface="Aptos"/>
                <a:cs typeface="Aptos"/>
              </a:rPr>
              <a:t>长任务探索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A03938-879E-4257-B971-AC2A5E14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43525"/>
            <a:ext cx="10515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38907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B588F9-EED9-41F4-BA3C-752583EE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B8E93-9B25-40A3-A299-F4FF0EAA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B8B9F-F378-462C-839C-6D5FECFA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29F0C5-C424-407B-B486-4FFE5F21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Deep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67DBB-A370-48FE-AE2D-40D7FDF1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97BD0-7099-4994-B43E-D2BB4131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DEEP AGENT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2437FD-473D-4844-A1EF-A193712C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Deep Agent：探索更长的目标任务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8018D-3C76-4EDB-98C5-D11CCA0F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这次切到审批场景，观察 Checkpoint 与 Human-in-the-loop。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1F06FF-DF62-48C5-B931-626BC9615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7BC3B-7713-48F5-BF02-A6F9F4AB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5C04A7-4715-4BC8-80D8-1D0AEE91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12BB80-3DA2-450F-8712-60A360E9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ED62A1-B6A3-4953-A4FB-87DE32A6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目标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0F4A0E-E980-4D09-834F-A56338F0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C2E4B-3B4B-4835-ADDB-BD3AFCC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2C62A-D0A6-4BC5-8463-A85EAA31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480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6752F5-55E0-4250-AD4A-B6036429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051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1FB17-FC59-4E92-8C2B-36046CA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我要报销差旅费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5733D-0B34-413A-B8E8-E9E68669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interrupt → 确认 → 提交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709789-6028-4A13-A709-6ABF51C5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38550"/>
            <a:ext cx="2476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用户 / 模板 / 草稿 / 预览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288166-3E8F-4471-938F-CCDDBC60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A98B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A98B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AA61B-141E-4587-8FEC-99CB8539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0">
                <a:solidFill>
                  <a:srgbClr val="A98BFF"/>
                </a:solidFill>
                <a:latin typeface="Aptos"/>
                <a:ea typeface="Aptos"/>
                <a:cs typeface="Aptos"/>
              </a:defRPr>
            </a:pPr>
            <a:r>
              <a:rPr sz="3000" b="0">
                <a:solidFill>
                  <a:srgbClr val="A98BF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0385664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1BB5A6-1FAB-41A9-A990-8CC495F3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E7517-7B91-4AF1-92CA-50B9ED49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965EC-8C31-4D78-9ADB-600742CE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92AA9-BE29-48E0-91C3-D209F264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现场演示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1E78E4-800D-48CD-9883-B947B81C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CB83B-91F5-413F-A2A4-791B5EE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DEMO 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BF6850-4632-4770-A0FD-F660D4D6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现场演示 4｜Deep Agent：看 Checkpoint 与人工确认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128A0-FF4D-4385-87E1-CC43F5EF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先展示输入，再展示过程，最后用一句话收束结论。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AB4AB-6E1D-4A53-82BE-62BC8F2E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C0F10-01BB-4403-AA49-EBF6DC46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762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273DA3-8E2A-4B73-9E55-87509D24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2AFB37-5988-4D71-BDFD-68C40C1F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我要报销差旅费，金额 5200 元，因为去上海拜访客户，发票已提供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87257F-93EB-440E-981E-AD838E47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766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session_id：demo-deep-001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DEAF7-D5BF-4018-AABF-2E722C9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2E6DDD-7732-42AD-A0E2-4F8CFB2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5ABB3B-C763-47C4-A282-8F80D1E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第一轮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3B1FB5-E2DC-4417-9026-E31194DA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自主调用用户 / 模板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生成预览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8C79F-1E23-4A9D-8832-84724B85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05AA1-9460-44EB-99BB-E8685AF7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65DF77-B512-4DF2-9F94-1F69BD99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中断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4EDFDA-22C5-40F0-A867-EF8DA97B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危险工具前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interrupt_on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07236C-1BB1-48B4-877D-7BAA7CD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95750"/>
            <a:ext cx="3238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1427CA-EAA0-4951-9EC5-6503E040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053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A98BFF"/>
          </a:solidFill>
          <a:ln xmlns:a="http://schemas.openxmlformats.org/drawingml/2006/main" w="0">
            <a:solidFill>
              <a:srgbClr val="A98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3DDFA2-07B9-4C15-8EC7-35294423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确认提交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7241E8-DBA6-4DC7-B843-2A836AEA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81550"/>
            <a:ext cx="2781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同一 session 恢复</a:t>
            </a:r>
          </a:p>
          <a:p xmlns:a="http://schemas.openxmlformats.org/drawingml/2006/main">
            <a:pPr algn="l">
              <a:defRPr sz="1500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完成 Mock 提交</a:t>
            </a:r>
          </a:p>
        </p:txBody>
      </p:sp>
    </p:spTree>
    <p:extLst>
      <p:ext uri="{BB962C8B-B14F-4D97-AF65-F5344CB8AC3E}">
        <p14:creationId xmlns:p14="http://schemas.microsoft.com/office/powerpoint/2010/main" val="11931751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258A4-D378-4D69-9870-25D7081F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1BAE8-F9C2-4A77-BECC-3FADE65E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D6335-27DE-4175-9475-4CD7F8FE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F53E7-93E5-4695-AA21-0C10EC6F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效果与问题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9E8E7-72E8-4AAD-8654-1F58A23A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8A97B-BC8C-46C8-8D89-E34A0990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6A616-50CA-4B24-B63E-3BD13D8B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当前先证明体验和安全边界，再测量效率收益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7D8F4-6B1C-477B-85B9-2B95A9D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不虚构效率数字；先把可运行、可观察、可确认做出来。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2FDE2-9E22-4EDE-B9FA-6987B35F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24150"/>
            <a:ext cx="5334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76A93-CAF3-44B4-BF0B-4F228B23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55054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14213A"/>
          </a:solidFill>
          <a:ln xmlns:a="http://schemas.openxmlformats.org/drawingml/2006/main" w="0">
            <a:solidFill>
              <a:srgbClr val="1421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97873-0EC1-4532-BA76-98C8B762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43D5B3"/>
          </a:solidFill>
          <a:ln xmlns:a="http://schemas.openxmlformats.org/drawingml/2006/main" w="0">
            <a:solidFill>
              <a:srgbClr val="43D5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1EA47-E5E0-449E-B998-CBB49BB7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已经实现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836BB1-CDB9-4866-BBA3-97471EBA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908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C857"/>
          </a:solidFill>
          <a:ln xmlns:a="http://schemas.openxmlformats.org/drawingml/2006/main" w="0">
            <a:solidFill>
              <a:srgbClr val="FFC85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ED5D79-ED93-4E74-8E10-38AECC27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0B1020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0B1020"/>
                </a:solidFill>
                <a:latin typeface="Aptos"/>
                <a:ea typeface="Aptos"/>
                <a:cs typeface="Aptos"/>
              </a:rPr>
              <a:t>仍然遇到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52A43-21D6-4EC9-B967-EBBF6229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请假审批</a:t>
            </a:r>
          </a:p>
          <a:p xmlns:a="http://schemas.openxmlformats.org/drawingml/2006/main">
            <a:pPr algn="l">
              <a:defRPr sz="18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日报内容、草稿、预览、确认</a:t>
            </a:r>
          </a:p>
          <a:p xmlns:a="http://schemas.openxmlformats.org/drawingml/2006/main">
            <a:pPr algn="l">
              <a:defRPr sz="18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trace / state / messages 可观察</a:t>
            </a:r>
          </a:p>
          <a:p xmlns:a="http://schemas.openxmlformats.org/drawingml/2006/main">
            <a:pPr algn="l">
              <a:defRPr sz="18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提交前保留人工确认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502B0-7225-4085-88EC-A5B78F5A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62350"/>
            <a:ext cx="4762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Flow：节点和条件边越来越重</a:t>
            </a:r>
          </a:p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Agent：顺序、循环、成本难预测</a:t>
            </a:r>
          </a:p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会话：复用 session 可能串线</a:t>
            </a:r>
          </a:p>
          <a:p xmlns:a="http://schemas.openxmlformats.org/drawingml/2006/main">
            <a:pPr algn="l">
              <a:defRPr sz="172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Demo / Mock 边界必须讲清楚</a:t>
            </a:r>
          </a:p>
        </p:txBody>
      </p:sp>
    </p:spTree>
    <p:extLst>
      <p:ext uri="{BB962C8B-B14F-4D97-AF65-F5344CB8AC3E}">
        <p14:creationId xmlns:p14="http://schemas.microsoft.com/office/powerpoint/2010/main" val="21143590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6145B3-B60D-4C21-8E2D-DDF74438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020"/>
          </a:solidFill>
          <a:ln xmlns:a="http://schemas.openxmlformats.org/drawingml/2006/main" w="0">
            <a:solidFill>
              <a:srgbClr val="0B10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F4173-D3C0-4A82-97E1-39C63E7A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D6FF"/>
          </a:solidFill>
          <a:ln xmlns:a="http://schemas.openxmlformats.org/drawingml/2006/main" w="0">
            <a:solidFill>
              <a:srgbClr val="56D6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D0B25-8F4F-4A44-BCC2-76AEEF57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AI 效能分享 / 审批助手实践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9054CA-F6C9-49B3-9EE2-EE8DFCA1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F819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F819E"/>
                </a:solidFill>
                <a:latin typeface="Aptos"/>
                <a:ea typeface="Aptos"/>
                <a:cs typeface="Aptos"/>
              </a:rPr>
              <a:t>收束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F4606-382C-44E3-A000-D38FA4C6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1531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AB135C-9464-48F1-BB39-24004346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763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630B77-1C2B-4D20-A9D3-6C0FB6D6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7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AI 负责理解，代码负责边界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B2D78-4622-4F88-AADA-4DB8963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让 AI 获得合适的决策权，而不是最大的决策权。 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FCD2A-2C95-497B-B936-CA81895E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13919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92944"/>
          </a:solidFill>
          <a:ln xmlns:a="http://schemas.openxmlformats.org/drawingml/2006/main" w="0">
            <a:solidFill>
              <a:srgbClr val="19294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C8CD14-A6A9-4BEB-888F-91BBA236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D6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6D6FF"/>
                </a:solidFill>
                <a:latin typeface="Aptos"/>
                <a:ea typeface="Aptos"/>
                <a:cs typeface="Aptos"/>
              </a:rPr>
              <a:t>一句话体验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BC3A0-9A91-4328-A03E-C6CA7CC2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5F7FB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5F7FB"/>
                </a:solidFill>
                <a:latin typeface="Aptos"/>
                <a:ea typeface="Aptos"/>
                <a:cs typeface="Aptos"/>
              </a:rPr>
              <a:t>一句自然语言 → 追问缺失信息 → 生成预览 → 人工确认 → 安全提交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3EFC79-3F02-45AF-9D0D-42633BA3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71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B6C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A8B6CE"/>
                </a:solidFill>
                <a:latin typeface="Aptos"/>
                <a:ea typeface="Aptos"/>
                <a:cs typeface="Aptos"/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2101543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2026-08-12T09:09:20.1090000Z</dcterms:created>
  <dcterms:modified xsi:type="dcterms:W3CDTF">2026-08-12T09:09:20.1090000Z</dcterms:modified>
</coreProperties>
</file>