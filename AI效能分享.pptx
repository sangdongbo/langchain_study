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db54e0827240b4" /><Relationship Type="http://schemas.openxmlformats.org/officeDocument/2006/relationships/extended-properties" Target="/docProps/app.xml" Id="R39ed1db520d24ec1" /><Relationship Type="http://schemas.openxmlformats.org/officeDocument/2006/relationships/officeDocument" Target="/ppt/presentation.xml" Id="R14acde554a7148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6ec50d241347d8"/>
  </p:sldMasterIdLst>
  <p:notesMasterIdLst>
    <p:notesMasterId xmlns:r="http://schemas.openxmlformats.org/officeDocument/2006/relationships" r:id="Rfadf8fc083714346"/>
  </p:notesMasterIdLst>
  <p:sldIdLst>
    <p:sldId xmlns:r="http://schemas.openxmlformats.org/officeDocument/2006/relationships" id="256" r:id="R1a2ab34c64b54b23"/>
    <p:sldId xmlns:r="http://schemas.openxmlformats.org/officeDocument/2006/relationships" id="257" r:id="Rce55aeb1c8834b55"/>
    <p:sldId xmlns:r="http://schemas.openxmlformats.org/officeDocument/2006/relationships" id="258" r:id="R24361a0ef23f4c6c"/>
    <p:sldId xmlns:r="http://schemas.openxmlformats.org/officeDocument/2006/relationships" id="259" r:id="R5645060d19c54d2a"/>
    <p:sldId xmlns:r="http://schemas.openxmlformats.org/officeDocument/2006/relationships" id="260" r:id="Re05a0a4bc4fb4981"/>
    <p:sldId xmlns:r="http://schemas.openxmlformats.org/officeDocument/2006/relationships" id="261" r:id="R77848657a49e411c"/>
    <p:sldId xmlns:r="http://schemas.openxmlformats.org/officeDocument/2006/relationships" id="262" r:id="R9527848d8a8643e9"/>
    <p:sldId xmlns:r="http://schemas.openxmlformats.org/officeDocument/2006/relationships" id="263" r:id="Rbbb0c3409dc94cf5"/>
    <p:sldId xmlns:r="http://schemas.openxmlformats.org/officeDocument/2006/relationships" id="264" r:id="Rde908379b3fd4f81"/>
    <p:sldId xmlns:r="http://schemas.openxmlformats.org/officeDocument/2006/relationships" id="265" r:id="R4cf543ba8e2b4d56"/>
    <p:sldId xmlns:r="http://schemas.openxmlformats.org/officeDocument/2006/relationships" id="266" r:id="Rf2874db9f14a460b"/>
    <p:sldId xmlns:r="http://schemas.openxmlformats.org/officeDocument/2006/relationships" id="267" r:id="R6ac51077c1634c62"/>
    <p:sldId xmlns:r="http://schemas.openxmlformats.org/officeDocument/2006/relationships" id="268" r:id="R7b408560a0ae4e2d"/>
    <p:sldId xmlns:r="http://schemas.openxmlformats.org/officeDocument/2006/relationships" id="269" r:id="R564172e98939463f"/>
    <p:sldId xmlns:r="http://schemas.openxmlformats.org/officeDocument/2006/relationships" id="270" r:id="Rb700c720ba494848"/>
    <p:sldId xmlns:r="http://schemas.openxmlformats.org/officeDocument/2006/relationships" id="271" r:id="Rc671623a8093494b"/>
    <p:sldId xmlns:r="http://schemas.openxmlformats.org/officeDocument/2006/relationships" id="272" r:id="R1dbea18c19a94325"/>
    <p:sldId xmlns:r="http://schemas.openxmlformats.org/officeDocument/2006/relationships" id="273" r:id="R62f7f1c79ddf4c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0676e328e94672" /><Relationship Type="http://schemas.openxmlformats.org/officeDocument/2006/relationships/slideMaster" Target="/ppt/slideMasters/slideMaster1.xml" Id="R6a6ec50d241347d8" /><Relationship Type="http://schemas.openxmlformats.org/officeDocument/2006/relationships/notesMaster" Target="/ppt/notesMasters/notesMaster1.xml" Id="Rfadf8fc083714346" /><Relationship Type="http://schemas.openxmlformats.org/officeDocument/2006/relationships/presProps" Target="/ppt/presProps.xml" Id="R1cae8042c9f94e42" /><Relationship Type="http://schemas.openxmlformats.org/officeDocument/2006/relationships/tableStyles" Target="/ppt/tableStyles.xml" Id="R208d1060761345d3" /><Relationship Type="http://schemas.openxmlformats.org/officeDocument/2006/relationships/slide" Target="/ppt/slides/slide1.xml" Id="R1a2ab34c64b54b23" /><Relationship Type="http://schemas.openxmlformats.org/officeDocument/2006/relationships/slide" Target="/ppt/slides/slide2.xml" Id="Rce55aeb1c8834b55" /><Relationship Type="http://schemas.openxmlformats.org/officeDocument/2006/relationships/slide" Target="/ppt/slides/slide3.xml" Id="R24361a0ef23f4c6c" /><Relationship Type="http://schemas.openxmlformats.org/officeDocument/2006/relationships/slide" Target="/ppt/slides/slide4.xml" Id="R5645060d19c54d2a" /><Relationship Type="http://schemas.openxmlformats.org/officeDocument/2006/relationships/slide" Target="/ppt/slides/slide5.xml" Id="Re05a0a4bc4fb4981" /><Relationship Type="http://schemas.openxmlformats.org/officeDocument/2006/relationships/slide" Target="/ppt/slides/slide6.xml" Id="R77848657a49e411c" /><Relationship Type="http://schemas.openxmlformats.org/officeDocument/2006/relationships/slide" Target="/ppt/slides/slide7.xml" Id="R9527848d8a8643e9" /><Relationship Type="http://schemas.openxmlformats.org/officeDocument/2006/relationships/slide" Target="/ppt/slides/slide8.xml" Id="Rbbb0c3409dc94cf5" /><Relationship Type="http://schemas.openxmlformats.org/officeDocument/2006/relationships/slide" Target="/ppt/slides/slide9.xml" Id="Rde908379b3fd4f81" /><Relationship Type="http://schemas.openxmlformats.org/officeDocument/2006/relationships/slide" Target="/ppt/slides/slide10.xml" Id="R4cf543ba8e2b4d56" /><Relationship Type="http://schemas.openxmlformats.org/officeDocument/2006/relationships/slide" Target="/ppt/slides/slide11.xml" Id="Rf2874db9f14a460b" /><Relationship Type="http://schemas.openxmlformats.org/officeDocument/2006/relationships/slide" Target="/ppt/slides/slide12.xml" Id="R6ac51077c1634c62" /><Relationship Type="http://schemas.openxmlformats.org/officeDocument/2006/relationships/slide" Target="/ppt/slides/slide13.xml" Id="R7b408560a0ae4e2d" /><Relationship Type="http://schemas.openxmlformats.org/officeDocument/2006/relationships/slide" Target="/ppt/slides/slide14.xml" Id="R564172e98939463f" /><Relationship Type="http://schemas.openxmlformats.org/officeDocument/2006/relationships/slide" Target="/ppt/slides/slide15.xml" Id="Rb700c720ba494848" /><Relationship Type="http://schemas.openxmlformats.org/officeDocument/2006/relationships/slide" Target="/ppt/slides/slide16.xml" Id="Rc671623a8093494b" /><Relationship Type="http://schemas.openxmlformats.org/officeDocument/2006/relationships/slide" Target="/ppt/slides/slide17.xml" Id="R1dbea18c19a94325" /><Relationship Type="http://schemas.openxmlformats.org/officeDocument/2006/relationships/slide" Target="/ppt/slides/slide18.xml" Id="R62f7f1c79ddf4c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d1e3bc0baa44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I Efficiency">
      <a:dk1>
        <a:srgbClr val="000000"/>
      </a:dk1>
      <a:lt1>
        <a:srgbClr val="FFFFFF"/>
      </a:lt1>
      <a:dk2>
        <a:srgbClr val="1F2937"/>
      </a:dk2>
      <a:lt2>
        <a:srgbClr val="EDEDED"/>
      </a:lt2>
      <a:accent1>
        <a:srgbClr val="3D8DFF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3D8D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Efficienc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e66973d974ca6" /><Relationship Type="http://schemas.openxmlformats.org/officeDocument/2006/relationships/notesMaster" Target="/ppt/notesMasters/notesMaster1.xml" Id="R0ac265a1ef9f43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2452b7486a4f86" /><Relationship Type="http://schemas.openxmlformats.org/officeDocument/2006/relationships/notesMaster" Target="/ppt/notesMasters/notesMaster1.xml" Id="R1adcc64f8e1b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88f9ca6f314867" /><Relationship Type="http://schemas.openxmlformats.org/officeDocument/2006/relationships/notesMaster" Target="/ppt/notesMasters/notesMaster1.xml" Id="R9ce90a7c4afa41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4c8a323dd3472f" /><Relationship Type="http://schemas.openxmlformats.org/officeDocument/2006/relationships/notesMaster" Target="/ppt/notesMasters/notesMaster1.xml" Id="R426df3838cd341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6a20611ff64f8e" /><Relationship Type="http://schemas.openxmlformats.org/officeDocument/2006/relationships/notesMaster" Target="/ppt/notesMasters/notesMaster1.xml" Id="Rcf3053b602d342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85cfc7729c499b" /><Relationship Type="http://schemas.openxmlformats.org/officeDocument/2006/relationships/notesMaster" Target="/ppt/notesMasters/notesMaster1.xml" Id="R1096539e327c49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f1d7a1d64a4461" /><Relationship Type="http://schemas.openxmlformats.org/officeDocument/2006/relationships/notesMaster" Target="/ppt/notesMasters/notesMaster1.xml" Id="R735028e2ad964a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494ea8106e4fb4" /><Relationship Type="http://schemas.openxmlformats.org/officeDocument/2006/relationships/notesMaster" Target="/ppt/notesMasters/notesMaster1.xml" Id="Rae38f6bdd55548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97b99283b747f5" /><Relationship Type="http://schemas.openxmlformats.org/officeDocument/2006/relationships/notesMaster" Target="/ppt/notesMasters/notesMaster1.xml" Id="Rba715ba7b85f4a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cb45994a5046d5" /><Relationship Type="http://schemas.openxmlformats.org/officeDocument/2006/relationships/notesMaster" Target="/ppt/notesMasters/notesMaster1.xml" Id="R7aa77d18705c44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a982d1b2ec4d80" /><Relationship Type="http://schemas.openxmlformats.org/officeDocument/2006/relationships/notesMaster" Target="/ppt/notesMasters/notesMaster1.xml" Id="R79a50e675e9548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30ee42f36e4c44" /><Relationship Type="http://schemas.openxmlformats.org/officeDocument/2006/relationships/notesMaster" Target="/ppt/notesMasters/notesMaster1.xml" Id="R8cce2d148b0b4c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168a71c4e6400c" /><Relationship Type="http://schemas.openxmlformats.org/officeDocument/2006/relationships/notesMaster" Target="/ppt/notesMasters/notesMaster1.xml" Id="Rf11f6d8d49fa4a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10e0058a424036" /><Relationship Type="http://schemas.openxmlformats.org/officeDocument/2006/relationships/notesMaster" Target="/ppt/notesMasters/notesMaster1.xml" Id="Rc9a681453a144e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c7ad56b6b84c5f" /><Relationship Type="http://schemas.openxmlformats.org/officeDocument/2006/relationships/notesMaster" Target="/ppt/notesMasters/notesMaster1.xml" Id="R674b2e2ad0e949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a3784352e8493d" /><Relationship Type="http://schemas.openxmlformats.org/officeDocument/2006/relationships/notesMaster" Target="/ppt/notesMasters/notesMaster1.xml" Id="R8eef28cf91a040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75c455ca204791" /><Relationship Type="http://schemas.openxmlformats.org/officeDocument/2006/relationships/notesMaster" Target="/ppt/notesMasters/notesMaster1.xml" Id="R62e749061a6544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0079eb1a1c4f1d" /><Relationship Type="http://schemas.openxmlformats.org/officeDocument/2006/relationships/notesMaster" Target="/ppt/notesMasters/notesMaster1.xml" Id="Ra76faa67521c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建议时长：40 秒</a:t>
            </a:r>
          </a:p>
          <a:p xmlns:a="http://schemas.openxmlformats.org/drawingml/2006/main">
            <a:r>
              <a:t>开场不要先讲框架名。先说业务目标：平台审批和日报入口多、字段复杂，我希望用户用一句自然语言完成信息收集、预览和提交。今天用真实代码展示四种实现的执行权差异。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D:\PythonProject\LearnOne\ai_approval_assistant\app\graph\workflow.py</a:t>
            </a:r>
          </a:p>
          <a:p xmlns:a="http://schemas.openxmlformats.org/drawingml/2006/main">
            <a:r>
              <a:t>- D:\PythonProject\LearnOne\ai_deep_agents_assistant\app\agents\approval_agent.py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建议时长：40 秒</a:t>
            </a:r>
          </a:p>
          <a:p xmlns:a="http://schemas.openxmlformats.org/drawingml/2006/main">
            <a:r>
              <a:t>这六项正好覆盖通知要求的应用场景、实施路径、预期效果、遇到的问题，同时把现场演示放在主线中间，不是最后临时补一个 Demo。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D:\PythonProject\LearnOne\ai_approval_assistant\演示.md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强调这不是为了炫技，而是减少用户记忆入口和理解复杂表单的成本。AI 的价值是理解自然语言，业务系统仍然要负责字段、校验和提交边界。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D:\PythonProject\LearnOne\ai_approval_assistant\app\graph\workflow.py</a:t>
            </a:r>
          </a:p>
          <a:p xmlns:a="http://schemas.openxmlformats.org/drawingml/2006/main">
            <a:r>
              <a:t>- D:\PythonProject\LearnOne\ai_approval_assistant\app\graph\daily_report_workflow.py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四个阶段不是简单的强弱排名。固定 Flow 解决能不能稳定跑，自主 Agent 验证能不能自己做，Agentic Workflow 解决怎么安全进入业务，Deep Agent 探索更长任务和线程恢复。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D:\PythonProject\LearnOne\ai_approval_assistant\app\graph\daily_report_workflow.py</a:t>
            </a:r>
          </a:p>
          <a:p xmlns:a="http://schemas.openxmlformats.org/drawingml/2006/main">
            <a:r>
              <a:t>- D:\PythonProject\LearnOne\ai_approval_assistant\app\agents\daily_report_create_agent.py</a:t>
            </a:r>
          </a:p>
          <a:p xmlns:a="http://schemas.openxmlformats.org/drawingml/2006/main">
            <a:r>
              <a:t>- D:\PythonProject\LearnOne\ai_approval_assistant\app\graph\daily_report_agentic_workflow_demo.py</a:t>
            </a:r>
          </a:p>
          <a:p xmlns:a="http://schemas.openxmlformats.org/drawingml/2006/main">
            <a:r>
              <a:t>- D:\PythonProject\LearnOne\ai_deep_agents_assistant\app\agents\approval_agent.py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建议时长：50 秒</a:t>
            </a:r>
          </a:p>
          <a:p xmlns:a="http://schemas.openxmlformats.org/drawingml/2006/main">
            <a:r>
              <a:t>三个实验必须使用不同 session_id；同一种流程的‘确认提交’必须继续使用原 session_id。否则活跃会话状态会让路由继续进入上一种 Agent，现场就会出现走错节点或还在等待上一步输入。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D:\PythonProject\LearnOne\ai_approval_assistant\app\graph\workflow.py</a:t>
            </a:r>
          </a:p>
          <a:p xmlns:a="http://schemas.openxmlformats.org/drawingml/2006/main">
            <a:r>
              <a:t>- D:\PythonProject\LearnOne\ai_approval_assistant\演示.md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按业务语言讲节点：系统先识别动作，再加载日报上下文，缺内容就追问，有内容就保存草稿、生成预览，最后等待确认。不要逐个念代码节点名。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D:\PythonProject\LearnOne\ai_approval_assistant\app\graph\daily_report_workflow.py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40 秒</a:t>
            </a:r>
          </a:p>
          <a:p xmlns:a="http://schemas.openxmlformats.org/drawingml/2006/main">
            <a:r>
              <a:t>操作：打开 http://127.0.0.1:8010/docs，调用 POST /api/ai-approval/chat。输入页面文字，展示 daily_report_agent、status、daily_report_preview 和 trace；再用同一 session 回复‘确认提交’。失败兜底：不现场排查 ERP，只展示输入、预期 trace、预览和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D:\PythonProject\LearnOne\ai_approval_assistant\app\graph\daily_report_workflow.py</a:t>
            </a:r>
          </a:p>
          <a:p xmlns:a="http://schemas.openxmlformats.org/drawingml/2006/main">
            <a:r>
              <a:t>- D:\PythonProject\LearnOne\ai_approval_assistant\app\tools\daily_report_tools.py</a:t>
            </a:r>
          </a:p>
          <a:p xmlns:a="http://schemas.openxmlformats.org/drawingml/2006/main">
            <a:r>
              <a:t>- D:\PythonProject\LearnOne\ai_approval_assistant\演示.md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自主 Agent 不是完全放开。代码把日报工具注册给模型，但替换了提交工具：guarded_submit_daily_report 要求 confirmed=true。这里的安全主要靠 Prompt + 工具参数守卫，不是固定执行图。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D:\PythonProject\LearnOne\ai_approval_assistant\app\agents\daily_report_create_agent.py</a:t>
            </a:r>
          </a:p>
          <a:p xmlns:a="http://schemas.openxmlformats.org/drawingml/2006/main">
            <a:r>
              <a:t>- D:\PythonProject\LearnOne\ai_approval_assistant\app\tools\daily_report_tools.py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40 秒</a:t>
            </a:r>
          </a:p>
          <a:p xmlns:a="http://schemas.openxmlformats.org/drawingml/2006/main">
            <a:r>
              <a:t>操作与固定 Flow 相同，但换新 session。重点不要只看最后一句回答，要展示 daily_report_agent_messages 或 Studio 中的 tool calls。强调：最终结果可能一样，排查方式和成本模型已经不同。模型/API 不可用时，直接说明这是需要真实模型的实验版。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D:\PythonProject\LearnOne\ai_approval_assistant\app\agents\daily_report_create_agent.py</a:t>
            </a:r>
          </a:p>
          <a:p xmlns:a="http://schemas.openxmlformats.org/drawingml/2006/main">
            <a:r>
              <a:t>- D:\PythonProject\LearnOne\ai_approval_assistant\演示.md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最重要的一句话：Agent 负责智能判断和表达空间，Workflow 负责业务顺序和写入权限。当前 Demo 中规划和正文生成采用规则模拟，加载上下文调用现有工具，保存与最终提交用 Demo 状态验证架构。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D:\PythonProject\LearnOne\ai_approval_assistant\app\graph\daily_report_agentic_workflow_demo.py</a:t>
            </a:r>
          </a:p>
          <a:p xmlns:a="http://schemas.openxmlformats.org/drawingml/2006/main">
            <a:r>
              <a:t>- D:\PythonProject\LearnOne\ai_approval_assistant\app\agents\daily_report_agentic_workflow_demo.py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40 秒</a:t>
            </a:r>
          </a:p>
          <a:p xmlns:a="http://schemas.openxmlformats.org/drawingml/2006/main">
            <a:r>
              <a:t>展示 trace：demo_agent_plan → demo_confirm_date → demo_load_context → demo_agent_compose → demo_save_draft → demo_preview_gate。然后说明回复‘确认提交’才会进入 demo_submit_gate。必须主动说明保存/提交是 Demo 状态，避免包装成真实 ERP 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D:\PythonProject\LearnOne\ai_approval_assistant\app\graph\daily_report_agentic_workflow_demo.py</a:t>
            </a:r>
          </a:p>
          <a:p xmlns:a="http://schemas.openxmlformats.org/drawingml/2006/main">
            <a:r>
              <a:t>- D:\PythonProject\LearnOne\ai_approval_assistant\app\agents\daily_report_agentic_workflow_demo.py</a:t>
            </a:r>
          </a:p>
          <a:p xmlns:a="http://schemas.openxmlformats.org/drawingml/2006/main">
            <a:r>
              <a:t>- D:\PythonProject\LearnOne\ai_approval_assistant\演示.md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30 秒</a:t>
            </a:r>
          </a:p>
          <a:p xmlns:a="http://schemas.openxmlformats.org/drawingml/2006/main">
            <a:r>
              <a:t>不要逐格念表。只讲选择标准：业务越确定、写入风险越高，执行顺序越应该由 Workflow 控制；任务越开放、工具风险越低，越可以增加 Agent 决策权。Agentic Workflow 是日报场景当前最值得继续完善的方向。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D:\PythonProject\LearnOne\ai_approval_assistant\app\graph\daily_report_workflow.py</a:t>
            </a:r>
          </a:p>
          <a:p xmlns:a="http://schemas.openxmlformats.org/drawingml/2006/main">
            <a:r>
              <a:t>- D:\PythonProject\LearnOne\ai_approval_assistant\app\agents\daily_report_create_agent.py</a:t>
            </a:r>
          </a:p>
          <a:p xmlns:a="http://schemas.openxmlformats.org/drawingml/2006/main">
            <a:r>
              <a:t>- D:\PythonProject\LearnOne\ai_approval_assistant\app\graph\daily_report_agentic_workflow_demo.py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这里不要和前三种做完全同场景性能对比，因为 Deep Agent 项目实现的是审批，不是日报。它的价值是展示真实 Deep Agents、checkpoint 和 interrupt_on；业务服务仍是确定性的 mock backend。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D:\PythonProject\LearnOne\ai_deep_agents_assistant\app\agents\approval_agent.py</a:t>
            </a:r>
          </a:p>
          <a:p xmlns:a="http://schemas.openxmlformats.org/drawingml/2006/main">
            <a:r>
              <a:t>- D:\PythonProject\LearnOne\ai_deep_agents_assistant\app\tools\approval_tools.py</a:t>
            </a:r>
          </a:p>
          <a:p xmlns:a="http://schemas.openxmlformats.org/drawingml/2006/main">
            <a:r>
              <a:t>- D:\PythonProject\LearnOne\ai_deep_agents_assistant\app\services\approval_service.py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先启动 ai_deep_agents_assistant：.\start_windows.ps1 -Port 8020，打开 http://127.0.0.1:8020/docs。第一轮展示 trace 工具名、awaiting_confirmation 和 interrupt；第二轮用同一 session 回复‘确认提交’，展示恢复后 submitted。网络或模型不稳定时，用截图/录屏兜底。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D:\PythonProject\LearnOne\ai_deep_agents_assistant\README.md</a:t>
            </a:r>
          </a:p>
          <a:p xmlns:a="http://schemas.openxmlformats.org/drawingml/2006/main">
            <a:r>
              <a:t>- D:\PythonProject\LearnOne\ai_deep_agents_assistant\app\services\chat_service.py</a:t>
            </a:r>
          </a:p>
          <a:p xmlns:a="http://schemas.openxmlformats.org/drawingml/2006/main">
            <a:r>
              <a:t>- D:\PythonProject\LearnOne\ai_deep_agents_assistant\app\agents\approval_agent.py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这一页回答‘最终怎么选’。不是框架越新越好，而是看业务确定性、写入风险、状态要求和成本预算。审批与 ERP 写入的生产主控仍建议保留 Workflow。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D:\PythonProject\LearnOne\ai_approval_assistant\app\graph\workflow.py</a:t>
            </a:r>
          </a:p>
          <a:p xmlns:a="http://schemas.openxmlformats.org/drawingml/2006/main">
            <a:r>
              <a:t>- D:\PythonProject\LearnOne\ai_deep_agents_assistant\README.md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不要说‘效率提升 80%’这类没有测量的数据。当前成果是功能验证与架构验证。下一步才测平均完成轮次、工具调用成功率、响应时间、Token 成本和失败重试率。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D:\PythonProject\LearnOne\ai_approval_assistant\app\graph\workflow.py</a:t>
            </a:r>
          </a:p>
          <a:p xmlns:a="http://schemas.openxmlformats.org/drawingml/2006/main">
            <a:r>
              <a:t>- D:\PythonProject\LearnOne\ai_approval_assistant\app\graph\daily_report_workflow.py</a:t>
            </a:r>
          </a:p>
          <a:p xmlns:a="http://schemas.openxmlformats.org/drawingml/2006/main">
            <a:r>
              <a:t>- D:\PythonProject\LearnOne\ai_approval_assistant\app\agents\daily_report_create_agent.py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10 秒</a:t>
            </a:r>
          </a:p>
          <a:p xmlns:a="http://schemas.openxmlformats.org/drawingml/2006/main">
            <a:r>
              <a:t>结合真实踩坑讲：Flow 可靠但越来越重；Agent 灵活但排查困难；多种 Agent 共存时，活跃会话状态优先于关键词；演示型实现必须主动说明真实接口、规则模拟和 Mock 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D:\PythonProject\LearnOne\ai_approval_assistant\app\graph\daily_report_workflow.py</a:t>
            </a:r>
          </a:p>
          <a:p xmlns:a="http://schemas.openxmlformats.org/drawingml/2006/main">
            <a:r>
              <a:t>- D:\PythonProject\LearnOne\ai_approval_assistant\app\agents\daily_report_create_agent.py</a:t>
            </a:r>
          </a:p>
          <a:p xmlns:a="http://schemas.openxmlformats.org/drawingml/2006/main">
            <a:r>
              <a:t>- D:\PythonProject\LearnOne\ai_approval_assistant\app\agents\daily_report_agentic_workflow_demo.py</a:t>
            </a:r>
          </a:p>
          <a:p xmlns:a="http://schemas.openxmlformats.org/drawingml/2006/main">
            <a:r>
              <a:t>- D:\PythonProject\LearnOne\ai_deep_agents_assistant\app\services\approval_service.py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建议时长：40 秒</a:t>
            </a:r>
          </a:p>
          <a:p xmlns:a="http://schemas.openxmlformats.org/drawingml/2006/main">
            <a:r>
              <a:t>回到开场：用户只想一句话完成任务，但后台不能因此失去业务规则。最终原则是让 AI 获得合适的决策权，而不是最大决策权。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D:\PythonProject\LearnOne\ai_approval_assistant\app\graph\workflow.py</a:t>
            </a:r>
          </a:p>
          <a:p xmlns:a="http://schemas.openxmlformats.org/drawingml/2006/main">
            <a:r>
              <a:t>- D:\PythonProject\LearnOne\ai_deep_agents_assistant\README.md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c5ad8660849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ad6fda215747a3" /><Relationship Type="http://schemas.openxmlformats.org/officeDocument/2006/relationships/slideLayout" Target="/ppt/slideLayouts/slideLayout1.xml" Id="R43edcbf8a1ac46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edcbf8a1ac46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I Efficiency">
      <a:dk1>
        <a:srgbClr val="000000"/>
      </a:dk1>
      <a:lt1>
        <a:srgbClr val="FFFFFF"/>
      </a:lt1>
      <a:dk2>
        <a:srgbClr val="1F2937"/>
      </a:dk2>
      <a:lt2>
        <a:srgbClr val="EDEDED"/>
      </a:lt2>
      <a:accent1>
        <a:srgbClr val="3D8DFF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3D8D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Efficienc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cd0af0ddd419a" /><Relationship Type="http://schemas.openxmlformats.org/officeDocument/2006/relationships/notesSlide" Target="/ppt/notesSlides/notesSlide1.xml" Id="Rbe242a964ddd45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8ef95bc314f33" /><Relationship Type="http://schemas.openxmlformats.org/officeDocument/2006/relationships/notesSlide" Target="/ppt/notesSlides/notesSlide2.xml" Id="R306f84215af743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7552f59284a5f" /><Relationship Type="http://schemas.openxmlformats.org/officeDocument/2006/relationships/notesSlide" Target="/ppt/notesSlides/notesSlide3.xml" Id="R38470f17323442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8878db62c44ff" /><Relationship Type="http://schemas.openxmlformats.org/officeDocument/2006/relationships/notesSlide" Target="/ppt/notesSlides/notesSlide4.xml" Id="Rcdc37979f1934a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f06350117464c" /><Relationship Type="http://schemas.openxmlformats.org/officeDocument/2006/relationships/notesSlide" Target="/ppt/notesSlides/notesSlide5.xml" Id="Ra4871864218a49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c66b08faa4cb8" /><Relationship Type="http://schemas.openxmlformats.org/officeDocument/2006/relationships/notesSlide" Target="/ppt/notesSlides/notesSlide6.xml" Id="R9db3aa87b7db47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25254ee5944c3" /><Relationship Type="http://schemas.openxmlformats.org/officeDocument/2006/relationships/notesSlide" Target="/ppt/notesSlides/notesSlide7.xml" Id="Rff61935ff79c4b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7554583a04f3d" /><Relationship Type="http://schemas.openxmlformats.org/officeDocument/2006/relationships/notesSlide" Target="/ppt/notesSlides/notesSlide8.xml" Id="R5bab203032964e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128024d2448cd" /><Relationship Type="http://schemas.openxmlformats.org/officeDocument/2006/relationships/notesSlide" Target="/ppt/notesSlides/notesSlide9.xml" Id="R65db2c9bbd8c48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6cb68d7a843ad" /><Relationship Type="http://schemas.openxmlformats.org/officeDocument/2006/relationships/notesSlide" Target="/ppt/notesSlides/notesSlide10.xml" Id="R144120b46a474d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e32de67604dc1" /><Relationship Type="http://schemas.openxmlformats.org/officeDocument/2006/relationships/notesSlide" Target="/ppt/notesSlides/notesSlide11.xml" Id="Re5da6a81308846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1e9da441145dc" /><Relationship Type="http://schemas.openxmlformats.org/officeDocument/2006/relationships/notesSlide" Target="/ppt/notesSlides/notesSlide12.xml" Id="Ree6cd930cc574b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47ba4be1b421a" /><Relationship Type="http://schemas.openxmlformats.org/officeDocument/2006/relationships/notesSlide" Target="/ppt/notesSlides/notesSlide13.xml" Id="R095222d4c1334f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8e0068f264205" /><Relationship Type="http://schemas.openxmlformats.org/officeDocument/2006/relationships/notesSlide" Target="/ppt/notesSlides/notesSlide14.xml" Id="R6acb62c803dc46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b546f7af540c0" /><Relationship Type="http://schemas.openxmlformats.org/officeDocument/2006/relationships/notesSlide" Target="/ppt/notesSlides/notesSlide15.xml" Id="Rc2e06dff290f40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9e1098b8a4e80" /><Relationship Type="http://schemas.openxmlformats.org/officeDocument/2006/relationships/notesSlide" Target="/ppt/notesSlides/notesSlide16.xml" Id="R62245da2ca304d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bece5c3d84fd8" /><Relationship Type="http://schemas.openxmlformats.org/officeDocument/2006/relationships/notesSlide" Target="/ppt/notesSlides/notesSlide17.xml" Id="R40e0b81070d64e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52452eb4b475d" /><Relationship Type="http://schemas.openxmlformats.org/officeDocument/2006/relationships/notesSlide" Target="/ppt/notesSlides/notesSlide18.xml" Id="Rdbe63eb7f1314e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0F3BE11-7E77-471F-ADF1-D92AF563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从复杂表单到一句话提交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0157D7-AF09-4E7A-BAD6-2DEA6D8F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审批助手与日报：固定 Flow、自主 Agent、Agentic Workflow、Deep Agent 的实践与演示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3C84867-D110-40BF-99CE-5E89DF39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应用分享会</a:t>
            </a:r>
          </a:p>
        </p:txBody>
      </p:sp>
    </p:spTree>
    <p:extLst>
      <p:ext uri="{BB962C8B-B14F-4D97-AF65-F5344CB8AC3E}">
        <p14:creationId xmlns:p14="http://schemas.microsoft.com/office/powerpoint/2010/main" val="7910808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E591B16-737A-4A42-BE6D-8F03B8D5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B3F165F-D882-4483-B64B-CFB50774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 分钟分享路线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8491"/>
                <a:gridCol w="10526078"/>
              </a:tblGrid>
              <a:tr h="652399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应用场景：为什么要做问答式审批助手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实施路径：从 Flow 到 Agent，再到混合架构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同一日报目标：三种实现逐一演示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Deep Agent：审批场景的独立探索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预期效果：当前已经实现什么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遇到的问题：哪些边界还不能交给 AI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595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AD5CDB0-4D2E-49B1-ABA2-05374857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B93F076-2364-4665-A216-B6001DAA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应用场景：用户不应该先学会表单，才能完成审批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93475F6-B480-47E0-92B1-6E17B326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现在的操作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找到入口
选择模板
理解字段
逐项填写
确认审批人
提交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8F31B5DF-25AF-4C28-9443-E25C7B51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希望的体验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直接说：
“我要请假三天”
“把今天完成的工作写进日报”
系统负责追问缺失信息、生成预览，用户只负责最终确认。</a:t>
            </a:r>
          </a:p>
        </p:txBody>
      </p:sp>
    </p:spTree>
    <p:extLst>
      <p:ext uri="{BB962C8B-B14F-4D97-AF65-F5344CB8AC3E}">
        <p14:creationId xmlns:p14="http://schemas.microsoft.com/office/powerpoint/2010/main" val="7065021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AA60BD8-2364-4639-B3D9-CE597949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5CB93AA-8322-4988-BB0A-15112E85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实施路径：每次演进都在重新分配“谁做决定”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6AA85E77-BD56-4136-869F-2FC7549F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919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节点、条件边和顺序由开发者定义。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C519428-E7C7-4BA2-88B2-5B2702D7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 Flow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576516E4-1C40-4834-9550-C3380AC9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模型自己选择工具和下一步。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3AD1D36-E57A-4422-BB7C-3E765508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自主 Agent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697024F-FECF-4A7B-BBE8-D1C11D4B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负责理解生成，Workflow 负责业务 Gate。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EAF69E0D-3961-4690-9483-F101FD2E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Agentic Workflow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7C9D5362-14C0-4C69-9834-43A60972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目标驱动、Checkpoint、HITL，探索复杂任务。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42479FBD-D332-4666-A363-94988D7A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Deep Agent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E360A605-D3DC-4A69-A532-14F0A16D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演进不是不断换框架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同一个目标反复实现，才能看清哪些逻辑应该交给模型，哪些规则必须留在代码里。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核心变量：执行顺序、工具权限、状态可观测性、人工确认。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17555936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E7214-1D44-47E3-8BD9-21297EA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公平对比：同一个日报目标，只改变执行方式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AD2D6-F0B7-43B8-89C9-3AC8DA01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791950" cy="586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现场只做一件事：输入一句话，然后观察谁决定下一步。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A7B61-6703-4FBB-A60A-A3CC0B8A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B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10111-6ED4-4A95-831B-C779D156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1563350" cy="491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固定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D4A0C-D033-4BAB-9BD1-46A18F6C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156335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提问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FCD30-CC81-4EA3-9229-D8693CCF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15633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写日报：
今天完成审批助手开发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02B5A-9147-41B5-B809-27514CE7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1563350" cy="2305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独立 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66BB9-9BE5-4AC9-BC4D-E4C484F5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156335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demo-flow-001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E4330-4302-4C7D-8A45-8096F8D3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F5E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0A6E7-E610-4B1A-9EBA-9BAA7EC3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7734300" cy="491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自主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A9C89-90F8-4A48-A109-5A97CE19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77343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提问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0DDE7-FC1D-41A3-9DFC-8F756236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77343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自主agent写日报：
今天完成审批助手开发2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5B6FA-5042-4FDF-A94B-CD846E44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52950"/>
            <a:ext cx="7734300" cy="2305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独立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8A616-5E35-4AF9-A084-A68C59C5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14900"/>
            <a:ext cx="77343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demo-agent-001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2CADA-DE0F-478C-880E-340A5B82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1D6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92C5B-1D6D-4060-AB41-61350CE1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905250" cy="491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Agentic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FA9B8-E33C-4D0E-8720-0DF842B5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390525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提问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BBB2B-8318-4060-91E5-717F4A8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905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agentic workflow写日报：
今天完成审批助手开发3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48A88-E92B-4CDE-9743-63D9E98C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52950"/>
            <a:ext cx="3905250" cy="2305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独立 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E22AA-4F97-4345-A2FD-E7E325D9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390525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demo-agentic-001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95E38-079C-49A7-9F72-6FB44432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791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下一页开始演示：先看输入，再看 trace / messages / Gate。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C611C-E4DC-45C9-8941-C190F2CD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9144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661558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123A2BE-5A97-4B60-8BE5-B0B0C9B1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0EB61EA-C985-44E7-A98A-7353A49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 Flow：把业务规则直接写进图里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839A25F-3E8B-4AFA-B612-8FF0B931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开发者控制
执行顺序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83715AA-33F6-4EC7-AEE0-0979E1D1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固定节点与条件边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D9808A46-298E-4952-843B-2A6C9DF1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214E8B34-64CE-4B83-8BC0-DE9CF4E1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daily_report_agent 内部是一个独立日报子图：日期、上下文、内容、草稿、预览、提交和取消都有明确节点。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它的优势不是‘更智能’，而是路径确定、状态清晰、异常可定位。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8000EF2-2027-4063-9A8D-0953E4BF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保存草稿后才能预览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A6B8A32-A740-47A6-812E-013EE8E4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F4E96E83-E143-4036-AD4B-8A2B50C2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明确确认后才能提交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D9F087D4-7F8D-4379-A494-F205254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64FF6AB1-2987-4271-97C9-F0267815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支持修改日期 / 内容 / 取消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EA133390-C00E-4BA7-8155-14744DB0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FD745FAA-EEA9-432C-99B4-06139DC8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适合强规则生产流程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2B53064B-D8FA-4F18-AF82-4E90A47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9702854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3BB1A-09D3-4C0A-8F57-469D6D86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现场演示 1｜固定 Flow：看路径是否稳定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8E2BD-F311-4D5A-92A1-3DD40A96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791950" cy="579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3A69A-8F56-4081-8AF1-0E12B546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791950" cy="547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写日报：今天完成审批助手开发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70E73-ED6A-4777-9898-8C26F360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1791950" cy="501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Swagger：8010 / POST /api/ai-approval/chat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CC86B-3DFC-4B05-A24B-74B1945D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791950" cy="470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session_id：demo-flow-001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D42F2-98FC-42F4-9E26-5986E96E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7933B-4984-4F08-921D-E5EE8DFA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152525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看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6B35E-97F1-497D-8CED-A4664296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15252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路由进入 daily_report_agent
节点顺序可直接定位
失败时知道卡在哪一步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EAB60-3104-46B3-A239-5CEA518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7F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6C446-752A-4F50-A4BB-36EC709A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56388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看预览与确认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FBC61-BE9C-470D-B047-9595149A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56388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先保存草稿，再生成预览
回复“确认提交”才继续
同一 session 完成恢复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AF879-A08F-48EE-916C-39CAEE34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9144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19069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F1333E0-FF2F-45FB-AE42-DFAAE616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5114683-177C-4BE7-B0CB-0C9192A2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自主 Agent：模型自己决定下一步和调用什么工具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41EAE02-4CFB-4AC5-966F-623B6C4F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得到的自由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create_agent / ReAct
理解用户目标
选择日报工具
观察工具结果
决定继续调用还是回答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D94E2223-AE33-4FED-A496-7DAA1331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仍保留的边界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必须先确认日期
必须加载上下文
保存草稿后展示预览
提交工具要求 confirmed=true
外部接口失败不能假装成功</a:t>
            </a:r>
          </a:p>
        </p:txBody>
      </p:sp>
    </p:spTree>
    <p:extLst>
      <p:ext uri="{BB962C8B-B14F-4D97-AF65-F5344CB8AC3E}">
        <p14:creationId xmlns:p14="http://schemas.microsoft.com/office/powerpoint/2010/main" val="15813440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D44A4-FCC4-4D58-9AAD-0A42B90B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现场演示 2｜自主 Agent：看模型如何选择工具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E9AC3-4F9A-466B-9D45-D7498E30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791950" cy="579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0FF8E-310C-4660-A1C7-96B7E666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791950" cy="547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自主agent写日报：今天完成审批助手开发2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3EF3A-D1D9-4F4A-AA99-92683E0A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1791950" cy="501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Swagger：8010 / POST /api/ai-approval/chat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4EA74-0517-4802-AE89-B9BEFE2F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791950" cy="470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session_id：demo-agent-001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3C181-2722-4E98-AA7B-FE4B0D53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D2049-405A-48C1-B0C5-E3674D51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152525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看 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4F98A-5F3F-49D3-8726-717C57D4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15252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daily_report_agent_messages
模型回答与 ToolMessage
业务阶段需要从历史反推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AE152-84E7-4029-9CA4-0B678C76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7F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9E195-CBD8-4A98-B4E6-5D915E48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56388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看工具调用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9202C-9296-457F-B50A-05366FB6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56388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日期 → 上下文 → 草稿 → 预览
顺序可能随模型变化
Token 与延迟更难预测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0BD8D-C974-4201-9E1D-D8C9B71D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9144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6814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CB808EC-E628-4D26-9184-78D9C4FF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2AA56A0-7FC8-4511-ADC7-B1A17D7F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Agentic Workflow：Agent 提建议，Workflow 决定能不能继续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A7FB114-D2B4-4F57-9E88-1CC36D8F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DB0F8EB-78F7-4AF8-99BB-9D656FA0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572EFB4-919B-48A8-8614-7EB7056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9FEEE32-D21A-453B-9E6B-A667911A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5E2FE78F-3ED3-46FE-B739-8CB80AB9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规划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理解用户输入
提取日期表达
提取工作内容
给出 next_action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B1503064-4265-4407-966A-D5C3D599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D50E8DF0-B096-4822-9857-0727745C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Workflow 执行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确认日期
加载 ERP 上下文
保存草稿
进入预览 Gate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99A1BB94-28CF-42A7-A752-385DE0BE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E4D06201-C0B9-4FB6-893F-873FC253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生成 + Gate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组织日报正文
保留完整 payload
等待人工确认
提交 Gate 最终裁决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3D1149AB-7CD6-4571-BE9D-1D3F0D14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受控执行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0CEE3AA7-AB88-44DD-B227-8E173EBF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理解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F123E724-6869-43A9-A3C4-CA32A6B8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安全写入</a:t>
            </a:r>
          </a:p>
        </p:txBody>
      </p:sp>
    </p:spTree>
    <p:extLst>
      <p:ext uri="{BB962C8B-B14F-4D97-AF65-F5344CB8AC3E}">
        <p14:creationId xmlns:p14="http://schemas.microsoft.com/office/powerpoint/2010/main" val="4996637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CA453-9A91-453C-BAE9-26B7F645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现场演示 3｜Agentic Workflow：看职责分工与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1A6F6-1160-4CF9-AAD2-7BDFA8F1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791950" cy="579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E91B6-1E94-486D-A208-83D63752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791950" cy="547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agentic workflow写日报：今天完成审批助手开发3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D7B85-571A-4435-BEDC-BB6ECF91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1791950" cy="501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Swagger：8010 / POST /api/ai-approval/chat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A1BAD-1A2B-4BA5-8D8B-4D09A605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791950" cy="470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session_id：demo-agentic-001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C5EB0-D12C-49A3-8048-ACFB7900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5B0EB-2650-44F5-9A75-B6335B92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152525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看结构化状态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D9AB0-2B30-40E3-AE82-CDD5FF6C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15252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plan / context / compose 分开保存
events 显示 Agent 与 Workflow 交替
trace 精确定位阶段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FACC6-436A-40E9-B66C-9DF6B76A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7F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FEE56-27D8-47A2-8253-333A5CD1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56388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看 Gate 拦截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406B6-3728-46C1-A759-AD1EB21C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56388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未预览不能提交
未明确确认不能提交
确认后进入 demo_submit_gate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4B788-6E0D-4568-B794-DC6CC74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9144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92094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mparison-title">
            <a:extLst xmlns:a="http://schemas.openxmlformats.org/drawingml/2006/main">
              <a:ext uri="{FF2B5EF4-FFF2-40B4-BE49-F238E27FC236}">
                <a16:creationId xmlns:a16="http://schemas.microsoft.com/office/drawing/2014/main" id="{955733A5-6000-47B4-9ACB-5DD467E2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三种日报实现：同一目标，不同执行权</a:t>
            </a:r>
          </a:p>
        </p:txBody>
      </p:sp>
      <p:sp>
        <p:nvSpPr>
          <p:cNvPr id="2" name="comparison-subtitle">
            <a:extLst xmlns:a="http://schemas.openxmlformats.org/drawingml/2006/main">
              <a:ext uri="{FF2B5EF4-FFF2-40B4-BE49-F238E27FC236}">
                <a16:creationId xmlns:a16="http://schemas.microsoft.com/office/drawing/2014/main" id="{535C631F-98AF-4AE6-935D-AD299B25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66800"/>
            <a:ext cx="11404568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公平比较范围：daily_report_agent、daily_report_create_agent、daily_report_agentic_workflow_demo</a:t>
            </a:r>
          </a:p>
        </p:txBody>
      </p:sp>
      <p:graphicFrame>
        <p:nvGraphicFramePr>
          <p:cNvPr id="7" name="daily-report-comparison-table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333625"/>
                <a:gridCol w="2857500"/>
                <a:gridCol w="1619250"/>
                <a:gridCol w="2876550"/>
              </a:tblGrid>
              <a:tr h="788670">
                <a:tc>
                  <a:txBody>
                    <a:bodyPr/>
                    <a:lstStyle/>
                    <a:p>
                      <a:r>
                        <a:t>实现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顺序控制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状态 / 排查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成本可控性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当前定位</a:t>
                      </a:r>
                    </a:p>
                  </a:txBody>
                  <a:tcPr marL="91440" marR="91440" marT="45720" marB="45720"/>
                </a:tc>
              </a:tr>
              <a:tr h="788670">
                <a:tc>
                  <a:txBody>
                    <a:bodyPr/>
                    <a:lstStyle/>
                    <a:p>
                      <a:r>
                        <a:t>固定 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节点状态最清晰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稳定主流程</a:t>
                      </a:r>
                    </a:p>
                  </a:txBody>
                  <a:tcPr marL="91440" marR="91440" marT="45720" marB="45720"/>
                </a:tc>
              </a:tr>
              <a:tr h="788670">
                <a:tc>
                  <a:txBody>
                    <a:bodyPr/>
                    <a:lstStyle/>
                    <a:p>
                      <a:r>
                        <a:t>自主 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从消息与 tool calls 反推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自主工具实验</a:t>
                      </a:r>
                    </a:p>
                  </a:txBody>
                  <a:tcPr marL="91440" marR="91440" marT="45720" marB="45720"/>
                </a:tc>
              </a:tr>
              <a:tr h="788670">
                <a:tc>
                  <a:txBody>
                    <a:bodyPr/>
                    <a:lstStyle/>
                    <a:p>
                      <a:r>
                        <a:t>Agentic 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Agent 建议 + Workflow 决定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计划 / 上下文 / 生成 / 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中高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受控智能流程</a:t>
                      </a:r>
                    </a:p>
                  </a:txBody>
                  <a:tcPr marL="91440" marR="91440" marT="45720" marB="45720"/>
                </a:tc>
              </a:tr>
              <a:tr h="788670">
                <a:tc>
                  <a:txBody>
                    <a:bodyPr/>
                    <a:lstStyle/>
                    <a:p>
                      <a:r>
                        <a:t>选择原则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写入风险越高，代码控制越多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先保证能定位问题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限制模型循环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不是越智能越好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comparison-footer">
            <a:extLst xmlns:a="http://schemas.openxmlformats.org/drawingml/2006/main">
              <a:ext uri="{FF2B5EF4-FFF2-40B4-BE49-F238E27FC236}">
                <a16:creationId xmlns:a16="http://schemas.microsoft.com/office/drawing/2014/main" id="{13EB7808-DC7E-4067-A2E8-37DC52A7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470908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CA8EE03-54ED-4C77-8195-070A9A3B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109D7F6-2929-4F07-A439-FF70E015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Deep Agent：这次换成审批场景，探索更长的目标任务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4AEC134-65CC-4EF4-AF04-86843100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Deep Agents 负责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根据目标自主调用工具
查询用户与审批模板
收集字段并追问缺失项
生成审批预览
按 session 保存线程状态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D25FF02E-10C7-452F-B129-8C3475A1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业务系统仍负责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模板与必填字段
校验与审批节点计算
Mock 提交与幂等
submit_approval_request 前 interrupt_on
人工批准后才能恢复</a:t>
            </a:r>
          </a:p>
        </p:txBody>
      </p:sp>
    </p:spTree>
    <p:extLst>
      <p:ext uri="{BB962C8B-B14F-4D97-AF65-F5344CB8AC3E}">
        <p14:creationId xmlns:p14="http://schemas.microsoft.com/office/powerpoint/2010/main" val="3827803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586F2-2785-468E-A4BF-13118E27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79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现场演示 4｜Deep Agent：看 Checkpoint 与 Human-in-the-loop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C0186-3991-4A37-B281-A40DC5B0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791950" cy="579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B81F5-ACF2-4D52-83AF-749D2804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791950" cy="547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我要报销差旅费，金额 5200 元，因为去上海拜访客户，发票已提供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17B8B-0780-42B8-93D7-C327E614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1791950" cy="501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Swagger：8020 / POST /api/ai-approval/chat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B752B-2883-47E5-AC28-B0625BC9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791950" cy="470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t>session_id：demo-deep-001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CF856-AB77-4FA1-816E-6C432125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E06A9-46C0-4C7D-9A79-88FC095A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152525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第一轮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92BBE-6A4B-4AA5-B0E6-4F9BF92C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15252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调用用户 / 模板 / 草稿工具
生成预览与高金额警告
危险工具前触发 interrupt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0E6C5-253F-40C3-AA86-EFD98DAD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7F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BA1A0-23F4-4591-B8C2-CFEA4590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56388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确认提交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5B1ED-8436-4679-987F-A35DA318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56388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同一 session 回复“确认提交”
Command(resume) 批准中断
恢复线程并完成 Mock 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C5F90-2023-4AD9-A01B-60D8DEF2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9144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1613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F30745E-EA03-43F4-ABDD-A7DDE5EF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E657CB3-84D8-42F9-80B9-868A50B3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四种实现不是排行榜，而是四种执行权配置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03FECA-EB86-4C30-8EF2-32760A8F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 Flow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规则明确、写入风险高。
适合生产强流程。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3C69D08-CC68-4C61-9373-59A4EC11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自主 Agent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目标开放、允许路径变化。
适合工具调用实验。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074C828-0CBC-4BFA-822F-68F8A059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Agentic Workflow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既需要自然语言理解，也必须控制写入顺序。
适合受控智能业务。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9B653AC-57D7-4900-8178-7A158B59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Deep Agent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复杂目标、长线程、工具较多。
当前适合学习探索与辅助任务。</a:t>
            </a:r>
          </a:p>
        </p:txBody>
      </p:sp>
    </p:spTree>
    <p:extLst>
      <p:ext uri="{BB962C8B-B14F-4D97-AF65-F5344CB8AC3E}">
        <p14:creationId xmlns:p14="http://schemas.microsoft.com/office/powerpoint/2010/main" val="5931336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7096313-D7F7-4A67-A4BD-99C91337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53AF702-53E8-412F-99D3-533F23CF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预期效果：当前先证明体验和安全边界，而不是虚构效率数字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E240E3DD-BAD1-4AC6-8E78-FCB6E9A5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问答入口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用户用自然语言表达审批或日报目标。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CBB95B7-9C3D-4148-A46D-E251192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已实现能力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请假审批；日报内容、草稿、预览与确认。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1236154-9E12-46DD-8093-A4376CFD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可观察过程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响应中返回 Agent 身份、状态、trace、preview。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AE7D969-5890-494F-8778-00D2C6B9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可验证边界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提交前人工确认；错误接口不假装成功。</a:t>
            </a:r>
          </a:p>
        </p:txBody>
      </p:sp>
    </p:spTree>
    <p:extLst>
      <p:ext uri="{BB962C8B-B14F-4D97-AF65-F5344CB8AC3E}">
        <p14:creationId xmlns:p14="http://schemas.microsoft.com/office/powerpoint/2010/main" val="89063727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7371340-9AC6-4DF5-9A97-288856F0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BE34B93-5000-4CBC-9DB2-DE96FE48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遇到的问题：真正困难的是状态、边界和演示稳定性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5BDBA64-6DBD-4F91-B70A-F556BD45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Flow 节点膨胀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规则越多，条件边和修改分支越重。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4C2E8A0-C310-4300-AB5C-118FDB36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 不确定性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工具顺序、循环次数、Token 与延迟难预测。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21D5355-C540-4A06-BF5E-BC3979F7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会话状态串线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复用 session 可能继续进入上一种 Agent；演示必须隔离。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4A83552-CE8A-48DA-B650-C34D9BB7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Demo 与生产边界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Agentic 保存/提交为 Demo；Deep Agent 后端为 Mock，必须如实说明。</a:t>
            </a:r>
          </a:p>
        </p:txBody>
      </p:sp>
    </p:spTree>
    <p:extLst>
      <p:ext uri="{BB962C8B-B14F-4D97-AF65-F5344CB8AC3E}">
        <p14:creationId xmlns:p14="http://schemas.microsoft.com/office/powerpoint/2010/main" val="19919449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0652D-D080-4459-A644-82D86913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791950" cy="645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76943-EB11-453E-94D1-BF4EBC99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79195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AI 负责理解，代码负责边界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6CDF7-20F8-49C5-99E0-3CFD9A0D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79195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固定 Flow：先把业务跑稳
Agentic Workflow：让 AI 安全进入流程
Deep Agent：探索更复杂、更长的目标任务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9DE57-4DB9-408C-BBF0-32CFB599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9144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17597188"/>
      </p:ext>
    </p:extLst>
  </p:cSld>
</p:sld>
</file>

<file path=ppt/theme/theme1.xml><?xml version="1.0" encoding="utf-8"?>
<a:theme xmlns:a="http://schemas.openxmlformats.org/drawingml/2006/main" name="ChatGPT">
  <a:themeElements>
    <a:clrScheme name="AI Efficiency">
      <a:dk1>
        <a:srgbClr val="000000"/>
      </a:dk1>
      <a:lt1>
        <a:srgbClr val="FFFFFF"/>
      </a:lt1>
      <a:dk2>
        <a:srgbClr val="1F2937"/>
      </a:dk2>
      <a:lt2>
        <a:srgbClr val="EDEDED"/>
      </a:lt2>
      <a:accent1>
        <a:srgbClr val="3D8DFF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3D8D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Efficienc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2026-08-12T08:16:04.1050000Z</dcterms:created>
  <dcterms:modified xsi:type="dcterms:W3CDTF">2026-08-12T08:16:04.1050000Z</dcterms:modified>
</coreProperties>
</file>