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0cd4c0279140e3" /><Relationship Type="http://schemas.openxmlformats.org/officeDocument/2006/relationships/extended-properties" Target="/docProps/app.xml" Id="R2e71dbe407bd448e" /><Relationship Type="http://schemas.openxmlformats.org/officeDocument/2006/relationships/officeDocument" Target="/ppt/presentation.xml" Id="R58c5e3ef7bc14a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27e405cb9f4456"/>
  </p:sldMasterIdLst>
  <p:notesMasterIdLst>
    <p:notesMasterId xmlns:r="http://schemas.openxmlformats.org/officeDocument/2006/relationships" r:id="R394c9eae9b1a452b"/>
  </p:notesMasterIdLst>
  <p:sldIdLst>
    <p:sldId xmlns:r="http://schemas.openxmlformats.org/officeDocument/2006/relationships" id="256" r:id="R90528435b9f84d9a"/>
    <p:sldId xmlns:r="http://schemas.openxmlformats.org/officeDocument/2006/relationships" id="257" r:id="R00b5d3212cab4580"/>
    <p:sldId xmlns:r="http://schemas.openxmlformats.org/officeDocument/2006/relationships" id="258" r:id="R67280d3b4e2f458a"/>
    <p:sldId xmlns:r="http://schemas.openxmlformats.org/officeDocument/2006/relationships" id="259" r:id="R5a18a47a3c2c46de"/>
    <p:sldId xmlns:r="http://schemas.openxmlformats.org/officeDocument/2006/relationships" id="260" r:id="R7b241ee3c2224f75"/>
    <p:sldId xmlns:r="http://schemas.openxmlformats.org/officeDocument/2006/relationships" id="261" r:id="R2dfcde26c1e1425a"/>
    <p:sldId xmlns:r="http://schemas.openxmlformats.org/officeDocument/2006/relationships" id="262" r:id="R5e957dc4131d4653"/>
    <p:sldId xmlns:r="http://schemas.openxmlformats.org/officeDocument/2006/relationships" id="263" r:id="Re75f9ab44b334d4c"/>
    <p:sldId xmlns:r="http://schemas.openxmlformats.org/officeDocument/2006/relationships" id="264" r:id="R55b42a955e904ef8"/>
    <p:sldId xmlns:r="http://schemas.openxmlformats.org/officeDocument/2006/relationships" id="265" r:id="R7e790d3883ec4293"/>
    <p:sldId xmlns:r="http://schemas.openxmlformats.org/officeDocument/2006/relationships" id="266" r:id="R603b0bfcbfda4c70"/>
    <p:sldId xmlns:r="http://schemas.openxmlformats.org/officeDocument/2006/relationships" id="267" r:id="Rfdadab9935b54880"/>
    <p:sldId xmlns:r="http://schemas.openxmlformats.org/officeDocument/2006/relationships" id="268" r:id="R1e6792b1796549a1"/>
    <p:sldId xmlns:r="http://schemas.openxmlformats.org/officeDocument/2006/relationships" id="269" r:id="R7589538a5ace4cbd"/>
    <p:sldId xmlns:r="http://schemas.openxmlformats.org/officeDocument/2006/relationships" id="270" r:id="R2aacf5231c444430"/>
    <p:sldId xmlns:r="http://schemas.openxmlformats.org/officeDocument/2006/relationships" id="271" r:id="R58bacbf9a5f641f4"/>
    <p:sldId xmlns:r="http://schemas.openxmlformats.org/officeDocument/2006/relationships" id="272" r:id="Rbb8ae412405548f0"/>
    <p:sldId xmlns:r="http://schemas.openxmlformats.org/officeDocument/2006/relationships" id="273" r:id="Rca4ffb24c74b4720"/>
    <p:sldId xmlns:r="http://schemas.openxmlformats.org/officeDocument/2006/relationships" id="274" r:id="Rc8ed66adbc4e4d1f"/>
    <p:sldId xmlns:r="http://schemas.openxmlformats.org/officeDocument/2006/relationships" id="275" r:id="R5c8b05b5e2834c23"/>
    <p:sldId xmlns:r="http://schemas.openxmlformats.org/officeDocument/2006/relationships" id="276" r:id="R48a75327d3154947"/>
    <p:sldId xmlns:r="http://schemas.openxmlformats.org/officeDocument/2006/relationships" id="277" r:id="R1c92f25b58bc44db"/>
    <p:sldId xmlns:r="http://schemas.openxmlformats.org/officeDocument/2006/relationships" id="278" r:id="R8aaf0a490d81402d"/>
    <p:sldId xmlns:r="http://schemas.openxmlformats.org/officeDocument/2006/relationships" id="279" r:id="R63819c3a58a144ba"/>
    <p:sldId xmlns:r="http://schemas.openxmlformats.org/officeDocument/2006/relationships" id="280" r:id="R53f42047165449e7"/>
    <p:sldId xmlns:r="http://schemas.openxmlformats.org/officeDocument/2006/relationships" id="281" r:id="Rc00f7795aad44b44"/>
    <p:sldId xmlns:r="http://schemas.openxmlformats.org/officeDocument/2006/relationships" id="282" r:id="R493a51ef19344d03"/>
    <p:sldId xmlns:r="http://schemas.openxmlformats.org/officeDocument/2006/relationships" id="283" r:id="R035b9ff1abbf440b"/>
    <p:sldId xmlns:r="http://schemas.openxmlformats.org/officeDocument/2006/relationships" id="284" r:id="R4b5e5b5a338a47f8"/>
    <p:sldId xmlns:r="http://schemas.openxmlformats.org/officeDocument/2006/relationships" id="285" r:id="Ra07d9d346fdd4d3f"/>
    <p:sldId xmlns:r="http://schemas.openxmlformats.org/officeDocument/2006/relationships" id="286" r:id="Rac42c9f576d74786"/>
    <p:sldId xmlns:r="http://schemas.openxmlformats.org/officeDocument/2006/relationships" id="287" r:id="R7f39b94f7582456b"/>
    <p:sldId xmlns:r="http://schemas.openxmlformats.org/officeDocument/2006/relationships" id="288" r:id="Rc7d9029f34874bc2"/>
    <p:sldId xmlns:r="http://schemas.openxmlformats.org/officeDocument/2006/relationships" id="289" r:id="R14f5f44af37b4f8e"/>
    <p:sldId xmlns:r="http://schemas.openxmlformats.org/officeDocument/2006/relationships" id="290" r:id="R5f881af9ce3c482f"/>
    <p:sldId xmlns:r="http://schemas.openxmlformats.org/officeDocument/2006/relationships" id="291" r:id="Rcc93bd67d1ba4d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272b03bfb340f3" /><Relationship Type="http://schemas.openxmlformats.org/officeDocument/2006/relationships/slideMaster" Target="/ppt/slideMasters/slideMaster1.xml" Id="Rbe27e405cb9f4456" /><Relationship Type="http://schemas.openxmlformats.org/officeDocument/2006/relationships/notesMaster" Target="/ppt/notesMasters/notesMaster1.xml" Id="R394c9eae9b1a452b" /><Relationship Type="http://schemas.openxmlformats.org/officeDocument/2006/relationships/presProps" Target="/ppt/presProps.xml" Id="Rac905bbf3749479c" /><Relationship Type="http://schemas.openxmlformats.org/officeDocument/2006/relationships/tableStyles" Target="/ppt/tableStyles.xml" Id="Rfed0b80b868f48a5" /><Relationship Type="http://schemas.openxmlformats.org/officeDocument/2006/relationships/slide" Target="/ppt/slides/slide1.xml" Id="R90528435b9f84d9a" /><Relationship Type="http://schemas.openxmlformats.org/officeDocument/2006/relationships/slide" Target="/ppt/slides/slide2.xml" Id="R00b5d3212cab4580" /><Relationship Type="http://schemas.openxmlformats.org/officeDocument/2006/relationships/slide" Target="/ppt/slides/slide3.xml" Id="R67280d3b4e2f458a" /><Relationship Type="http://schemas.openxmlformats.org/officeDocument/2006/relationships/slide" Target="/ppt/slides/slide4.xml" Id="R5a18a47a3c2c46de" /><Relationship Type="http://schemas.openxmlformats.org/officeDocument/2006/relationships/slide" Target="/ppt/slides/slide5.xml" Id="R7b241ee3c2224f75" /><Relationship Type="http://schemas.openxmlformats.org/officeDocument/2006/relationships/slide" Target="/ppt/slides/slide6.xml" Id="R2dfcde26c1e1425a" /><Relationship Type="http://schemas.openxmlformats.org/officeDocument/2006/relationships/slide" Target="/ppt/slides/slide7.xml" Id="R5e957dc4131d4653" /><Relationship Type="http://schemas.openxmlformats.org/officeDocument/2006/relationships/slide" Target="/ppt/slides/slide8.xml" Id="Re75f9ab44b334d4c" /><Relationship Type="http://schemas.openxmlformats.org/officeDocument/2006/relationships/slide" Target="/ppt/slides/slide9.xml" Id="R55b42a955e904ef8" /><Relationship Type="http://schemas.openxmlformats.org/officeDocument/2006/relationships/slide" Target="/ppt/slides/slide10.xml" Id="R7e790d3883ec4293" /><Relationship Type="http://schemas.openxmlformats.org/officeDocument/2006/relationships/slide" Target="/ppt/slides/slide11.xml" Id="R603b0bfcbfda4c70" /><Relationship Type="http://schemas.openxmlformats.org/officeDocument/2006/relationships/slide" Target="/ppt/slides/slide12.xml" Id="Rfdadab9935b54880" /><Relationship Type="http://schemas.openxmlformats.org/officeDocument/2006/relationships/slide" Target="/ppt/slides/slide13.xml" Id="R1e6792b1796549a1" /><Relationship Type="http://schemas.openxmlformats.org/officeDocument/2006/relationships/slide" Target="/ppt/slides/slide14.xml" Id="R7589538a5ace4cbd" /><Relationship Type="http://schemas.openxmlformats.org/officeDocument/2006/relationships/slide" Target="/ppt/slides/slide15.xml" Id="R2aacf5231c444430" /><Relationship Type="http://schemas.openxmlformats.org/officeDocument/2006/relationships/slide" Target="/ppt/slides/slide16.xml" Id="R58bacbf9a5f641f4" /><Relationship Type="http://schemas.openxmlformats.org/officeDocument/2006/relationships/slide" Target="/ppt/slides/slide17.xml" Id="Rbb8ae412405548f0" /><Relationship Type="http://schemas.openxmlformats.org/officeDocument/2006/relationships/slide" Target="/ppt/slides/slide18.xml" Id="Rca4ffb24c74b4720" /><Relationship Type="http://schemas.openxmlformats.org/officeDocument/2006/relationships/slide" Target="/ppt/slides/slide19.xml" Id="Rc8ed66adbc4e4d1f" /><Relationship Type="http://schemas.openxmlformats.org/officeDocument/2006/relationships/slide" Target="/ppt/slides/slide20.xml" Id="R5c8b05b5e2834c23" /><Relationship Type="http://schemas.openxmlformats.org/officeDocument/2006/relationships/slide" Target="/ppt/slides/slide21.xml" Id="R48a75327d3154947" /><Relationship Type="http://schemas.openxmlformats.org/officeDocument/2006/relationships/slide" Target="/ppt/slides/slide22.xml" Id="R1c92f25b58bc44db" /><Relationship Type="http://schemas.openxmlformats.org/officeDocument/2006/relationships/slide" Target="/ppt/slides/slide23.xml" Id="R8aaf0a490d81402d" /><Relationship Type="http://schemas.openxmlformats.org/officeDocument/2006/relationships/slide" Target="/ppt/slides/slide24.xml" Id="R63819c3a58a144ba" /><Relationship Type="http://schemas.openxmlformats.org/officeDocument/2006/relationships/slide" Target="/ppt/slides/slide25.xml" Id="R53f42047165449e7" /><Relationship Type="http://schemas.openxmlformats.org/officeDocument/2006/relationships/slide" Target="/ppt/slides/slide26.xml" Id="Rc00f7795aad44b44" /><Relationship Type="http://schemas.openxmlformats.org/officeDocument/2006/relationships/slide" Target="/ppt/slides/slide27.xml" Id="R493a51ef19344d03" /><Relationship Type="http://schemas.openxmlformats.org/officeDocument/2006/relationships/slide" Target="/ppt/slides/slide28.xml" Id="R035b9ff1abbf440b" /><Relationship Type="http://schemas.openxmlformats.org/officeDocument/2006/relationships/slide" Target="/ppt/slides/slide29.xml" Id="R4b5e5b5a338a47f8" /><Relationship Type="http://schemas.openxmlformats.org/officeDocument/2006/relationships/slide" Target="/ppt/slides/slide30.xml" Id="Ra07d9d346fdd4d3f" /><Relationship Type="http://schemas.openxmlformats.org/officeDocument/2006/relationships/slide" Target="/ppt/slides/slide31.xml" Id="Rac42c9f576d74786" /><Relationship Type="http://schemas.openxmlformats.org/officeDocument/2006/relationships/slide" Target="/ppt/slides/slide32.xml" Id="R7f39b94f7582456b" /><Relationship Type="http://schemas.openxmlformats.org/officeDocument/2006/relationships/slide" Target="/ppt/slides/slide33.xml" Id="Rc7d9029f34874bc2" /><Relationship Type="http://schemas.openxmlformats.org/officeDocument/2006/relationships/slide" Target="/ppt/slides/slide34.xml" Id="R14f5f44af37b4f8e" /><Relationship Type="http://schemas.openxmlformats.org/officeDocument/2006/relationships/slide" Target="/ppt/slides/slide35.xml" Id="R5f881af9ce3c482f" /><Relationship Type="http://schemas.openxmlformats.org/officeDocument/2006/relationships/slide" Target="/ppt/slides/slide36.xml" Id="Rcc93bd67d1ba4d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7550fdc71841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b770541269473b" /><Relationship Type="http://schemas.openxmlformats.org/officeDocument/2006/relationships/notesMaster" Target="/ppt/notesMasters/notesMaster1.xml" Id="R93d65a99078c46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4b9613fcba41e2" /><Relationship Type="http://schemas.openxmlformats.org/officeDocument/2006/relationships/notesMaster" Target="/ppt/notesMasters/notesMaster1.xml" Id="Rd734f6f27b6c4a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f77fd1f91c4d6a" /><Relationship Type="http://schemas.openxmlformats.org/officeDocument/2006/relationships/notesMaster" Target="/ppt/notesMasters/notesMaster1.xml" Id="R825096531c234d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ae9ba6e47d4b33" /><Relationship Type="http://schemas.openxmlformats.org/officeDocument/2006/relationships/notesMaster" Target="/ppt/notesMasters/notesMaster1.xml" Id="R864c406041d84c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f14c2de2a644be" /><Relationship Type="http://schemas.openxmlformats.org/officeDocument/2006/relationships/notesMaster" Target="/ppt/notesMasters/notesMaster1.xml" Id="Rcc9eb358068049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2e698f8ee04f08" /><Relationship Type="http://schemas.openxmlformats.org/officeDocument/2006/relationships/notesMaster" Target="/ppt/notesMasters/notesMaster1.xml" Id="R406090f6c54d4b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b50f4e5ccf422f" /><Relationship Type="http://schemas.openxmlformats.org/officeDocument/2006/relationships/notesMaster" Target="/ppt/notesMasters/notesMaster1.xml" Id="Rc1390dbc6a3f46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b4d030a06149a2" /><Relationship Type="http://schemas.openxmlformats.org/officeDocument/2006/relationships/notesMaster" Target="/ppt/notesMasters/notesMaster1.xml" Id="R48044ed3965641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e8f82b4e5344d7" /><Relationship Type="http://schemas.openxmlformats.org/officeDocument/2006/relationships/notesMaster" Target="/ppt/notesMasters/notesMaster1.xml" Id="Rb6c239aab19f49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4253c48e0941c5" /><Relationship Type="http://schemas.openxmlformats.org/officeDocument/2006/relationships/notesMaster" Target="/ppt/notesMasters/notesMaster1.xml" Id="R35196b9947ed40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01c6be61a342c4" /><Relationship Type="http://schemas.openxmlformats.org/officeDocument/2006/relationships/notesMaster" Target="/ppt/notesMasters/notesMaster1.xml" Id="R482bcbfa59334d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01c67fbd5d47e1" /><Relationship Type="http://schemas.openxmlformats.org/officeDocument/2006/relationships/notesMaster" Target="/ppt/notesMasters/notesMaster1.xml" Id="R2c173fc1be404e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5b0de375c84bcb" /><Relationship Type="http://schemas.openxmlformats.org/officeDocument/2006/relationships/notesMaster" Target="/ppt/notesMasters/notesMaster1.xml" Id="Rcede15b0af7b44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a106e38bfe4d73" /><Relationship Type="http://schemas.openxmlformats.org/officeDocument/2006/relationships/notesMaster" Target="/ppt/notesMasters/notesMaster1.xml" Id="Reb4e6506462247f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d7be7f09a24fb6" /><Relationship Type="http://schemas.openxmlformats.org/officeDocument/2006/relationships/notesMaster" Target="/ppt/notesMasters/notesMaster1.xml" Id="Rc4679044195a40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d79dffbfb843f2" /><Relationship Type="http://schemas.openxmlformats.org/officeDocument/2006/relationships/notesMaster" Target="/ppt/notesMasters/notesMaster1.xml" Id="R0df13d771a5249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7ff46d04e4647d2" /><Relationship Type="http://schemas.openxmlformats.org/officeDocument/2006/relationships/notesMaster" Target="/ppt/notesMasters/notesMaster1.xml" Id="R1058ed109c82439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c191fb667684ac1" /><Relationship Type="http://schemas.openxmlformats.org/officeDocument/2006/relationships/notesMaster" Target="/ppt/notesMasters/notesMaster1.xml" Id="R015f1520271c46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d4a1eac5834444" /><Relationship Type="http://schemas.openxmlformats.org/officeDocument/2006/relationships/notesMaster" Target="/ppt/notesMasters/notesMaster1.xml" Id="R6b688e48b4a94fd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d2273f121f248f6" /><Relationship Type="http://schemas.openxmlformats.org/officeDocument/2006/relationships/notesMaster" Target="/ppt/notesMasters/notesMaster1.xml" Id="R2654c81fbea74e1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83d804705db4623" /><Relationship Type="http://schemas.openxmlformats.org/officeDocument/2006/relationships/notesMaster" Target="/ppt/notesMasters/notesMaster1.xml" Id="Rc9895522319b45c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08afb473f554971" /><Relationship Type="http://schemas.openxmlformats.org/officeDocument/2006/relationships/notesMaster" Target="/ppt/notesMasters/notesMaster1.xml" Id="R9f59b98a4c1c478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525154e3535434c" /><Relationship Type="http://schemas.openxmlformats.org/officeDocument/2006/relationships/notesMaster" Target="/ppt/notesMasters/notesMaster1.xml" Id="Rfa448dbcd946482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b46836693e0446b" /><Relationship Type="http://schemas.openxmlformats.org/officeDocument/2006/relationships/notesMaster" Target="/ppt/notesMasters/notesMaster1.xml" Id="R247a535318d9489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929cf4ac6464fec" /><Relationship Type="http://schemas.openxmlformats.org/officeDocument/2006/relationships/notesMaster" Target="/ppt/notesMasters/notesMaster1.xml" Id="R421b4dd9a17940a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ad95986fa6b4863" /><Relationship Type="http://schemas.openxmlformats.org/officeDocument/2006/relationships/notesMaster" Target="/ppt/notesMasters/notesMaster1.xml" Id="R5c01e5f87a10485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d48bd660d2842a5" /><Relationship Type="http://schemas.openxmlformats.org/officeDocument/2006/relationships/notesMaster" Target="/ppt/notesMasters/notesMaster1.xml" Id="Rea521c65e29045c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9929f77dbb74e6d" /><Relationship Type="http://schemas.openxmlformats.org/officeDocument/2006/relationships/notesMaster" Target="/ppt/notesMasters/notesMaster1.xml" Id="Rb5831dfeb68042d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45d12ddf6324ba5" /><Relationship Type="http://schemas.openxmlformats.org/officeDocument/2006/relationships/notesMaster" Target="/ppt/notesMasters/notesMaster1.xml" Id="R4c005be7d5df42f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41ca1fe3cb44090" /><Relationship Type="http://schemas.openxmlformats.org/officeDocument/2006/relationships/notesMaster" Target="/ppt/notesMasters/notesMaster1.xml" Id="R9e31470f2120485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46f105e6da043a3" /><Relationship Type="http://schemas.openxmlformats.org/officeDocument/2006/relationships/notesMaster" Target="/ppt/notesMasters/notesMaster1.xml" Id="R50dc14696f744a4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fae6f4c7a8d4794" /><Relationship Type="http://schemas.openxmlformats.org/officeDocument/2006/relationships/notesMaster" Target="/ppt/notesMasters/notesMaster1.xml" Id="R5e4f863d91eb4d8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71b354138504b9b" /><Relationship Type="http://schemas.openxmlformats.org/officeDocument/2006/relationships/notesMaster" Target="/ppt/notesMasters/notesMaster1.xml" Id="R683110e228ea42c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85f592be1e748ad" /><Relationship Type="http://schemas.openxmlformats.org/officeDocument/2006/relationships/notesMaster" Target="/ppt/notesMasters/notesMaster1.xml" Id="R9ac9fb6befc44bc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74616008d924df5" /><Relationship Type="http://schemas.openxmlformats.org/officeDocument/2006/relationships/notesMaster" Target="/ppt/notesMasters/notesMaster1.xml" Id="R2966d009e71c4a9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5f9ad0e1b674ba7" /><Relationship Type="http://schemas.openxmlformats.org/officeDocument/2006/relationships/notesMaster" Target="/ppt/notesMasters/notesMaster1.xml" Id="R7f8e901870ac46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【只记一句】ERP 和 AI 的结合，目标不是做一个会聊天的机器人，而是让用户用自然语言完成真实业务动作。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【可直接照读】今天分享的是 ERP 与 AI 的结合实践，重点放在两个具体动作：聊天发起审批、聊天填写日报。我们验证了 approval_creation_agent、daily_report_agent、daily_report_create_agent 和 daily_report_agentic_workflow_demo 四类实现，最后把 LangGraph 作为 ERP 主流程框架。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Visual style references supplied by the user: C:/Users/EDY/Pictures/1.jpg–16.jpg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【只记一句】今天只回答四个问题：场景、路径、效果、问题。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【可直接照读】整场分享围绕四个问题展开。第一，AI 为什么要进入 ERP；第二，如何通过聊天助手落地；第三，目前已经实现了哪些可用能力；第四，为什么看起来只是请假和日报，最后却出现了很多节点和分支。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【只记一句】首批场景选审批和日报，是因为频率高、规则清晰、容易验证闭环。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【可直接照读】用户不需要先找到 ERP 菜单，也不需要记住表单字段，只要表达业务目标。审批场景验证动态字段与确认提交，日报场景验证上下文加载、草稿、预览和提交。四种方案分别对应显式流程、稳定执行、Agent 决策和自主加闸门。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【只记一句】现场用两条对话证明：AI 不只是回答，而是真的走完 ERP 业务闭环。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【演示前准备】提前启动 ai_approval_assistant，优先打开现有聊天页面；没有聊天前端时打开 http://127.0.0.1:8010/docs。测试或 mock 环境可以确认提交，生产环境只演示到预览。每条演示使用新的 session_id，避免继承上一次状态。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下面我不讲代码，直接看实际效果。第一条输入“我要请假”，系统会按真实配置追问请假类型和时间，字段完整后生成审批预览，明确确认后才提交。第二条输入“写今天日报：完成审批助手开发和接口联调”，系统加载当天上下文、生成草稿和预览，再等待确认。大家重点看三个点：自然语言入口、动态补充信息、提交前人工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【异常备用】如果接口或网络临时异常，立刻停止刷新，直接用后面的 LangGraph Studio 截图说明同一条路径，并明确说明“现场环境异常，不影响已经完成的流程验证”。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2 分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D:/PythonProject/LearnOne/ai_approval_assistant/演示.md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- D:/PythonProject/LearnOne/ai_approval_assistant/app/api/chat.py</a:t>
            </a:r>
          </a:p>
          <a:p xmlns:a="http://schemas.openxmlformats.org/drawingml/2006/main">
            <a:r>
              <a:t>- FastAPI Swagger demo entry: http://127.0.0.1:8010/docs</a:t>
            </a:r>
          </a:p>
          <a:p xmlns:a="http://schemas.openxmlformats.org/drawingml/2006/main">
            <a:r>
              <a:t>- Deep Agents demo entry: http://127.0.0.1:8020/docs</a:t>
            </a:r>
          </a:p>
          <a:p xmlns:a="http://schemas.openxmlformats.org/drawingml/2006/main">
            <a:r>
              <a:t>- Backup plan: if live service is unavailable, use the prepared LangGraph Studio screenshots and explain the same input → preview → confirmation path.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【只记一句】AI 接入已经普及，但规模化产生价值仍然困难。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【可直接照读】麦肯锡 2025 年调研显示，88% 的组织已经常态化使用 AI，但接近三分之二还没有开始企业级规模化。62% 正在试验或使用 AI Agent，只有 39% 报告了企业级 EBIT 影响。核心差距不在模型，而在能否嵌入真实流程。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McKinsey, The state of AI in 2025: Agents, innovation, and transformation (survey of 1,993 participants across 105 nations): https://www.mckinsey.com/capabilities/quantumblack/our-insights/the-state-of-ai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【只记一句】企业在持续投入 AI，但大多数还没有同时获得增收和降本。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【可直接照读】PwC 2026 全球 CEO 调研显示，30% 表示 AI 带来收入增长，26% 表示成本下降，但 56% 既未增收也未降本，只有 12% 同时实现两种收益。这说明孤立功能不等于业务价值，需要流程、数据与责任边界共同落地。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PwC, 29th Global CEO Survey: Leading through uncertainty in the age of AI (4,454 CEOs across 95 countries and territories): https://www.pwc.com/gx/en/issues/c-suite-insights/ceo-survey.html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【只记一句】实施路径是先选场景，再接数据，再封装工具，最后用 LangGraph 编排和观测。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【可直接照读】我们没有从“大而全的企业助手”开始，而是先选择审批和日报两个高频动作。接着接入用户权限、审批模板、动态字段和日报配置，再把查询、校验、保存、预览、提交封装成统一 Tool。LangGraph 管理状态和流程，LangSmith帮助定位问题，形成从试点到复用的路径。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【只记一句】三者是分层组合，最终主流程选 LangGraph。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【可直接照读】LangChain提供模型和 Tool 等基础构件；LangGraph负责状态、分支和人工中断；Deep Agents提供更高层的自主规划。ERP 涉及真实写入，所以先保证流程可控。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D:/PythonProject/LearnOne/ai_approval_assistant/pyproject.toml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C:/Users/EDY/Pictures/16.jpg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【只记一句】ERP 场景更看重可控执行，而不是代码看起来更少。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【可直接照读】LangChain适合简单调用，LangGraph适合有状态和人工确认的流程，Deep Agents适合开放长任务。审批和日报需要暂停、恢复和安全写入，因此 LangGraph 更贴合主流程。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- D:/PythonProject/LearnOne/ai_deep_agents_assistant/app/agents/approval_agent.py</a:t>
            </a:r>
          </a:p>
          <a:p xmlns:a="http://schemas.openxmlformats.org/drawingml/2006/main">
            <a:r>
              <a:t>- C:/Users/EDY/Pictures/5.jpg</a:t>
            </a:r>
          </a:p>
          <a:p xmlns:a="http://schemas.openxmlformats.org/drawingml/2006/main">
            <a:r>
              <a:t>- C:/Users/EDY/Pictures/7.jpg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【只记一句】最终分工是 LangChain 做基础，LangGraph做主流程，Deep Agents做探索。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【可直接照读】选择 LangGraph 是因为流程清晰、状态可持久化、路径便于排查，并且能把 ERP 校验和提交做成明确闸门。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C:/Users/EDY/Pictures/1.jpg</a:t>
            </a:r>
          </a:p>
          <a:p xmlns:a="http://schemas.openxmlformats.org/drawingml/2006/main">
            <a:r>
              <a:t>- C:/Users/EDY/Pictures/13.jpg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【只记一句】聊天发起审批的关键是动态适配，而不是把请假话术写死。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【可直接照读】用户说“我明天下午请假两小时”，助手先识别审批模板，再根据公司配置追问缺失字段，校验后生成预览，只有用户明确确认才写入 ERP。用户看到的是一句话入口，系统内部仍然遵守原来的字段、审批人和权限规则。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D:/PythonProject/LearnOne/ai_approval_assistant/app/graph/approval_workflow.py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【只记一句】同一个请假动作，在不同公司可能对应不同表单。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【可直接照读】审批最难的地方是组件多、字段不一样，而且每家公司还能配置不同规则。解决方法不是为每家公司增加一组 if-else，而是让 ERP 定义模板和字段，AI负责理解表达，聊天助手根据配置动态追问、校验和预览。这样新增组件主要是增加配置和适配，而不是重写主流程。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D:/PythonProject/LearnOne/ai_approval_assistant/app/services/crm_service.py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【只记一句】标准日报优先用固定流程，先保证稳定和可恢复。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用户说“帮我写今天日报”，系统加载当天配置、已有草稿和同步数据，收集工作内容，保存草稿，生成预览，确认后提交。这个场景步骤比较明确，所以把流程显式化，便于控制风险，也便于出现中断后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D:/PythonProject/LearnOne/ai_approval_assistant/app/agents/daily_report_chat_agent.py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【只记一句】自主日报让 Agent 决定下一步，但写入边界仍然固定。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【可直接照读】当用户只说“把今天客户跟进整理成日报”时，输入并不完整，Agent需要判断是否先确认日期、加载哪些 ERP 数据、是否继续追问以及何时生成预览。它提升了自然表达的适应性，但不能编造内容、跳过预览或自动提交。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D:/PythonProject/LearnOne/ai_approval_assistant/app/agents/daily_report_create_agent.py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【只记一句】开放性工作交给 Agent，确定性写入交给 Workflow。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【可直接照读】Agent可以理解目标、制定计划和组织正文；Workflow负责保存草稿、生成预览、等待确认和执行提交。这个 Agentic Workflow demo 体现的是一种折中：让模型有灵活性，但把高风险动作放在明确的流程闸门之后。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D:/PythonProject/LearnOne/ai_approval_assistant/app/graph/daily_report_agentic_workflow_demo.py</a:t>
            </a:r>
          </a:p>
          <a:p xmlns:a="http://schemas.openxmlformats.org/drawingml/2006/main">
            <a:r>
              <a:t>- D:/PythonProject/LearnOne/ai_approval_assistant/app/agents/daily_report_agentic_workflow_demo.py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【只记一句】四种方案是按风险和开放程度选择，不是互相替代。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【可直接照读】审批和标准日报已经具备生产落地的特征，因为流程和提交边界清晰；自主日报更适合能力探索，灵活性高但需要更多约束；Agentic Workflow是演进方向，用自主规划处理开放任务，再用流程闸门保证安全。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【只记一句】现场演示证明“能用”，预期效果页说明“如何衡量”。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【可直接照读】刚才已经看到两条真实业务路径。当前已实现的是聊天请假、动态字段收集、审批预览和确认提交，以及聊天写日报、草稿、预览和 interrupt/resume 恢复。下一步用模板识别准确率、平均对话轮次、必填字段完成率、预览到提交成功率、恢复成功率和 ERP Tool P95 延迟衡量规模化效果。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【只记一句】复杂度来自配置、状态和安全边界叠加。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【可直接照读】审批组件太多，每个组件字段不同；LangGraph中 if-else 持续增加；多轮对话、人工中断和恢复让节点状态相互影响；出现问题时还要区分模型、路由、状态和 ERP 接口。当前四类工作流一共注册了约 40 个节点：顶层 9 个、审批子图 14 个、标准日报 10 个、Agentic Workflow 7 个。这个数字能直观说明，聊天入口很简单，业务执行并不简单。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75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D:/PythonProject/LearnOne/ai_approval_assistant/app/graph/approval_workflow.py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D:/PythonProject/LearnOne/ai_approval_assistant/app/graph/daily_report_agentic_workflow_demo.py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【只记一句】排查问题要看完整 Trace，而不是只看最终回答。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【可直接照读】一次请求可能同时经过模型理解、流程路由、状态变化和 ERP 工具四类环节。LangSmith需要重点观察节点顺序、分支原因、模型字段抽取、Tool参数与耗时，以及 interrupt前后的状态差异。这样才能快速判断问题发生在哪一层，而不是凭感觉修改代码。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60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D:/PythonProject/LearnOne/ai_approval_assistant/docs/studio_debug.md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【只记一句】优化原则是把稳定规则流程化，把开放判断 Agent 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【可直接照读】字段完整性、业务校验、预览确认、幂等和审计必须留在 Workflow 中；理解目标、提取信息、选择上下文和组织内容可以交给 Agent。配套动作包括规则配置化、节点单一职责、统一 ERP Tool 和全链路观测。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- D:/PythonProject/LearnOne/ai_approval_assistant/docs/studio_debug.md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【只记一句】AI 负责理解和交互，ERP 负责规则和可信执行。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【可直接照读】最后用八句话总结这次实践。AI 不是替代 ERP，而是增加自然语言入口；审批和日报是第一批高频、典型、容易验证闭环的场景。用户负责表达目标，AI 负责理解和补充信息，ERP 继续负责权限、规则、字段和最终写入。技术上，LangChain 提供基础组件，LangGraph 负责主流程，Deep Agents 探索自主规划；最终选择 LangGraph，是因为 ERP 更需要可控、可恢复和可审计。当前最大的挑战是动态字段、流程分支和状态复杂度，下一步要沉淀统一 Schema、统一 Tool 和统一观测体系。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【只记一句】下一步是把两个试点沉淀成可复用底座。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【可直接照读】近期完善审批与日报的动态字段、错误恢复和链路观测；中期沉淀统一业务 Schema、ERP Tool和公司级配置适配；长期扩展订单、库存、客户跟进和经营分析。最终目标是让 AI 理解任务，让 ERP 流程稳定、可控、可追踪。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D:/PythonProject/LearnOne/ai_approval_assistant/README.md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C:/Users/EDY/AppData/Local/Temp/codex-clipboard-a168231d-4563-4e49-8319-92fa1617d4ed.png</a:t>
            </a:r>
          </a:p>
          <a:p xmlns:a="http://schemas.openxmlformats.org/drawingml/2006/main">
            <a:r>
              <a:t>- D:/PythonProject/LearnOne/ai_approval_assistant/app/graph/workflow.py</a:t>
            </a:r>
          </a:p>
          <a:p xmlns:a="http://schemas.openxmlformats.org/drawingml/2006/main">
            <a:r>
              <a:t>- D:/PythonProject/LearnOne/ai_approval_assistant/app/agents/approval_agent.py</a:t>
            </a:r>
          </a:p>
          <a:p xmlns:a="http://schemas.openxmlformats.org/drawingml/2006/main">
            <a:r>
              <a:t>- D:/PythonProject/LearnOne/ai_approval_assistant/app/agents/daily_report_create_agent.py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C:/Users/EDY/AppData/Local/Temp/codex-clipboard-39e93d19-0368-48e9-9041-d15d064c8b2e.png</a:t>
            </a:r>
          </a:p>
          <a:p xmlns:a="http://schemas.openxmlformats.org/drawingml/2006/main">
            <a:r>
              <a:t>- D:/PythonProject/LearnOne/ai_approval_assistant/app/graph/approval_workflow.py</a:t>
            </a:r>
          </a:p>
          <a:p xmlns:a="http://schemas.openxmlformats.org/drawingml/2006/main">
            <a:r>
              <a:t>- D:/PythonProject/LearnOne/ai_approval_assistant/app/agents/approval_agent.py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C:/Users/EDY/AppData/Local/Temp/codex-clipboard-39e93d19-0368-48e9-9041-d15d064c8b2e.png</a:t>
            </a:r>
          </a:p>
          <a:p xmlns:a="http://schemas.openxmlformats.org/drawingml/2006/main">
            <a:r>
              <a:t>- D:/PythonProject/LearnOne/ai_approval_assistant/app/graph/approval_workflow.py</a:t>
            </a:r>
          </a:p>
          <a:p xmlns:a="http://schemas.openxmlformats.org/drawingml/2006/main">
            <a:r>
              <a:t>- D:/PythonProject/LearnOne/ai_approval_assistant/app/agents/approval_agent.py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C:/Users/EDY/AppData/Local/Temp/codex-clipboard-05e8c312-0ae2-40a4-b844-9af537fa1dea.png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D:/PythonProject/LearnOne/ai_approval_assistant/app/agents/daily_report_chat_agent.py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C:/Users/EDY/AppData/Local/Temp/codex-clipboard-05e8c312-0ae2-40a4-b844-9af537fa1dea.png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D:/PythonProject/LearnOne/ai_approval_assistant/app/agents/daily_report_chat_agent.py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【使用建议】这一页作为问答备用，不主动展开。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LangGraph Studio screenshot: C:/Users/EDY/AppData/Local/Temp/codex-clipboard-b08edd2a-092c-42e0-b5a8-e9c7d58a5c65.png</a:t>
            </a:r>
          </a:p>
          <a:p xmlns:a="http://schemas.openxmlformats.org/drawingml/2006/main">
            <a:r>
              <a:t>- D:/PythonProject/LearnOne/ai_approval_assistant/app/graph/daily_report_agentic_workflow_demo.py</a:t>
            </a:r>
          </a:p>
          <a:p xmlns:a="http://schemas.openxmlformats.org/drawingml/2006/main">
            <a:r>
              <a:t>- D:/PythonProject/LearnOne/ai_approval_assistant/app/agents/daily_report_agentic_workflow_demo.py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【只记一句】企业级 RAG 的重点不是向量库，而是知识治理、权限、来源和业务边界。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【可直接照读】企业级 RAG 不是把几份文档放进向量库，再做一个知识库聊天。它首先要治理知识源，包括制度、SOP、操作手册、ERP 字段说明和审批规则，并记录版本、更新时间、责任人和原文位置。其次，检索时必须在服务端强制加入租户、公司、部门和 ACL 权限，再通过混合检索与重排找到证据。最后还要明确边界：RAG 回答规则和知识，ERP Tool 查询实时数据，LangGraph 控制预览、确认、提交和审计。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【ERP 示例】员工问“差旅报销需要哪些材料”，走 RAG；问“我的报销单现在到谁审批”，走 ERP Tool；说“帮我发起报销”，进入 LangGraph 业务流程。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75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D:/PythonProject/LearnOne/docs/python_rag_notes.md</a:t>
            </a:r>
          </a:p>
          <a:p xmlns:a="http://schemas.openxmlformats.org/drawingml/2006/main">
            <a:r>
              <a:t>- D:/PythonProject/LearnOne/docs/docs/rag_demo_sources/approval_rag_guide.md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【只记一句】Milvus 同时承载语义、关键词和权限过滤，是 ERP 知识检索的基础底座。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【可直接照读】Milvus 中不只保存向量，还要保存原文、Dense 向量、BM25 稀疏向量，以及来源、页码、标题、公司、部门、权限、版本和更新时间。查询时，先由检索服务强制注入当前用户的权限范围，再同时执行 Dense 语义召回和 BM25 精确召回，通过 RRF 或加权方式融合，最后由 Reranker 精排并返回带来源的证据。ERP 里既有“请假怎么申请”这种语义问题，也有制度号、审批编号、产品编码等精确词，因此 Dense 加 BM25 比单路向量检索更适合。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【部署口径】Milvus Lite 适合本地学习和 Demo；Standalone 适合单机试点；企业生产再根据数据规模、并发、高可用和弹性选择 Distributed 或云服务。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85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D:/PythonProject/LearnOne/docs/python_milvus_notes.md</a:t>
            </a:r>
          </a:p>
          <a:p xmlns:a="http://schemas.openxmlformats.org/drawingml/2006/main">
            <a:r>
              <a:t>- D:/PythonProject/LearnOne/docs/python_rag_notes.md</a:t>
            </a:r>
          </a:p>
          <a:p xmlns:a="http://schemas.openxmlformats.org/drawingml/2006/main">
            <a:r>
              <a:t>- D:/PythonProject/LearnOne/docs2/milvus_hnsw_ivf_annoy_cold_start_update_multitenancy.md</a:t>
            </a:r>
          </a:p>
          <a:p xmlns:a="http://schemas.openxmlformats.org/drawingml/2006/main">
            <a:r>
              <a:t>- Milvus Hybrid Search documentation: https://milvus.io/docs/multi-vector-search.md</a:t>
            </a:r>
          </a:p>
          <a:p xmlns:a="http://schemas.openxmlformats.org/drawingml/2006/main">
            <a:r>
              <a:t>- Milvus Multi-tenancy documentation: https://milvus.io/docs/multi_tenancy.md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【只记一句】先用 Milvus 建立稳定 RAG 基线，再用真实评测证明 GraphRAG 或 LightRAG 是否值得增加复杂度。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【可直接照读】传统的 Milvus 混合 RAG 最适合制度、FAQ、字段说明和操作手册，成本可控、增量更新简单，应该作为 ERP 第一阶段基线。Microsoft GraphRAG 会抽取实体和关系、进行社区发现，并支持 Local Search 和 Global Search，适合跨文档多跳关系、全局主题和风险总结，但离线索引成本、实体消歧、增量更新和权限传播都更复杂。LightRAG 同样融合图关系和向量检索，更强调增量使用体验，适合第二阶段快速验证，但“Light”不代表没有实体抽取和索引成本。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【验证方法】必须使用同一批文档、同一模型和同一评测集，对比准确率、证据覆盖率、索引成本、P95 延迟和增量更新时间；如果图检索没有显著增益，就不应该为了技术完整而引入更多中间件。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95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D:/PythonProject/LearnOne/docs/python_rag_graphrag_lightrag_notes.md</a:t>
            </a:r>
          </a:p>
          <a:p xmlns:a="http://schemas.openxmlformats.org/drawingml/2006/main">
            <a:r>
              <a:t>- D:/PythonProject/LearnOne/docs/python_rag_notes.md</a:t>
            </a:r>
          </a:p>
          <a:p xmlns:a="http://schemas.openxmlformats.org/drawingml/2006/main">
            <a:r>
              <a:t>- Microsoft GraphRAG documentation: https://microsoft.github.io/graphrag/</a:t>
            </a:r>
          </a:p>
          <a:p xmlns:a="http://schemas.openxmlformats.org/drawingml/2006/main">
            <a:r>
              <a:t>- LightRAG repository: https://github.com/HKUDS/LightRAG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【只记一句】RAG 管知识，ERP Tool 管实时数据，LangGraph 把两者编排成安全的业务动作。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【可直接照读】RAG 负责制度、SOP、字段说明和流程规则；ERP Tool 负责当前用户、审批模板、订单、库存和实时状态；LangGraph 负责识别意图、补充字段、调用正确能力，并控制预览、人工确认、提交和审计。用户看到的是自然语言入口，ERP 仍然保留原有权限、规则和写入边界。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D:/PythonProject/LearnOne/docs/python_rag_notes.md</a:t>
            </a:r>
          </a:p>
          <a:p xmlns:a="http://schemas.openxmlformats.org/drawingml/2006/main">
            <a:r>
              <a:t>- D:/PythonProject/LearnOne/docs/docs/rag_demo_sources/approval_rag_guide.md</a:t>
            </a:r>
          </a:p>
          <a:p xmlns:a="http://schemas.openxmlformats.org/drawingml/2006/main">
            <a:r>
              <a:t>- D:/PythonProject/LearnOne/ai_approval_assistant/docs/architecture.md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【只记一句】想搜索得准，关键不是只换一个模型，而是把问题拆解、权限过滤、混合检索和重排序连起来。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【可直接照读】用户问题先被拆成业务类型、公司、部门、时间范围和关键词；检索服务再强制加入 tenant、company、department 和 ACL 条件。Dense 负责理解“怎么申请”这类语义，BM25 负责制度号、审批编号、产品编码等精确词，RRF 或 Weighted 融合结果，Reranker 再从候选片段里挑出最相关的证据。检索不到时要明确说明资料不足，而不是让模型编造答案。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75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D:/PythonProject/LearnOne/docs/python_rag_notes.md</a:t>
            </a:r>
          </a:p>
          <a:p xmlns:a="http://schemas.openxmlformats.org/drawingml/2006/main">
            <a:r>
              <a:t>- D:/PythonProject/LearnOne/docs2/RAG优化.md</a:t>
            </a:r>
          </a:p>
          <a:p xmlns:a="http://schemas.openxmlformats.org/drawingml/2006/main">
            <a:r>
              <a:t>- D:/PythonProject/LearnOne/docs2/milvus_hnsw_ivf_annoy_cold_start_update_multitenancy.md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【只记一句】同一句自然语言，可能对应知识问答、实时查询或完整业务执行。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【可直接照读】“病假需要什么材料”走 RAG，返回制度条款和来源；“我的请假审批到谁了”走 ERP Tool，返回实时状态；“帮我明天下午请半天事假”则需要 RAG 加 ERP Tool 再进入 LangGraph，由系统追问缺失字段、校验权限和时间、生成预览，用户确认后才提交。这个分层让 AI 更方便，也让 ERP 继续可信。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70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D:/PythonProject/LearnOne/docs/docs/rag_demo_sources/approval_rag_guide.md</a:t>
            </a:r>
          </a:p>
          <a:p xmlns:a="http://schemas.openxmlformats.org/drawingml/2006/main">
            <a:r>
              <a:t>- D:/PythonProject/LearnOne/ai_approval_assistant/app/agents/approval_creation_agent.py</a:t>
            </a:r>
          </a:p>
          <a:p xmlns:a="http://schemas.openxmlformats.org/drawingml/2006/main">
            <a:r>
              <a:t>- D:/PythonProject/LearnOne/ai_approval_assistant/app/agents/daily_report_agent.py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【只记一句】用户只说业务目标，Agent 负责理解和选路，RAG 或 ERP Tool 负责执行，LangGraph 负责追问、确认和写入控制。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【可直接照读】用户从前端输入自然语言后，LLM 先识别这是制度问答、实时查询还是业务动作；制度问题进入 RAG，实时数据和动态模板通过 ERP Tool 获取；如果要执行审批，LangGraph 会继续补充字段、校验、生成预览，并在用户确认后才写入 ERP。整个过程可以返回执行计划、工具调用、检索证据和 ERP 结果，方便现场演示和问题排查。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D:/PythonProject/LearnOne/ai_erp_rag_assistant/app/graph/workflow.py</a:t>
            </a:r>
          </a:p>
          <a:p xmlns:a="http://schemas.openxmlformats.org/drawingml/2006/main">
            <a:r>
              <a:t>- D:/PythonProject/LearnOne/ai_erp_rag_assistant/app/services/milvus_service.py</a:t>
            </a:r>
          </a:p>
          <a:p xmlns:a="http://schemas.openxmlformats.org/drawingml/2006/main">
            <a:r>
              <a:t>- D:/PythonProject/LearnOne/ai_erp_rag_assistant/app/services/erp_client.py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【只记一句】RAG 与 ERP 的结合，最终目标是让用户少记菜单和字段，但不降低业务控制力。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【可直接照读】后续可以从审批和日报继续扩展到采购、订单、库存和客户跟进。每增加一个场景，都沿用同一套分层：知识进入 RAG，实时事实通过 ERP Tool，业务写入由 LangGraph 控制。这样既能持续积累 AI 能力，也能避免把所有逻辑都堆在 Prompt 或 if-else 中。谢谢大家。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【时间建议】约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Closing slide; no external claims.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03daec43749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63ce9315d44a27" /><Relationship Type="http://schemas.openxmlformats.org/officeDocument/2006/relationships/slideLayout" Target="/ppt/slideLayouts/slideLayout1.xml" Id="R70d6fa6cb1054c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d6fa6cb1054c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1d763125448e3" /><Relationship Type="http://schemas.openxmlformats.org/officeDocument/2006/relationships/notesSlide" Target="/ppt/notesSlides/notesSlide1.xml" Id="R81c38e3dc5b748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703e007f6479f" /><Relationship Type="http://schemas.openxmlformats.org/officeDocument/2006/relationships/notesSlide" Target="/ppt/notesSlides/notesSlide2.xml" Id="Rdd317a505d1747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9b711a9774a5b" /><Relationship Type="http://schemas.openxmlformats.org/officeDocument/2006/relationships/notesSlide" Target="/ppt/notesSlides/notesSlide3.xml" Id="R1f1d775fac044c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8d847e1384b61" /><Relationship Type="http://schemas.openxmlformats.org/officeDocument/2006/relationships/notesSlide" Target="/ppt/notesSlides/notesSlide4.xml" Id="R04e3a052ad9c44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cded03aa14e2f" /><Relationship Type="http://schemas.openxmlformats.org/officeDocument/2006/relationships/notesSlide" Target="/ppt/notesSlides/notesSlide5.xml" Id="R4d522063e64345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07b3873e1497a" /><Relationship Type="http://schemas.openxmlformats.org/officeDocument/2006/relationships/notesSlide" Target="/ppt/notesSlides/notesSlide6.xml" Id="R8a7974d4246a41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c9cb8d7a44536" /><Relationship Type="http://schemas.openxmlformats.org/officeDocument/2006/relationships/notesSlide" Target="/ppt/notesSlides/notesSlide7.xml" Id="R9cd015dec7f243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17241a4d34e4f" /><Relationship Type="http://schemas.openxmlformats.org/officeDocument/2006/relationships/notesSlide" Target="/ppt/notesSlides/notesSlide8.xml" Id="Re7881fa9a37c43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4d4dccf464a5a" /><Relationship Type="http://schemas.openxmlformats.org/officeDocument/2006/relationships/notesSlide" Target="/ppt/notesSlides/notesSlide9.xml" Id="Rfd367ed2cd9a4b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e865a61344c81" /><Relationship Type="http://schemas.openxmlformats.org/officeDocument/2006/relationships/notesSlide" Target="/ppt/notesSlides/notesSlide10.xml" Id="R40404e2d475b4b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d49a2ac204c86" /><Relationship Type="http://schemas.openxmlformats.org/officeDocument/2006/relationships/notesSlide" Target="/ppt/notesSlides/notesSlide11.xml" Id="R0d7248a3fb2643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b589bd12e420a" /><Relationship Type="http://schemas.openxmlformats.org/officeDocument/2006/relationships/notesSlide" Target="/ppt/notesSlides/notesSlide12.xml" Id="R8379b711bbe34c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7e39a75ae4c88" /><Relationship Type="http://schemas.openxmlformats.org/officeDocument/2006/relationships/notesSlide" Target="/ppt/notesSlides/notesSlide13.xml" Id="R5741ac27ecaf4c7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015d3b3df4500" /><Relationship Type="http://schemas.openxmlformats.org/officeDocument/2006/relationships/notesSlide" Target="/ppt/notesSlides/notesSlide14.xml" Id="Rcb4f046be03549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6e66ac73e46d9" /><Relationship Type="http://schemas.openxmlformats.org/officeDocument/2006/relationships/notesSlide" Target="/ppt/notesSlides/notesSlide15.xml" Id="R1d09809531df43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9fe14c10e4f90" /><Relationship Type="http://schemas.openxmlformats.org/officeDocument/2006/relationships/notesSlide" Target="/ppt/notesSlides/notesSlide16.xml" Id="R5f544907e23247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f153c309a4c75" /><Relationship Type="http://schemas.openxmlformats.org/officeDocument/2006/relationships/notesSlide" Target="/ppt/notesSlides/notesSlide17.xml" Id="R8ff564be888d457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d725e73244e05" /><Relationship Type="http://schemas.openxmlformats.org/officeDocument/2006/relationships/notesSlide" Target="/ppt/notesSlides/notesSlide18.xml" Id="Rcd293e1c0f6e4c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a5b86579b4f3d" /><Relationship Type="http://schemas.openxmlformats.org/officeDocument/2006/relationships/notesSlide" Target="/ppt/notesSlides/notesSlide19.xml" Id="R514fbc8d5410403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e3b94effe4177" /><Relationship Type="http://schemas.openxmlformats.org/officeDocument/2006/relationships/notesSlide" Target="/ppt/notesSlides/notesSlide20.xml" Id="R650475aefb214e6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2161cb7c14608" /><Relationship Type="http://schemas.openxmlformats.org/officeDocument/2006/relationships/notesSlide" Target="/ppt/notesSlides/notesSlide21.xml" Id="R573dc9d242aa454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db10bd22943c4" /><Relationship Type="http://schemas.openxmlformats.org/officeDocument/2006/relationships/notesSlide" Target="/ppt/notesSlides/notesSlide22.xml" Id="R3bf362c688ce44c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8b3f5e35f42b7" /><Relationship Type="http://schemas.openxmlformats.org/officeDocument/2006/relationships/image" Target="/ppt/media/image.png" Id="Rcaa866c4aaab42b0" /><Relationship Type="http://schemas.openxmlformats.org/officeDocument/2006/relationships/notesSlide" Target="/ppt/notesSlides/notesSlide23.xml" Id="Rdc310ca3659c434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a32ad6c714d3e" /><Relationship Type="http://schemas.openxmlformats.org/officeDocument/2006/relationships/image" Target="/ppt/media/image2.png" Id="R9c2adff3900046f0" /><Relationship Type="http://schemas.openxmlformats.org/officeDocument/2006/relationships/notesSlide" Target="/ppt/notesSlides/notesSlide24.xml" Id="Rd864286c22c5475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1c063f31a4e25" /><Relationship Type="http://schemas.openxmlformats.org/officeDocument/2006/relationships/image" Target="/ppt/media/image3.png" Id="Rc0f4e233041540ff" /><Relationship Type="http://schemas.openxmlformats.org/officeDocument/2006/relationships/notesSlide" Target="/ppt/notesSlides/notesSlide25.xml" Id="R52d6a323b2d0435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509ae41b341b4" /><Relationship Type="http://schemas.openxmlformats.org/officeDocument/2006/relationships/image" Target="/ppt/media/image4.png" Id="Ra5b645e578254210" /><Relationship Type="http://schemas.openxmlformats.org/officeDocument/2006/relationships/notesSlide" Target="/ppt/notesSlides/notesSlide26.xml" Id="Ra2565b7c4a344a8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f244f39e849e4" /><Relationship Type="http://schemas.openxmlformats.org/officeDocument/2006/relationships/image" Target="/ppt/media/image5.png" Id="R21ec0a5d6c9e4520" /><Relationship Type="http://schemas.openxmlformats.org/officeDocument/2006/relationships/notesSlide" Target="/ppt/notesSlides/notesSlide27.xml" Id="R80408406f1a6454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eafdb6b954cc9" /><Relationship Type="http://schemas.openxmlformats.org/officeDocument/2006/relationships/image" Target="/ppt/media/image6.png" Id="Rfd79ac527e694f99" /><Relationship Type="http://schemas.openxmlformats.org/officeDocument/2006/relationships/notesSlide" Target="/ppt/notesSlides/notesSlide28.xml" Id="R8f4622fe674043e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fa9ee12c74ff1" /><Relationship Type="http://schemas.openxmlformats.org/officeDocument/2006/relationships/notesSlide" Target="/ppt/notesSlides/notesSlide29.xml" Id="R6cf51699f09847b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d3506379c47bf" /><Relationship Type="http://schemas.openxmlformats.org/officeDocument/2006/relationships/notesSlide" Target="/ppt/notesSlides/notesSlide30.xml" Id="Rb517e80e9a42408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e5f40a9a74b37" /><Relationship Type="http://schemas.openxmlformats.org/officeDocument/2006/relationships/notesSlide" Target="/ppt/notesSlides/notesSlide31.xml" Id="R01d34c20d1ba435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e8ba6349e4c39" /><Relationship Type="http://schemas.openxmlformats.org/officeDocument/2006/relationships/notesSlide" Target="/ppt/notesSlides/notesSlide32.xml" Id="R0bebba2c2d8f4d3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f92b23b9745d8" /><Relationship Type="http://schemas.openxmlformats.org/officeDocument/2006/relationships/notesSlide" Target="/ppt/notesSlides/notesSlide33.xml" Id="Rfb2e875288b8427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5d22328e340cf" /><Relationship Type="http://schemas.openxmlformats.org/officeDocument/2006/relationships/notesSlide" Target="/ppt/notesSlides/notesSlide34.xml" Id="R97a94a3de57f47a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6a671097e441a" /><Relationship Type="http://schemas.openxmlformats.org/officeDocument/2006/relationships/notesSlide" Target="/ppt/notesSlides/notesSlide35.xml" Id="Re122942a9aa8419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0775a08b24b48" /><Relationship Type="http://schemas.openxmlformats.org/officeDocument/2006/relationships/notesSlide" Target="/ppt/notesSlides/notesSlide36.xml" Id="Rd78763d3413744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484243-0ED2-4667-A26E-4CE6B495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0B9DD-7878-4F86-8895-771AF67D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3F5E5-397A-4818-B61E-EB699750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ERP 与 AI 融合实践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FAAA6-D354-4709-8E84-34EF4E17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04925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ECDDE1"/>
                </a:solidFill>
              </a:defRPr>
            </a:pPr>
            <a:r>
              <a:rPr sz="2025" b="0">
                <a:solidFill>
                  <a:srgbClr val="ECDDE1"/>
                </a:solidFill>
              </a:rPr>
              <a:t>从聊天发起审批，到聊天填写日报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2EAA9-037A-415D-A84C-4D3E8A55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82523"/>
                </a:solidFill>
              </a:defRPr>
            </a:pPr>
            <a:r>
              <a:rPr sz="2325" b="1">
                <a:solidFill>
                  <a:srgbClr val="282523"/>
                </a:solidFill>
              </a:rPr>
              <a:t>让用户直接表达业务目标，让 AI 在 ERP 规则内协助完成操作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49D73-EC8F-40EA-98EF-94D6AB3E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24003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4059B-F283-49BD-9683-AC144288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672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智能审批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00923-7A69-4513-B87E-CAB08D0F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9149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approval_creation_agent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F202C-607A-433E-9DF5-CDADECC6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38625"/>
            <a:ext cx="24003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87977-E170-4D45-9DED-2203DB6C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672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标准日报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9504A-97E5-4B69-873D-2AE1F155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149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5F184-F9F4-4BF2-902A-DF94C271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38625"/>
            <a:ext cx="24003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C8ECB-F520-4E54-9DA9-345137D0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672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自主日报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1C62E-EF64-482F-B848-2C45185E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9149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daily_report_create_agent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E8ECE-EC23-4B39-B235-6719D991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38625"/>
            <a:ext cx="2400300" cy="1104900"/>
          </a:xfrm>
          <a:prstGeom xmlns:a="http://schemas.openxmlformats.org/drawingml/2006/main" prst="roundRect">
            <a:avLst>
              <a:gd name="adj" fmla="val 18966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50702-8429-4985-9ACA-3A650854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672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Agentic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7F161-CCAF-4A97-AFC5-1D7D9484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149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daily_report_agentic_workflow_demo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C1A8E-D60A-4E1B-B574-AD91A61C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A66C6B"/>
                </a:solidFill>
              </a:defRPr>
            </a:pPr>
            <a:r>
              <a:rPr sz="1050" b="1">
                <a:solidFill>
                  <a:srgbClr val="A66C6B"/>
                </a:solidFill>
              </a:rPr>
              <a:t>AI APPROVAL ASSISTANT · 场景实践分享</a:t>
            </a:r>
          </a:p>
        </p:txBody>
      </p:sp>
    </p:spTree>
    <p:extLst>
      <p:ext uri="{BB962C8B-B14F-4D97-AF65-F5344CB8AC3E}">
        <p14:creationId xmlns:p14="http://schemas.microsoft.com/office/powerpoint/2010/main" val="586086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E9A6EC-33A5-42BB-8898-2E2C4D79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FE5CA-6688-4419-83C4-741FA0DD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本次分享围绕四个核心问题展开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D8C14-A819-4678-9FB6-BBCC6911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A0009-EFD6-44D5-B415-FA134A0E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E1175-205A-454F-8A78-EF714F9F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5181600" cy="1847850"/>
          </a:xfrm>
          <a:prstGeom xmlns:a="http://schemas.openxmlformats.org/drawingml/2006/main" prst="roundRect">
            <a:avLst>
              <a:gd name="adj" fmla="val 1288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4288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77D48-2ECC-4525-9658-D3DB16D9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95475"/>
            <a:ext cx="66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74364A"/>
                </a:solidFill>
              </a:defRPr>
            </a:pPr>
            <a:r>
              <a:rPr sz="2250" b="1">
                <a:solidFill>
                  <a:srgbClr val="74364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53C36-696B-449E-955A-DC00AB89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1905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74364A"/>
                </a:solidFill>
              </a:defRPr>
            </a:pPr>
            <a:r>
              <a:rPr sz="2025" b="1">
                <a:solidFill>
                  <a:srgbClr val="74364A"/>
                </a:solidFill>
              </a:rPr>
              <a:t>应用场景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D57F1-F753-4008-A35D-5E3474A3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669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AI 与 ERP 如何结合？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34808-2685-428D-94A7-BE2E4581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670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聊天发起审批、聊天填写日报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9073C-095C-4660-A8BD-30598565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181600" cy="1847850"/>
          </a:xfrm>
          <a:prstGeom xmlns:a="http://schemas.openxmlformats.org/drawingml/2006/main" prst="roundRect">
            <a:avLst>
              <a:gd name="adj" fmla="val 1288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FF7C1-A609-4F0E-AA03-5FD7C2B7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95475"/>
            <a:ext cx="66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BF7326"/>
                </a:solidFill>
              </a:defRPr>
            </a:pPr>
            <a:r>
              <a:rPr sz="2250" b="1">
                <a:solidFill>
                  <a:srgbClr val="BF7326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D6EB2-5D73-4629-985E-C733312A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05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实施路径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29F57-791E-4463-814F-C430EB24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4669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如何把想法做成可用能力？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BF60F-3109-4E0D-9270-A28EF2F5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670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开发聊天助手，接入 ERP，并用 LangGraph 编排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AF43A-ACB8-4F32-9B39-4FF877CC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5181600" cy="1847850"/>
          </a:xfrm>
          <a:prstGeom xmlns:a="http://schemas.openxmlformats.org/drawingml/2006/main" prst="roundRect">
            <a:avLst>
              <a:gd name="adj" fmla="val 1288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F9AD4-38F5-45BC-A728-DBCF5138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66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E7551"/>
                </a:solidFill>
              </a:defRPr>
            </a:pPr>
            <a:r>
              <a:rPr sz="2250" b="1">
                <a:solidFill>
                  <a:srgbClr val="3E7551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D3BFE-48D0-48C2-9BCC-F9EBE57C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1243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E7551"/>
                </a:solidFill>
              </a:defRPr>
            </a:pPr>
            <a:r>
              <a:rPr sz="2025" b="1">
                <a:solidFill>
                  <a:srgbClr val="3E7551"/>
                </a:solidFill>
              </a:rPr>
              <a:t>预期效果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7B33B-81E1-48BD-90D8-254AED25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6863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最终希望实现什么？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03C38-8E07-4F57-AC99-C46C2D5A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0863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聊天请假、聊天发日报，形成可确认的业务闭环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7AD6C2-62D9-458C-811A-4EDC02B3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5181600" cy="1847850"/>
          </a:xfrm>
          <a:prstGeom xmlns:a="http://schemas.openxmlformats.org/drawingml/2006/main" prst="roundRect">
            <a:avLst>
              <a:gd name="adj" fmla="val 12887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4288">
            <a:solidFill>
              <a:srgbClr val="B448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C1AEAD-E8F8-4B5C-89DD-0AA0005E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666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B44842"/>
                </a:solidFill>
              </a:defRPr>
            </a:pPr>
            <a:r>
              <a:rPr sz="2250" b="1">
                <a:solidFill>
                  <a:srgbClr val="B44842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00EDF-DB7E-4222-A84C-458721B4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1243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4842"/>
                </a:solidFill>
              </a:defRPr>
            </a:pPr>
            <a:r>
              <a:rPr sz="2025" b="1">
                <a:solidFill>
                  <a:srgbClr val="B44842"/>
                </a:solidFill>
              </a:rPr>
              <a:t>遇到的问题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1AD69E-B175-4306-AB9A-14226057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6863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实际开发为什么变复杂？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80BE5E-49A1-4785-9AD2-3924E051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0863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动态组件、if-else 增长、节点复杂、排查困难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29779C-6096-4660-B931-405A0977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674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D293B"/>
                </a:solidFill>
              </a:defRPr>
            </a:pPr>
            <a:r>
              <a:rPr sz="1575" b="1">
                <a:solidFill>
                  <a:srgbClr val="5D293B"/>
                </a:solidFill>
              </a:rPr>
              <a:t>核心目标：让用户直接表达业务目标，让 AI 在 ERP 的数据、规则和权限边界内协助执行</a:t>
            </a:r>
          </a:p>
        </p:txBody>
      </p:sp>
    </p:spTree>
    <p:extLst>
      <p:ext uri="{BB962C8B-B14F-4D97-AF65-F5344CB8AC3E}">
        <p14:creationId xmlns:p14="http://schemas.microsoft.com/office/powerpoint/2010/main" val="3018111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E38EAE-6570-41BC-A78C-535C47C5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5EA54-BC97-415D-BA68-B7B3986A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首批场景聚焦两个高频动作：审批与日报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77D8F-9D7F-4860-8C37-130DF2BF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E9B17-51D6-4504-A05A-18ED789D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94B8B-69F2-4297-9FB5-9EF7F212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33525"/>
            <a:ext cx="5048250" cy="319087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0C9F1-4B76-439C-86C1-707F3307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383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74364A"/>
                </a:solidFill>
              </a:defRPr>
            </a:pPr>
            <a:r>
              <a:rPr sz="2100" b="1">
                <a:solidFill>
                  <a:srgbClr val="74364A"/>
                </a:solidFill>
              </a:rPr>
              <a:t>聊天发起审批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B92AC-BCD6-4E97-9C3B-17738110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E635E"/>
                </a:solidFill>
              </a:defRPr>
            </a:pPr>
            <a:r>
              <a:rPr sz="1500" b="0">
                <a:solidFill>
                  <a:srgbClr val="6E635E"/>
                </a:solidFill>
              </a:rPr>
              <a:t>一句话表达需求，助手根据真实审批配置逐步引导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1A2A0-9C6E-427F-BBB6-5212D828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00375"/>
            <a:ext cx="3067050" cy="590550"/>
          </a:xfrm>
          <a:prstGeom xmlns:a="http://schemas.openxmlformats.org/drawingml/2006/main" prst="roundRect">
            <a:avLst>
              <a:gd name="adj" fmla="val 3225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5D172-268A-413F-8468-6EB06273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4325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0D670-A1F0-4290-ACD5-09C2CCA8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81425"/>
            <a:ext cx="3295650" cy="590550"/>
          </a:xfrm>
          <a:prstGeom xmlns:a="http://schemas.openxmlformats.org/drawingml/2006/main" prst="roundRect">
            <a:avLst>
              <a:gd name="adj" fmla="val 32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BC27F-4C97-4841-898E-1A009724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2430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请选择请假类型，并确认开始时间。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88683-7865-4CAA-B21C-0BCDE70D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33525"/>
            <a:ext cx="5048250" cy="3190875"/>
          </a:xfrm>
          <a:prstGeom xmlns:a="http://schemas.openxmlformats.org/drawingml/2006/main" prst="roundRect">
            <a:avLst>
              <a:gd name="adj" fmla="val 7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67F3C-D706-400F-AE13-63128984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383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74364A"/>
                </a:solidFill>
              </a:defRPr>
            </a:pPr>
            <a:r>
              <a:rPr sz="2100" b="1">
                <a:solidFill>
                  <a:srgbClr val="74364A"/>
                </a:solidFill>
              </a:rPr>
              <a:t>聊天填写日报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E07DC-D1B7-4061-A4AC-54FA10B4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76475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E635E"/>
                </a:solidFill>
              </a:defRPr>
            </a:pPr>
            <a:r>
              <a:rPr sz="1500" b="0">
                <a:solidFill>
                  <a:srgbClr val="6E635E"/>
                </a:solidFill>
              </a:rPr>
              <a:t>用自然语言描述工作，助手加载 ERP 上下文并形成预览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921CD-8431-426C-A68C-4876F1B0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00375"/>
            <a:ext cx="4067175" cy="64770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0C707-7BFC-4A2D-AF76-C0D1DA12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3648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帮我写今天日报：完成客户拜访和报价整理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31BF9-F169-4147-BAE6-A4AAF523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48100"/>
            <a:ext cx="33337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4F38DC-6571-4739-8786-D41FAAD1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9097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日报草稿已生成，确认后提交。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92E652-CCA6-417B-BB6A-E1F3CDA9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435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82523"/>
                </a:solidFill>
              </a:defRPr>
            </a:pPr>
            <a:r>
              <a:rPr sz="1725" b="1">
                <a:solidFill>
                  <a:srgbClr val="282523"/>
                </a:solidFill>
              </a:rPr>
              <a:t>当前项目用四种方案验证不同业务复杂度下的 AI 编排方式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BABC5-C962-4573-BFC2-94963C47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76900"/>
            <a:ext cx="2505075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E8C86A-B5CC-488B-82EE-8ACA8EFC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72150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审批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8EB35-DA7E-4124-B22D-AECCFE35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48375"/>
            <a:ext cx="2219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显式流程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44AE7-AD29-43EB-A4E3-A3F06A3C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76900"/>
            <a:ext cx="2505075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16665-9150-4ACF-BC94-7D30C83F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772150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66C6B"/>
                </a:solidFill>
              </a:defRPr>
            </a:pPr>
            <a:r>
              <a:rPr sz="1350" b="1">
                <a:solidFill>
                  <a:srgbClr val="A66C6B"/>
                </a:solidFill>
              </a:rPr>
              <a:t>标准日报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6DD771-BE60-41CD-BA0F-560CA39F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048375"/>
            <a:ext cx="2219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稳定执行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89384C-A650-4D15-88FA-F869AF3D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76900"/>
            <a:ext cx="2505075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BC0EAF-6883-453C-A4F8-929E0421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72150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自主日报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2573FA-7230-4384-931F-C4E7976F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48375"/>
            <a:ext cx="2219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Agent 决策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1F931D-C177-479E-A705-A496DA24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76900"/>
            <a:ext cx="2505075" cy="666750"/>
          </a:xfrm>
          <a:prstGeom xmlns:a="http://schemas.openxmlformats.org/drawingml/2006/main" prst="roundRect">
            <a:avLst>
              <a:gd name="adj" fmla="val 2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D0BBBB-1353-4310-AFAE-61103785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772150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Agentic Workflow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D72DD3-FB6B-4F82-85B5-16DD5C58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6048375"/>
            <a:ext cx="22193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自主 + 闸门</a:t>
            </a:r>
          </a:p>
        </p:txBody>
      </p:sp>
    </p:spTree>
    <p:extLst>
      <p:ext uri="{BB962C8B-B14F-4D97-AF65-F5344CB8AC3E}">
        <p14:creationId xmlns:p14="http://schemas.microsoft.com/office/powerpoint/2010/main" val="15167987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0D6E6-21C6-4B1E-ACE5-480F5624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52C09-217A-4B3A-8951-E622B86C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现场演示：用两条对话证明业务闭环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930C2-2609-48F2-B8E5-11826A83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LIVE DEMO · 2–3 MIN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F519C-F522-4621-B46A-691A378E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8060D-8CDA-4BF1-BD2F-593A963E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124450" cy="38385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6EA3B-84CF-4001-A139-969634EF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74364A"/>
                </a:solidFill>
              </a:defRPr>
            </a:pPr>
            <a:r>
              <a:rPr sz="1950" b="1">
                <a:solidFill>
                  <a:srgbClr val="74364A"/>
                </a:solidFill>
              </a:rPr>
              <a:t>演示一：聊天请假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DBA20-B03E-4A8B-B6E1-409D7169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526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现场输入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E3D46-FA52-4B99-8257-CC915C5C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76525"/>
            <a:ext cx="21907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A1C73-58A1-448C-995A-78254A17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19400"/>
            <a:ext cx="1771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我要请假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051AD-4BED-4EBC-B778-0417454E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继续补充：请假类型、开始时间、结束时间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73CB1-6E45-41B9-99F2-DEA82BE8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147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展示结果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3D515-5ABB-49EF-9C73-EEE756FF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76725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E7551"/>
                </a:solidFill>
              </a:defRPr>
            </a:pPr>
            <a:r>
              <a:rPr sz="1425" b="1">
                <a:solidFill>
                  <a:srgbClr val="3E7551"/>
                </a:solidFill>
              </a:rPr>
              <a:t>动态追问 → 字段校验 → 审批预览 → 确认提交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F5222-DC6C-407A-A957-1833BE0D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关键观察：不打开 ERP 表单，也能遵守原审批规则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FADAB-8F34-42BE-BE57-B8943EAC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66850"/>
            <a:ext cx="5124450" cy="38385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A60CA-106A-4751-B65D-B492D647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52600"/>
            <a:ext cx="319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演示二：聊天发日报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E2A07-44E2-4E4B-A765-C3C56AEA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526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现场输入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41DA0-A15B-4D95-8225-4014974E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76525"/>
            <a:ext cx="4171950" cy="6096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FA30B-74BC-4E6E-B265-F4A9CAAC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19400"/>
            <a:ext cx="3752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写今天日报：完成审批助手开发和接口联调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E92B3-2834-43A0-A967-10C30F86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09975"/>
            <a:ext cx="1285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展示结果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ADCE9-62E8-4A3A-9F92-A40BAA6D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71925"/>
            <a:ext cx="4191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E7551"/>
                </a:solidFill>
              </a:defRPr>
            </a:pPr>
            <a:r>
              <a:rPr sz="1425" b="1">
                <a:solidFill>
                  <a:srgbClr val="3E7551"/>
                </a:solidFill>
              </a:rPr>
              <a:t>加载上下文 → 生成草稿 → 预览 → 确认提交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B3F78-B287-40C8-8C7B-BC07091D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9105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关键观察：日报内容可以自然表达，业务字段仍然保留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678BC2-5A27-4061-830E-BDAD29DE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676900"/>
            <a:ext cx="10658475" cy="542925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0F0879-F477-4379-A392-6CA43257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1014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演示原则：先展示输入与结果，再解释背后的 Agent、Workflow 和 ERP Tool</a:t>
            </a:r>
          </a:p>
        </p:txBody>
      </p:sp>
    </p:spTree>
    <p:extLst>
      <p:ext uri="{BB962C8B-B14F-4D97-AF65-F5344CB8AC3E}">
        <p14:creationId xmlns:p14="http://schemas.microsoft.com/office/powerpoint/2010/main" val="20137148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C6DA2A-D122-4A85-8451-3889F6BA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F08BA-7AF2-45DD-BE42-1792490C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行业现状：AI 使用率很高，规模化价值仍有明显断层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56211-B747-430F-8D78-346874E8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GLOBAL AI ADOPTION · 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B57E9-4501-42F3-97BD-7F3C4334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2D44C-5B35-4EFE-9B03-D437F555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74364A"/>
                </a:solidFill>
              </a:defRPr>
            </a:pPr>
            <a:r>
              <a:rPr sz="4350" b="1">
                <a:solidFill>
                  <a:srgbClr val="74364A"/>
                </a:solidFill>
              </a:rPr>
              <a:t>88%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2E37A-7AE2-4064-9466-A12F124A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321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至少一个业务职能常态化使用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D8FB0-F544-4A8C-A853-952A6309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2024 年为 78%，一年提升 10 个百分点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393DC-41E0-4E2D-B86D-87AF2C20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857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B3D59-31F5-434A-BF28-338D3CBD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276725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AE839-67F8-4B14-9765-0F9D1C77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242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88% 已使用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4DCE2-C587-4432-A3B6-1480BF1E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2523"/>
                </a:solidFill>
              </a:defRPr>
            </a:pPr>
            <a:r>
              <a:rPr sz="1875" b="1">
                <a:solidFill>
                  <a:srgbClr val="282523"/>
                </a:solidFill>
              </a:rPr>
              <a:t>但规模化仍是少数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C74BF-5688-4619-878B-38A1AEC3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4857750" cy="447675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25576-0455-4DA5-AC2A-6043295B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1619250" cy="447675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442B5-6BBE-4EE0-B724-868B0FE0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5297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约 1/3 已规模化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E7AFF-31BD-4C04-A68D-B68CC711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762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近 2/3 尚未开始企业级扩展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CE5CF-583D-4A97-9D3D-D68AFA51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90675"/>
            <a:ext cx="2428875" cy="1809750"/>
          </a:xfrm>
          <a:prstGeom xmlns:a="http://schemas.openxmlformats.org/drawingml/2006/main" prst="roundRect">
            <a:avLst>
              <a:gd name="adj" fmla="val 1210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DF474-605E-4699-A077-CFABC2B9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0225"/>
            <a:ext cx="2009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BF7326"/>
                </a:solidFill>
              </a:defRPr>
            </a:pPr>
            <a:r>
              <a:rPr sz="3225" b="1">
                <a:solidFill>
                  <a:srgbClr val="BF7326"/>
                </a:solidFill>
              </a:rPr>
              <a:t>62%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FFDD2-2B70-4B67-A261-EB58C63B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试验或使用 AI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B60AC-3595-4984-AD55-721A6F99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23% 已扩展 · 39% 试验中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595E8-5644-4976-94FA-CCF9052F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590675"/>
            <a:ext cx="2428875" cy="1809750"/>
          </a:xfrm>
          <a:prstGeom xmlns:a="http://schemas.openxmlformats.org/drawingml/2006/main" prst="roundRect">
            <a:avLst>
              <a:gd name="adj" fmla="val 12105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1DDB6-1D1A-4503-B46C-6E1B5525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800225"/>
            <a:ext cx="2009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3E7551"/>
                </a:solidFill>
              </a:defRPr>
            </a:pPr>
            <a:r>
              <a:rPr sz="3225" b="1">
                <a:solidFill>
                  <a:srgbClr val="3E7551"/>
                </a:solidFill>
              </a:rPr>
              <a:t>39%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E34E62-F887-4888-8F4B-024D70AE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57450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报告企业级 EBIT 影响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CB8BC9-3966-4A9D-9B8B-26999413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527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价值影响仍未成为多数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D29D8F-C5DD-43DD-BAD8-8883FB5F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24275"/>
            <a:ext cx="2428875" cy="1809750"/>
          </a:xfrm>
          <a:prstGeom xmlns:a="http://schemas.openxmlformats.org/drawingml/2006/main" prst="roundRect">
            <a:avLst>
              <a:gd name="adj" fmla="val 12105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3335">
            <a:solidFill>
              <a:srgbClr val="B448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026EA1-1D48-49A4-95DE-04B4024E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33825"/>
            <a:ext cx="2009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B44842"/>
                </a:solidFill>
              </a:defRPr>
            </a:pPr>
            <a:r>
              <a:rPr sz="3225" b="1">
                <a:solidFill>
                  <a:srgbClr val="B44842"/>
                </a:solidFill>
              </a:rPr>
              <a:t>51%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B53595-AF5F-4C74-9AC1-FFA923C3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91050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遇到至少一种负面后果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0ECF2C-8D3C-490B-A407-28C83794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86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近三分之一提到 AI 不准确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C2CB7-BE98-4D1D-9EB2-5977333E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24275"/>
            <a:ext cx="2428875" cy="1809750"/>
          </a:xfrm>
          <a:prstGeom xmlns:a="http://schemas.openxmlformats.org/drawingml/2006/main" prst="roundRect">
            <a:avLst>
              <a:gd name="adj" fmla="val 1210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DE7CC9-F0BE-4F51-9C5A-AAC5E19A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933825"/>
            <a:ext cx="20097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74364A"/>
                </a:solidFill>
              </a:defRPr>
            </a:pPr>
            <a:r>
              <a:rPr sz="3225" b="1">
                <a:solidFill>
                  <a:srgbClr val="74364A"/>
                </a:solidFill>
              </a:rPr>
              <a:t>6%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4731CF-D7FA-48C5-8B6E-F3633D0C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591050"/>
            <a:ext cx="2009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被归为 AI 高绩效组织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99DD05-FBA0-416B-B577-45C64A0C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863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更重视流程重构与规模化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261E38-8F5E-4A3A-B42D-9D763E1F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10668000" cy="485775"/>
          </a:xfrm>
          <a:prstGeom xmlns:a="http://schemas.openxmlformats.org/drawingml/2006/main" prst="roundRect">
            <a:avLst>
              <a:gd name="adj" fmla="val 27451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BC39AE-7D91-468D-81B0-E46317E7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15025"/>
            <a:ext cx="10172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结论：真正的竞争点不是“接入模型”，而是把 AI 嵌入业务流程并形成可控执行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D1DCBB-8B1B-4E6E-A70D-0707162E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34125"/>
            <a:ext cx="1038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635E"/>
                </a:solidFill>
              </a:defRPr>
            </a:pPr>
            <a:r>
              <a:rPr sz="900" b="0">
                <a:solidFill>
                  <a:srgbClr val="6E635E"/>
                </a:solidFill>
              </a:rPr>
              <a:t>数据来源：McKinsey《The state of AI in 2025》（2025，n=1,993，覆盖 105 个国家）</a:t>
            </a:r>
          </a:p>
        </p:txBody>
      </p:sp>
    </p:spTree>
    <p:extLst>
      <p:ext uri="{BB962C8B-B14F-4D97-AF65-F5344CB8AC3E}">
        <p14:creationId xmlns:p14="http://schemas.microsoft.com/office/powerpoint/2010/main" val="7837056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8F5EF9-B35C-4417-BEF8-9C6B4D59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40C47-1423-4A37-95F6-4A697300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价值现状：企业持续投入，但 AI 回报尚未普遍兑现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EEF61-7785-461E-B2A3-6C0F567B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PWC GLOBAL CEO SURVEY ·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DC6C7-EC65-469C-9248-7F4D41F7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3A3EF-738C-4CE7-AB08-90C678BD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438275"/>
            <a:ext cx="609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2523"/>
                </a:solidFill>
              </a:defRPr>
            </a:pPr>
            <a:r>
              <a:rPr sz="1875" b="1">
                <a:solidFill>
                  <a:srgbClr val="282523"/>
                </a:solidFill>
              </a:rPr>
              <a:t>4,454 位 CEO · 95 个国家和地区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EBCD4-1FE0-4C37-B65C-78E00389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19275"/>
            <a:ext cx="495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调研时间：2025 年 9 月 30 日—11 月 10 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F9E63-E15E-48DA-A5BA-08C12C8C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4574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F5240-040E-40C7-BF82-6A9035E0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3E7551"/>
                </a:solidFill>
              </a:defRPr>
            </a:pPr>
            <a:r>
              <a:rPr sz="3225" b="1">
                <a:solidFill>
                  <a:srgbClr val="3E7551"/>
                </a:solidFill>
              </a:rPr>
              <a:t>30%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B35FB-E903-4E24-A12A-BE634346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337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AI 带来收入增长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2C24C-B25C-4E81-AFEE-57ED5F44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05050"/>
            <a:ext cx="24574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A50C4-8DBA-4787-8036-2BC9A842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4765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BF7326"/>
                </a:solidFill>
              </a:defRPr>
            </a:pPr>
            <a:r>
              <a:rPr sz="3225" b="1">
                <a:solidFill>
                  <a:srgbClr val="BF7326"/>
                </a:solidFill>
              </a:rPr>
              <a:t>26%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FC350-2B74-458D-82BC-682BAEA5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1337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AI 带来成本下降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072EB-7224-4670-9BE6-B73E09A7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24574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3335">
            <a:solidFill>
              <a:srgbClr val="B448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6C790-6F2A-43EB-A8D4-5C4E3CC3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B44842"/>
                </a:solidFill>
              </a:defRPr>
            </a:pPr>
            <a:r>
              <a:rPr sz="3225" b="1">
                <a:solidFill>
                  <a:srgbClr val="B44842"/>
                </a:solidFill>
              </a:rPr>
              <a:t>56%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0BFCE-DDFB-4DDD-8D27-673D53F1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337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既未增收也未降本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9EF2F-E78B-4EF9-A2D4-CE0F85F9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05050"/>
            <a:ext cx="2457450" cy="1381125"/>
          </a:xfrm>
          <a:prstGeom xmlns:a="http://schemas.openxmlformats.org/drawingml/2006/main" prst="roundRect">
            <a:avLst>
              <a:gd name="adj" fmla="val 15172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6940A-00DB-4855-AB2F-4C608729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76500"/>
            <a:ext cx="21145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74364A"/>
                </a:solidFill>
              </a:defRPr>
            </a:pPr>
            <a:r>
              <a:rPr sz="3225" b="1">
                <a:solidFill>
                  <a:srgbClr val="74364A"/>
                </a:solidFill>
              </a:rPr>
              <a:t>12%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71C8F-DF54-4332-A71E-F132CB18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133725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同时实现增收与降本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4BFBA-B7D1-4F4D-8461-B36E48EC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AI 在业务领域“大范围应用”的比例仍然不高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3F372-B2D4-4282-B142-C8ADF055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获客 / 需求生成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1BC85A-A8F3-4E36-82D6-799CA365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053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054CDA-3AD0-4EC6-B9D3-7ED8BE9C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05325"/>
            <a:ext cx="58674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E6C06-7695-4373-B74B-17683DB4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672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22%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B6BFA1-7909-471E-9C85-A16423D9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支持服务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7FB527-FB15-4493-A1F9-22F46FA4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720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01045-29FF-47FA-88FF-7A40BA88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72025"/>
            <a:ext cx="53340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9F81FE-A8EB-4F6E-88F0-713919DC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339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8D5DE8-CDC3-4BDE-A959-D745A37F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产品、服务与体验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2FCDDB-17DC-4FFE-976F-A3783EB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387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54677F-6B80-4453-B073-65758062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38725"/>
            <a:ext cx="50673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8C1BE4-F76B-416C-A2B2-E929AFD4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006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19%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E4A8FF-C3E1-4732-AD11-1B5F0128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战略决策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034C56-5887-477D-B6D2-F48B4773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054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CD1AAF-587F-4276-9478-7F58B16D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05425"/>
            <a:ext cx="4000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DC79D3-E3D1-4E7F-A5F8-5E0E8091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2673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15%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5C57D3-A3FD-407C-A2A1-D538A3CD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需求履约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E0B7E7-D52E-4D88-AD11-409F774A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72125"/>
            <a:ext cx="66675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F70C9E-C247-4BF9-8970-B803979F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72125"/>
            <a:ext cx="3467100" cy="1714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636D8D-4DB5-4ECB-B0D6-C1A95FF1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5340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13%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8CB8ED-A21F-4E9A-AF22-6F23971B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D293B"/>
                </a:solidFill>
              </a:defRPr>
            </a:pPr>
            <a:r>
              <a:rPr sz="1350" b="1">
                <a:solidFill>
                  <a:srgbClr val="5D293B"/>
                </a:solidFill>
              </a:rPr>
              <a:t>孤立功能难以产生可衡量价值：需要业务流程、数据基础、风险机制和组织采用共同推进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5AEAF0-B60F-4891-9EAA-8A3D43EF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0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E635E"/>
                </a:solidFill>
              </a:defRPr>
            </a:pPr>
            <a:r>
              <a:rPr sz="825" b="0">
                <a:solidFill>
                  <a:srgbClr val="6E635E"/>
                </a:solidFill>
              </a:rPr>
              <a:t>数据来源：PwC《29th Global CEO Survey: Leading through uncertainty in the age of AI》（2026，n=4,454，覆盖 95 个国家和地区）</a:t>
            </a:r>
          </a:p>
        </p:txBody>
      </p:sp>
    </p:spTree>
    <p:extLst>
      <p:ext uri="{BB962C8B-B14F-4D97-AF65-F5344CB8AC3E}">
        <p14:creationId xmlns:p14="http://schemas.microsoft.com/office/powerpoint/2010/main" val="2046007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A341EA-9AE6-42C9-AEE4-0656F7C9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8618A-989B-4AF7-9699-96064B74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实施路径：从业务试点到可复用聊天助手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5DBB4-F195-499D-849F-822EDCC6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DF047-A0C9-47AB-9ECF-322E96D0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28BCC-8B41-48B3-8845-7F678791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1AE9E-60A9-4D79-A1DE-54E1F89B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478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74364A"/>
                </a:solidFill>
              </a:defRPr>
            </a:pPr>
            <a:r>
              <a:rPr sz="2025" b="1">
                <a:solidFill>
                  <a:srgbClr val="74364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971BA-620E-4D42-B6F8-8030E6E5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478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选择试点场景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0B82B-8857-4117-BE4F-6FB11E2B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先做审批与日报，验证查询、补充信息和写入闭环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3B553-A863-4786-83C4-2E689EE0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383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21AFE-BCEF-40BB-8A1A-59BC2274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478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F4FF4-3B95-405A-9F7B-91C62425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478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F7326"/>
                </a:solidFill>
              </a:defRPr>
            </a:pPr>
            <a:r>
              <a:rPr sz="1725" b="1">
                <a:solidFill>
                  <a:srgbClr val="BF7326"/>
                </a:solidFill>
              </a:rPr>
              <a:t>接入 ERP 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69790-D7B7-4390-BD65-33E9ABE1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193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打通用户权限、审批模板、动态字段、日报配置与草稿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DADFC-BA29-4FE1-AA23-923941B5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383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E9854-F2D6-4C8D-A5A0-57C51281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478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E7551"/>
                </a:solidFill>
              </a:defRPr>
            </a:pPr>
            <a:r>
              <a:rPr sz="2025" b="1">
                <a:solidFill>
                  <a:srgbClr val="3E7551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D79C5-60D8-46C9-99EA-20B1E4AE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478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E7551"/>
                </a:solidFill>
              </a:defRPr>
            </a:pPr>
            <a:r>
              <a:rPr sz="1725" b="1">
                <a:solidFill>
                  <a:srgbClr val="3E7551"/>
                </a:solidFill>
              </a:rPr>
              <a:t>封装业务能力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29C15-2DF4-4EB1-8C2F-FAE0134D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将查询、校验、保存、预览和提交封装为统一 Tool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17798-BCEF-4CFC-ACC7-17A77D77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0386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070E5-88EA-4747-AAFD-98782C2C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2481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74364A"/>
                </a:solidFill>
              </a:defRPr>
            </a:pPr>
            <a:r>
              <a:rPr sz="2025" b="1">
                <a:solidFill>
                  <a:srgbClr val="74364A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D52843-26C9-4795-BA6A-CDD28CDB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481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使用 LangGraph 编排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9F3A0-35BD-42EE-B4EB-C2753D70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8196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管理多轮状态、流程节点、人工确认、暂停与恢复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E57C7-8465-4810-A2BD-C5DB4DCE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38600"/>
            <a:ext cx="3295650" cy="174307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0F61F-FAE4-4256-B6EB-BD2FF3F2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248150"/>
            <a:ext cx="590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F154E6-4ACB-4A6F-A58B-A511E32F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2481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F7326"/>
                </a:solidFill>
              </a:defRPr>
            </a:pPr>
            <a:r>
              <a:rPr sz="1725" b="1">
                <a:solidFill>
                  <a:srgbClr val="BF7326"/>
                </a:solidFill>
              </a:rPr>
              <a:t>观测与迭代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8326B5-09C4-4CAC-9FC5-4ECC761F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19650"/>
            <a:ext cx="2762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通过 LangSmith 定位模型、路由、状态与 ERP 接口问题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97F7B4-EB17-4C73-A5D1-E5CDD47E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15050"/>
            <a:ext cx="1055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D293B"/>
                </a:solidFill>
              </a:defRPr>
            </a:pPr>
            <a:r>
              <a:rPr sz="1500" b="1">
                <a:solidFill>
                  <a:srgbClr val="5D293B"/>
                </a:solidFill>
              </a:rPr>
              <a:t>实施原则：AI 负责理解与组织，LangGraph 负责状态与流程，ERP 负责真实规则与最终执行</a:t>
            </a:r>
          </a:p>
        </p:txBody>
      </p:sp>
    </p:spTree>
    <p:extLst>
      <p:ext uri="{BB962C8B-B14F-4D97-AF65-F5344CB8AC3E}">
        <p14:creationId xmlns:p14="http://schemas.microsoft.com/office/powerpoint/2010/main" val="107746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E581B-A4C8-4D9E-A747-5D8C3227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756A6-8060-48D0-98F9-DDD61812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三层关系：基础组件、运行时与 Agent 套件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911B9-1113-4712-B164-ACB4D8E9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98806-D58A-43B8-A2E6-19055B71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4BE2E-18DB-4B28-B8A0-EE16FC79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954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2523"/>
                </a:solidFill>
              </a:defRPr>
            </a:pPr>
            <a:r>
              <a:rPr sz="1875" b="1">
                <a:solidFill>
                  <a:srgbClr val="282523"/>
                </a:solidFill>
              </a:rPr>
              <a:t>不是三套互相替代的框架，而是不同层级的能力组合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983BD-A406-4176-BE92-19D2332B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85975"/>
            <a:ext cx="80010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66AF1-73E1-48BB-B56B-C4E2C543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4315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Deep Agents  ·  应用层 / Agent Harness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5A810-B340-4F23-85A9-CCFBEDC1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9557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2E5E8"/>
                </a:solidFill>
              </a:defRPr>
            </a:pPr>
            <a:r>
              <a:rPr sz="1200" b="0">
                <a:solidFill>
                  <a:srgbClr val="F2E5E8"/>
                </a:solidFill>
              </a:rPr>
              <a:t>提供任务规划、子智能体、文件与长任务等高级能力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40D90-541E-47EB-8F21-568BF56E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09900"/>
            <a:ext cx="4572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A5735-E433-4501-BC8B-D9AB38C4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66C6B"/>
                </a:solidFill>
              </a:defRPr>
            </a:pPr>
            <a:r>
              <a:rPr sz="1200" b="0">
                <a:solidFill>
                  <a:srgbClr val="A66C6B"/>
                </a:solidFill>
              </a:rPr>
              <a:t>构建在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21717-DA88-4BD8-8353-3993EE9C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05225"/>
            <a:ext cx="80010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94793-7463-4466-A8E8-38F13834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6240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LangGraph  ·  运行时 / Agent 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78A5C-8016-4974-BDA8-1023F79F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1482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8EDEE"/>
                </a:solidFill>
              </a:defRPr>
            </a:pPr>
            <a:r>
              <a:rPr sz="1200" b="0">
                <a:solidFill>
                  <a:srgbClr val="F8EDEE"/>
                </a:solidFill>
              </a:rPr>
              <a:t>负责状态管理、持久化执行、循环分支与人工中断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D1EF0-A323-42CB-BB9A-D1CF92CE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29150"/>
            <a:ext cx="4572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27BAB-4E69-4676-88AD-92AC55F2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72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66C6B"/>
                </a:solidFill>
              </a:defRPr>
            </a:pPr>
            <a:r>
              <a:rPr sz="1200" b="0">
                <a:solidFill>
                  <a:srgbClr val="A66C6B"/>
                </a:solidFill>
              </a:rPr>
              <a:t>构建在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35752-65FC-4688-B27D-BEF298FD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24475"/>
            <a:ext cx="8001000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0">
            <a:solidFill>
              <a:srgbClr val="E9DC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20688-F29D-4B70-8542-EA7C1303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81650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5D293B"/>
                </a:solidFill>
              </a:defRPr>
            </a:pPr>
            <a:r>
              <a:rPr sz="1875" b="1">
                <a:solidFill>
                  <a:srgbClr val="5D293B"/>
                </a:solidFill>
              </a:rPr>
              <a:t>LangChain  ·  基础层 / Agent Framework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163AD-E040-434A-A7E0-674434B6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934075"/>
            <a:ext cx="676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提供模型适配、Prompt、Tool、消息与链式调用等基础构件</a:t>
            </a:r>
          </a:p>
        </p:txBody>
      </p:sp>
    </p:spTree>
    <p:extLst>
      <p:ext uri="{BB962C8B-B14F-4D97-AF65-F5344CB8AC3E}">
        <p14:creationId xmlns:p14="http://schemas.microsoft.com/office/powerpoint/2010/main" val="10577706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8C3FDB-3E14-4AF8-9BDD-FD174154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121AC-8E94-4773-BFB6-6E3D9FE0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核心对比：ERP 场景更看重可控执行与状态管理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686F2-4BAB-42CA-9670-15179E03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00EA4-E912-48F6-9F4B-2DC0CC49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551C5-BFA6-4AFF-8FDA-6D4C1918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0BA1D-7312-47D7-A850-20DCE2AB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5BA1A-6BA4-489D-95A3-8DD5555E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5811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7507E-C280-4B27-84A1-6A91F4E9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33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LangChain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78576-2508-4BBF-8B61-2A4B2451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811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352CB-515D-49CF-94DA-C9897E6F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33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LangGraph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185611-8E29-477D-8E2E-646D28A9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8115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AF201-488C-4311-BF46-F80673FE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33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Deep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DB004-AD5B-470A-8A35-8EFAE3D6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CDA76-F9F0-48B0-96AF-BEAA0536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431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043E3-DB2D-47F1-8B53-547A67A5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526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775D4-1133-4C8B-8459-0C7E26DA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3431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基础开发框架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2B15D-93EE-4131-A22E-80443756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526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1D0BB0-3412-4C6C-B017-3275EE39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3431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状态图运行时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82109-4D18-4B5B-9DD7-DDE64898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526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1CB788-47D0-4294-A511-14224D8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3431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高级 Agent 套件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39059-E38A-4C72-9E2E-67856923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9560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D8BD7C-DA44-45EC-B3E5-0A781CCB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0861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控制流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2A29DA-C83E-4CCE-AFAE-A8016920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8956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EB4594-7950-47A5-B18F-E5A70B8C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086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链式调用为主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C71B12-1405-4DEB-B405-20B77248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956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B3028D-CB56-4DB2-BDEB-0D3AAF3B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086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显式状态图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8E5AE4-CE41-4844-9CEC-338C6C94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956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FD9FE7-C48A-4CB8-810B-456C90BD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861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自主规划 + 工具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B056D1-568A-4FE9-ABC4-A27AC550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385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7B601B-3531-48F5-B2C6-5D4F4BD2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290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持久化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B2887F-F4D8-4F6A-B950-E0554EA8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385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E94FC-145D-40CB-AE88-3AB9A921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需自行组合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62F5C5-DCB4-46E5-B659-8C8FA8E1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6385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CC3AE6-B2FE-4E21-9EC6-CACD43C8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原生支持检查点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6E5565-42DA-4EA8-9B92-F63944D1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EC4387-4E77-42A1-89C9-AD8D57A5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8290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构建在 LangGraph 上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B74AE4-20B2-46A2-BB32-A1047DA0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4C0CD0-8512-4AE8-85BF-DD047A43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7200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人工干预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233778-D022-4D8E-BEEB-11029B28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3815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A92734-5A91-40AD-8D61-66AE9F2C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5720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需自行实现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0B8DBC-4056-408E-AA4D-0129B104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815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04571A-AA23-4488-9A36-563D82E5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5720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interrupt / resume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941BF5-6138-40B4-8AE8-B9A59CBB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8150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0FA5C9-9B06-43D5-A865-6E0FAE13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5720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支持危险工具中断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C63273-E9C0-4A27-926A-D8C57193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067373-8D84-4615-8D03-5D28F3CA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149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适合任务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85BF3D-7BEB-4A93-8AAD-4435D945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244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3F090C-9671-4BAA-8E53-2ADFC2AF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3149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简单问答、原型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55409C-1588-41C8-BC7D-961286E3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1244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DD0669-B2C5-4C9E-B5FB-B022F924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3149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审批、业务流程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92C8EB-047C-4F1A-8A61-4AD31747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244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2AC3B52-3FC8-4C9D-B0F7-B986C00A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3149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长任务、复杂研究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324A76-E8E9-4E26-9DD1-40B4674C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10629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0">
            <a:solidFill>
              <a:srgbClr val="E9DCC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234D98-C466-49F2-BF98-84E9057A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115050"/>
            <a:ext cx="10115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D293B"/>
                </a:solidFill>
              </a:defRPr>
            </a:pPr>
            <a:r>
              <a:rPr sz="1350" b="1">
                <a:solidFill>
                  <a:srgbClr val="5D293B"/>
                </a:solidFill>
              </a:rPr>
              <a:t>对 ERP 审批和日报而言，状态可追踪、流程可暂停、写操作可拦截，比“代码更少”更重要</a:t>
            </a:r>
          </a:p>
        </p:txBody>
      </p:sp>
    </p:spTree>
    <p:extLst>
      <p:ext uri="{BB962C8B-B14F-4D97-AF65-F5344CB8AC3E}">
        <p14:creationId xmlns:p14="http://schemas.microsoft.com/office/powerpoint/2010/main" val="7453617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F5D6AA-A37D-479E-A5AE-739E6BCB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C2B69-3CE8-4204-9DC6-DE7B312C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最终选型：ERP 主流程采用 LangGraph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C8D53-8DDD-4F45-A523-1A671A7E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5F62B-D3C6-427A-93F8-7D379AD7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77A2D-1AD1-478F-8FD3-C8F745CD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14475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74364A"/>
                </a:solidFill>
              </a:defRPr>
            </a:pPr>
            <a:r>
              <a:rPr sz="1950" b="1">
                <a:solidFill>
                  <a:srgbClr val="74364A"/>
                </a:solidFill>
              </a:rPr>
              <a:t>为什么选择 LangGraph 作为主框架？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9E1EA-74DE-4DA4-A75F-04C9E5CD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8AB3C-7E03-478A-9BEC-F93A75AE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AE077-A42D-4BC9-886B-E4BFD9A1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5265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流程清晰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60DBD-5BED-439A-9F86-9FA71D43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审批、日报都需要明确的业务阶段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1A800-F3A1-4A46-BA45-10C83480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9049B-CD8A-4EA0-97BC-2F64E799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99B1B-B976-46AA-959E-DC2BA67E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状态可控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3AB58-3C14-48B2-850B-035D80EB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67025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支持多轮对话、暂停、恢复和人工确认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351A9-2503-4A62-A89C-9B97BB0C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08A54B-3C70-4D63-A69E-8E104C98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20F99-9EE9-474B-88F5-987AE29C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8140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便于排查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39A0E-B880-4C9C-9B70-DA00D095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8140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可以观察节点路径、状态变化和失败位置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80816-62E2-4203-9248-9366A3AA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57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DFA75C-CDE2-490F-BF3D-295C62CF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148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2BAC9-B0C0-4DF3-96D2-BEDB9ED1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9577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适配 ERP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EB760-2A21-4732-9281-29BDC3CA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95775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更容易承载动态字段、校验和提交闸门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5EC90-88AB-493F-943F-4D04712A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857375"/>
            <a:ext cx="4124325" cy="3324225"/>
          </a:xfrm>
          <a:prstGeom xmlns:a="http://schemas.openxmlformats.org/drawingml/2006/main" prst="roundRect">
            <a:avLst>
              <a:gd name="adj" fmla="val 7736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5240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22F54C-DC3C-445A-B218-3A3D8EBC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526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最终分工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8985C7-8B49-4833-8F47-566D9CF7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6225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LangChain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FC4689-6B6E-4651-9F97-8FDD9C37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622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基础组件：模型、Prompt、Tool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5F5760-FA42-4B3D-A0AF-EA32B210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00425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LangGraph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C59F6D-3E11-4D21-AC39-822BF016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00425"/>
            <a:ext cx="2047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E7551"/>
                </a:solidFill>
              </a:defRPr>
            </a:pPr>
            <a:r>
              <a:rPr sz="1275" b="1">
                <a:solidFill>
                  <a:srgbClr val="3E7551"/>
                </a:solidFill>
              </a:rPr>
              <a:t>主框架：ERP 流程、状态、人工确认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7BADDE-0618-421E-8071-3AAD26FE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14800"/>
            <a:ext cx="1381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Deep Agents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5CCDFE-96A5-407A-AEEC-CFAA514F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14800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探索方向：自主规划、复杂任务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2047A1-B84E-4D0F-B6E8-A5F7BECD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43575"/>
            <a:ext cx="10658475" cy="5143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3748D7-4936-4803-9428-F6E18A22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76925"/>
            <a:ext cx="1004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结论：不是放弃 Agent，而是先用 LangGraph 把 ERP 业务底座做稳</a:t>
            </a:r>
          </a:p>
        </p:txBody>
      </p:sp>
    </p:spTree>
    <p:extLst>
      <p:ext uri="{BB962C8B-B14F-4D97-AF65-F5344CB8AC3E}">
        <p14:creationId xmlns:p14="http://schemas.microsoft.com/office/powerpoint/2010/main" val="18069386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B46907-C79F-46F1-8728-1970CE3F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CFDF9-9AF4-453D-BB22-9E571AC9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聊天发起审批：用户只描述需求，助手完成流程引导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7069E1-5693-46A7-8339-B4D8178A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81527-0AEB-437D-AA3F-87F4B39A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BC407-139A-45CB-9165-EE207A9E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用户体验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F7A7A-8B30-499B-9A92-41C4BD28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3619500" cy="6096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B4BD0C-097F-4C61-805B-D98180B0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0275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66B9A-583E-4D58-AEDA-9C02A8C3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95600"/>
            <a:ext cx="289560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2ED82-401F-4C30-85A0-6FFBD562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384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请选择请假类型。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5090A-7E31-4141-86C1-8A039904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17716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507D2-7F06-465A-9CCB-3A9DFA99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385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调休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DDF8A-A231-4A13-8B7C-CACC5C14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57700"/>
            <a:ext cx="333375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94FA5-611D-472B-A5B1-9B66393B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60057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审批预览已生成，确认后提交。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A9314-FA19-48C6-9B15-5CAB7E68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4859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助手完成的四件事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42A15-5E0F-4DE1-BEAD-91223513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56EBE-B79B-4F46-97CA-2B55E34A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52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D72C7-43C0-4C20-A12F-D50A91C2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85975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识别审批模板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C075D8-3398-4B96-93A4-8DF58C73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9077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结合用户身份和当前公司配置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E5D85-E3AF-4703-A21A-98BA1083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C02642-21D9-4DDC-8C24-694927C9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BF0892-5FAA-466C-9DA4-2A0AB40B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43225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动态补充信息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E756F6-06AF-435B-9B63-A07868EA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4802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按实际表单追问日期、时长、原因等字段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406C4-D9F2-44D1-BD08-8C49B0F4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72FDD6-F266-487B-8973-C967134D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60606-47E6-46AF-A62E-6C2E79BB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00475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应用 ERP 流程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4BA83D-890D-43FD-9F5C-5C6F647B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0527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校验字段，并获取真实审批节点与办理人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DB941-72CC-486D-8AA5-C5B4C162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60CD32-BEDC-4408-A2FD-F47E68BF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24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6AA799-D92C-4692-A4B3-CA6DB234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57725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预览后提交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53519A-986F-48EE-AB60-2EF6A9D8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62525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用户明确确认，才执行最终写入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16F01F-C249-4B06-A238-E930EC2F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0620375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0">
            <a:solidFill>
              <a:srgbClr val="E9DCC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754E31-2A69-47EE-8625-18EAA960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867400"/>
            <a:ext cx="10029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D293B"/>
                </a:solidFill>
              </a:defRPr>
            </a:pPr>
            <a:r>
              <a:rPr sz="1650" b="1">
                <a:solidFill>
                  <a:srgbClr val="5D293B"/>
                </a:solidFill>
              </a:rPr>
              <a:t>核心价值：用户不必先理解 ERP 表单，系统仍然遵守原有审批规则</a:t>
            </a:r>
          </a:p>
        </p:txBody>
      </p:sp>
    </p:spTree>
    <p:extLst>
      <p:ext uri="{BB962C8B-B14F-4D97-AF65-F5344CB8AC3E}">
        <p14:creationId xmlns:p14="http://schemas.microsoft.com/office/powerpoint/2010/main" val="14673546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D1AFC0-BB73-46AB-BDE3-764CA810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B30DF-2D2E-4E0D-A376-E3ED6DEF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审批最难的不是聊天，而是适配动态配置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D4DD1-0DD7-45B2-A139-7694B2DF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53CD9-F589-4AEC-AEC9-F333B8C6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9BE4A-A37F-4D8C-9DF3-DD56F927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666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82523"/>
                </a:solidFill>
              </a:defRPr>
            </a:pPr>
            <a:r>
              <a:rPr sz="1950" b="1">
                <a:solidFill>
                  <a:srgbClr val="282523"/>
                </a:solidFill>
              </a:rPr>
              <a:t>同一个“请假”，不同公司可能完全不同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C504F-D8A8-40E7-A35B-FC5771EA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4286250" cy="26670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DDE57-67AD-4765-926C-5E6763B0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336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公司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4E9A8-6774-4390-A644-D1BBA95B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E6736-8E3C-49BA-A4AD-6748A280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857500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请假类型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9DCDB-6D86-4146-865E-77B7520D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D6967-B92D-40EA-8735-1D78BA37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286125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开始 / 结束时间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C14FB-816B-4641-A909-FACA72CF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1FE9F-5A21-4932-AB84-0CCD10A5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714750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请假事由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8E494-5061-4016-91CE-86ADB0FA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1EBD8-12AF-4390-8A85-2B95F767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43375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审批人自动匹配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4DE71-D39D-4CCC-92DD-34168782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85975"/>
            <a:ext cx="4286250" cy="26670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33F6A-7326-4AD2-BF8E-43570BE0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336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公司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D6972-E9FF-40C4-B6B6-40BA7F5A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33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F496E-69AF-4715-88D7-8F0BE8ED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假期余额规则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19630-74F1-46E2-AD8A-49F1465B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62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E2DC9E-71E6-46CA-B2F6-E3676B9A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86125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日期时间 + 时长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FBCCA5-12A4-4265-888F-DDA7A28B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E3B9C-42BA-43BB-8A16-A13535D9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交接人员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32884A-6468-4151-9BC6-8710C358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19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5ED49-A52E-43A2-8A08-EE6E321A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43375"/>
            <a:ext cx="33051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发起人选择审批人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4E8FD-38E6-4657-9B9C-F76239F7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13335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85FA8F-B85C-4F8D-8D32-79DAAB1C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385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66C6B"/>
                </a:solidFill>
              </a:defRPr>
            </a:pPr>
            <a:r>
              <a:rPr sz="1350" b="1">
                <a:solidFill>
                  <a:srgbClr val="A66C6B"/>
                </a:solidFill>
              </a:rPr>
              <a:t>不能写死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1EB05B-190C-4140-94EA-AFDB3DE2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32575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6C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1517DB-8327-4CB7-8680-48AFA975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410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ERP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4784B8-B752-42F8-BC14-5B9D90FA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40067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定义模板、字段和审批流程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44D16C-3C1D-4AED-A566-03B8CB54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238750"/>
            <a:ext cx="32575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1430">
            <a:solidFill>
              <a:srgbClr val="A66C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CA1A96-19A4-4847-98A2-AEF87B85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10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AI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72E9CE-EB24-492B-AAF1-D381E744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0067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理解用户表达并提取信息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94EE8E-7F84-43B0-B0B4-3828F80C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38750"/>
            <a:ext cx="325755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6C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6EC695-1DE2-40A5-B5F3-DBF38E51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410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聊天助手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53A386-D9A8-4D4A-A63D-17170528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5400675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动态追问、校验、预览</a:t>
            </a:r>
          </a:p>
        </p:txBody>
      </p:sp>
    </p:spTree>
    <p:extLst>
      <p:ext uri="{BB962C8B-B14F-4D97-AF65-F5344CB8AC3E}">
        <p14:creationId xmlns:p14="http://schemas.microsoft.com/office/powerpoint/2010/main" val="815353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7C5937-80E9-4DDF-962C-0D7D5342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D552E-63BF-4D71-802C-5D4A3B86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标准日报助手：固定流程优先保证稳定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73DDA-C579-4A94-A163-AE6A4658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2D18E-DEDF-45BE-B745-F58C397C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57316-A4EA-4911-9EB9-16A22A74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4048125" cy="3905250"/>
          </a:xfrm>
          <a:prstGeom xmlns:a="http://schemas.openxmlformats.org/drawingml/2006/main" prst="roundRect">
            <a:avLst>
              <a:gd name="adj" fmla="val 63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C9C37-D6F1-42F3-92BF-F0A88556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典型对话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A8A86-76B5-424D-8BF3-9A46394F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3276600" cy="8572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A8222-2860-4BD1-BCD7-8BD2AE22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8602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帮我写今天日报：完成客户拜访和报价整理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8E2DC-8DA2-4CAA-B33A-8C8392C0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67100"/>
            <a:ext cx="2933700" cy="571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58804-2705-4810-A8AE-B50E0AB3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0997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已加载今天的日报配置和草稿。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B709A-B731-48AD-9C7D-07941C79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86250"/>
            <a:ext cx="2933700" cy="571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60A9F-9987-4C14-B8F4-378FD8E6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2912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预览已生成，请确认提交。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42EB2-2674-433C-842C-040A43D5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04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稳定执行链路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C1041-AB66-4CD0-8F46-B3DF86C7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28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0A829-1BA5-488E-B80D-F92E35F7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859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4C573-A750-4308-AA96-823401C0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97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加载上下文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CA11B-1E02-4CF6-93CB-F5292137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288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字段、配置、草稿、同步数据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A3CFE-7756-4299-B6C7-7B27BC89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71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53DD0-4DC4-43C3-AA9A-B343E3EA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28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B9009-1209-44CD-9CC5-AC70EE3A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5272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补充内容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5CEFA7-F1EC-4220-AEF5-0C3A7922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7717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日期与工作内容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5DFAD-1B2D-4958-9DE0-4C5C8F3F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14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97835-066E-4B5D-8F1A-CD6D919D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71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BEF4B0-16C9-429A-AE49-DABAAFF2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保存草稿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9C77C-59EB-4714-9A14-88788C6F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147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保留 ERP 原始业务字段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5D1BD4-218F-4E7D-A470-0C3AA8F5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57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28B07-ADA4-4E1E-8D78-B96B9C99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148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5C22F2-278B-4661-8A04-B5703EEC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3862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生成预览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5371E5-8464-4E38-A379-3AE95E54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257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展示接收人、抄送人和自定义字段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06BE70-652B-4E0A-9FF9-AF2EAAD4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00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D9ADF0-4245-4A09-BB8D-B9718CBB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577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F914EE-F642-47ED-A2B0-FC6A0186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81575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确认提交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BE3E06-6E2D-4402-A30C-F30EA33F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0062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明确确认后才写入 ERP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3532E1-1B4C-4185-B720-081ADBA2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24525"/>
            <a:ext cx="1070610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0478">
            <a:solidFill>
              <a:srgbClr val="3E755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EEB4ED-6BEE-476D-A172-28B0B6BB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67400"/>
            <a:ext cx="1007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E7551"/>
                </a:solidFill>
              </a:defRPr>
            </a:pPr>
            <a:r>
              <a:rPr sz="1650" b="1">
                <a:solidFill>
                  <a:srgbClr val="3E7551"/>
                </a:solidFill>
              </a:rPr>
              <a:t>适合步骤明确、提交风险较高、需要持续恢复的业务流程</a:t>
            </a:r>
          </a:p>
        </p:txBody>
      </p:sp>
    </p:spTree>
    <p:extLst>
      <p:ext uri="{BB962C8B-B14F-4D97-AF65-F5344CB8AC3E}">
        <p14:creationId xmlns:p14="http://schemas.microsoft.com/office/powerpoint/2010/main" val="10829778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B9CCBB-930E-4BFE-86F1-753CECAD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B62F0-75D0-4D78-9A4F-67A631F8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自主日报助手：让 Agent 决定下一步做什么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D7C47-3ADB-4E3A-A373-BA7F41D1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CREATE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6BC84-9084-4F50-954F-5957BBFF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3437E-470C-4B35-A85C-0DB06103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305300" cy="3648075"/>
          </a:xfrm>
          <a:prstGeom xmlns:a="http://schemas.openxmlformats.org/drawingml/2006/main" prst="roundRect">
            <a:avLst>
              <a:gd name="adj" fmla="val 731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C4C49-600B-4110-9C2D-2C69E197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输入不再要求固定格式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E74CB-5447-4E9C-99AD-AACA345A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3175"/>
            <a:ext cx="3429000" cy="628650"/>
          </a:xfrm>
          <a:prstGeom xmlns:a="http://schemas.openxmlformats.org/drawingml/2006/main" prst="roundRect">
            <a:avLst>
              <a:gd name="adj" fmla="val 30303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F1697-DCAB-4596-A41A-4058B176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860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把今天的客户跟进整理成日报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611A3-DEDE-48AE-B7ED-B00A00D3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Agent 自主判断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EDFEA-F0DA-4884-BF74-CD8088FF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EC8AF-63C7-4F2F-8D83-99F70D99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924300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先确认日期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90BE1-6A9D-4FC6-BB5D-F230D078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A494F-CEBC-45EA-9607-525F52AB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76725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需要加载哪些 ERP 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C8ABA-34AC-483A-AF9A-9F9E89DC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2039C-F423-40F5-A4F3-C8127216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629150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是否继续追问内容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2C722-8783-46BD-8F6E-5CD07A39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57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250619-80DF-4254-AC96-82A45869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981575"/>
            <a:ext cx="3114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何时生成预览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262A4-032C-44FA-A0C0-C5405B8C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057525"/>
            <a:ext cx="7048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9BE4C-F36C-4B2E-BAF6-71871EC5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81150"/>
            <a:ext cx="5219700" cy="3648075"/>
          </a:xfrm>
          <a:prstGeom xmlns:a="http://schemas.openxmlformats.org/drawingml/2006/main" prst="roundRect">
            <a:avLst>
              <a:gd name="adj" fmla="val 7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C85A9-069D-4845-9C14-C9FB5E71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85950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E7551"/>
                </a:solidFill>
              </a:defRPr>
            </a:pPr>
            <a:r>
              <a:rPr sz="1950" b="1">
                <a:solidFill>
                  <a:srgbClr val="3E7551"/>
                </a:solidFill>
              </a:rPr>
              <a:t>能力提升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6E7CAD-0B10-4999-9DB9-6673FB61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B09852-D695-46BA-B08B-22DB4C47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447925"/>
            <a:ext cx="3990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适应更自然、更开放的用户表达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ECE598-8298-4CB2-9A06-F935ACA3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05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68A5F-3CE2-467F-AD71-1D0E8452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28950"/>
            <a:ext cx="3990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减少固定流程中的人工分支设计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18E2B7-5478-420E-BF7B-E3FBB6CD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86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C93D01-045A-43F1-B268-1FABE058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609975"/>
            <a:ext cx="3990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可按上下文自主调用日报工具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904130-14E8-4AB1-9028-268D9E62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4842"/>
                </a:solidFill>
              </a:defRPr>
            </a:pPr>
            <a:r>
              <a:rPr sz="1725" b="1">
                <a:solidFill>
                  <a:srgbClr val="B44842"/>
                </a:solidFill>
              </a:rPr>
              <a:t>仍需保留的边界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AD1782-6DAD-41D1-B96B-224E6889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33900"/>
            <a:ext cx="421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4842"/>
                </a:solidFill>
              </a:defRPr>
            </a:pPr>
            <a:r>
              <a:rPr sz="1425" b="1">
                <a:solidFill>
                  <a:srgbClr val="B44842"/>
                </a:solidFill>
              </a:rPr>
              <a:t>不允许编造内容 · 不允许跳过预览 · 不允许自动提交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C82208-7496-41A5-916A-E5A7D012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15000"/>
            <a:ext cx="10629900" cy="542925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0">
            <a:solidFill>
              <a:srgbClr val="E9DC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1122A7-4F48-4CC3-A7EB-61B5C282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10039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D293B"/>
                </a:solidFill>
              </a:defRPr>
            </a:pPr>
            <a:r>
              <a:rPr sz="1575" b="1">
                <a:solidFill>
                  <a:srgbClr val="5D293B"/>
                </a:solidFill>
              </a:rPr>
              <a:t>适合作为能力探索：灵活性更高，但执行顺序与异常恢复更依赖约束</a:t>
            </a:r>
          </a:p>
        </p:txBody>
      </p:sp>
    </p:spTree>
    <p:extLst>
      <p:ext uri="{BB962C8B-B14F-4D97-AF65-F5344CB8AC3E}">
        <p14:creationId xmlns:p14="http://schemas.microsoft.com/office/powerpoint/2010/main" val="18477719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1E8B32-D302-4C6B-9AB9-98AF41D6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032C2-3E6C-4A66-B434-17F90DB5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Agentic Workflow：把自主规划与流程闸门组合起来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511B2-1E07-4423-8D32-76EA8288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AGENTIC WORKFLOW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939BA-9023-4552-A5E7-B54D4E52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AFD35-1378-42B2-B98F-BEE3A9E6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Agent 负责开放性工作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8E055-EA36-4A31-9E42-C803A92A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Workflow 负责确定性边界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73C52-9B04-41E0-BEB1-836793CA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171950" cy="781050"/>
          </a:xfrm>
          <a:prstGeom xmlns:a="http://schemas.openxmlformats.org/drawingml/2006/main" prst="roundRect">
            <a:avLst>
              <a:gd name="adj" fmla="val 2317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C9F61-D25A-4BF2-987E-0B25D5C0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764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理解目标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8103E-7053-4EE6-A53E-7CD66FBA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2860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识别用户要写什么日报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02CAD-F007-4AD5-8DD7-263FD0F6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9925"/>
            <a:ext cx="4171950" cy="781050"/>
          </a:xfrm>
          <a:prstGeom xmlns:a="http://schemas.openxmlformats.org/drawingml/2006/main" prst="roundRect">
            <a:avLst>
              <a:gd name="adj" fmla="val 2317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27763-00AD-43EB-8006-CB429297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制定计划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B2185-123D-4927-9E5F-1A8BBB8F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432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明确需要哪些上下文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6AAC9-DDE8-4755-A044-D6DA3E4E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4171950" cy="781050"/>
          </a:xfrm>
          <a:prstGeom xmlns:a="http://schemas.openxmlformats.org/drawingml/2006/main" prst="roundRect">
            <a:avLst>
              <a:gd name="adj" fmla="val 2317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4D6AB-F252-4B9F-ACA2-680865B0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910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整理内容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23D33-FD1D-46CE-B232-63350583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00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结合用户输入生成正文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E99DF-5E48-4B7A-A154-BD6CF16A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209925"/>
            <a:ext cx="1047750" cy="4286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66C6B"/>
          </a:solidFill>
          <a:ln xmlns:a="http://schemas.openxmlformats.org/drawingml/2006/main" w="0">
            <a:solidFill>
              <a:srgbClr val="A66C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299AE-8CA4-4770-905D-A1526638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714750"/>
            <a:ext cx="1143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66C6B"/>
                </a:solidFill>
              </a:defRPr>
            </a:pPr>
            <a:r>
              <a:rPr sz="1275" b="1">
                <a:solidFill>
                  <a:srgbClr val="A66C6B"/>
                </a:solidFill>
              </a:rPr>
              <a:t>建议下一步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956B6-8640-4E00-97FD-6B0BDAA1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57400"/>
            <a:ext cx="41719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E0914-E5B9-4AB9-9D89-F08040CC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5265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保存草稿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AD9C4E-C562-490F-BF1D-81460550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由流程执行写入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F07FD-9399-4DF7-AC24-F3F8F1D0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24175"/>
            <a:ext cx="41719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C01FF-FED1-4E27-95EF-E8F6A76F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019425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生成预览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B00B1-2AE3-4BB7-93D7-18CB5EE9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384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展示完整业务信息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2A20A-E4FD-4EB2-90F6-740FBB03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90950"/>
            <a:ext cx="41719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DDBE0-071E-4F30-AC96-F97CF014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886200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F3DD5-C906-4C05-B316-61B1E739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052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暂停等待用户动作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A38C08-AF7F-4760-9550-A6AE1D73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57725"/>
            <a:ext cx="4171950" cy="64770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3E7551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88F33C-275E-47D7-91DC-89B6EB14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752975"/>
            <a:ext cx="120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提交闸门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BA62E8-C563-4C36-A615-D9430428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720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5F0E8"/>
                </a:solidFill>
              </a:defRPr>
            </a:pPr>
            <a:r>
              <a:rPr sz="1275" b="0">
                <a:solidFill>
                  <a:srgbClr val="E5F0E8"/>
                </a:solidFill>
              </a:rPr>
              <a:t>确认后才允许执行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CDF0A2-9FA6-4A3F-8E11-43371173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9775"/>
            <a:ext cx="10429875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66C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DBD920-5719-4FAF-836C-E71291AD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34075"/>
            <a:ext cx="98202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核心思路：让 Agent 提供灵活性，让 Workflow 保证业务安全</a:t>
            </a:r>
          </a:p>
        </p:txBody>
      </p:sp>
    </p:spTree>
    <p:extLst>
      <p:ext uri="{BB962C8B-B14F-4D97-AF65-F5344CB8AC3E}">
        <p14:creationId xmlns:p14="http://schemas.microsoft.com/office/powerpoint/2010/main" val="2611064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F29C704-BB97-41A4-9A61-3BCBC284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FEC793-B78E-4CB8-888D-2EB29407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四种方案不是替代关系，而是按任务选择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4189F-08DC-4DE3-8B6D-FCFFEF6F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D90D6-DDC3-426B-B0DC-F7668D8F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5FE81-0C6F-4724-92C9-04F18531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90675"/>
            <a:ext cx="1857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D1897-1929-48C3-93AF-A2AF650D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5260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2F340-1ABE-4FE2-8543-ECC6CF43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90675"/>
            <a:ext cx="2714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27FC0-A273-484C-9B41-CBA4087F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52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适合场景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892DB-3E90-415B-B59D-6DC26841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5906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D993F-246F-457D-BF3E-CED32F33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52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可控性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38E7F-4EF6-4AD8-B618-8DFB9CC0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90675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4A783-433C-4504-A902-C645FC11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52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灵活性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62E78-3A7E-421E-80A9-92A3E34E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90675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9525">
            <a:solidFill>
              <a:srgbClr val="F6F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454B4-4D37-46FD-A1FD-93598D49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52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当前定位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B41BF-152A-4E83-BDA8-174A971A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81225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416D8-4274-45F6-B833-8E3D193E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9825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审批助手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C92A8-9F68-4F4B-8B70-CF316D92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81225"/>
            <a:ext cx="2714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02BF3-51D0-4A7A-B357-BC998BEE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0982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动态审批、真实提交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9797D-2D74-4F44-8581-A99D7C7B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8122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CE469-DFD7-49CB-ACB4-9AAAAB38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4098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5CAB6-D58D-4CAA-ADA4-E023ABD4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8122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D6E03-4969-4A69-AA9C-C756869D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4098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10B023-8CA9-41B4-9EA9-C1C55D8A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81225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5C82AD-E603-4724-A0AB-337E0ABE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09825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生产落地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B5FB95-D1BD-4055-AA73-94850532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94356A-56DB-4953-85EF-3E63AD62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76600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标准日报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0B7BC7-9CAF-4C29-A9D8-21E9F3FC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48000"/>
            <a:ext cx="2714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33E0D6-18D7-4BC6-BFDF-D4FC9C3C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76600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步骤明确、风险较高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F56AEF-B2D7-4522-BB33-74593CF2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48000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315EA3-8B7B-46C0-A661-8E3BCFB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2766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FD1899-335A-4B3E-AC94-6FBDFE1D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48000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E2382A-1752-43BF-9601-CB8CA3E3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7660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E1E84E-5A85-4D2B-9F88-C8FD38C6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48000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70FF25-09B6-450D-954F-5078836E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766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生产落地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82977E-E19A-41D4-BF1B-BB5ACBC2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14775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110A7-FE21-411E-9186-1C1E459E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43375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自主日报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E0D0BF-9CD1-4D11-BED1-9099840B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14775"/>
            <a:ext cx="2714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56E785-D9B2-4E5F-9DAD-2E5B0D9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43375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输入开放、路径不固定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854754-02E1-4972-BDBE-3E208E4E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1477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8A5471-2E97-418C-9F0F-8966B20C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14337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BF1C55-8A90-4D35-87AE-6B6CCAE5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14775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FA65D9-47A2-491B-A6AB-414E1FBA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14337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1FF987-65C1-4FF8-B570-6D38B16A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14775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92EC84-4200-4EE9-B0AD-9FDADBF8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143375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能力探索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C2B345-D12D-40A8-A82C-A2DF2CD4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81550"/>
            <a:ext cx="1857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2BFC1A-B1C3-4732-BD10-721428AE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010150"/>
            <a:ext cx="1628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Agentic Workflow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40501F-814C-4A7D-B5A5-81A1DBF6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81550"/>
            <a:ext cx="2714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755AB9-F438-46C4-AF70-01B00913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10150"/>
            <a:ext cx="2486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复杂任务、需要安全闸门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D5B3C0-66E9-4B5E-8F58-57120E86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781550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AF9110-3EEF-4C39-A485-22082D78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01015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2E5D95-FEA4-4999-850C-3ABBEA2C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81550"/>
            <a:ext cx="1714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603D45-BD40-459F-87CC-8062DB83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01015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98DD18-9B24-4AAF-A7A3-B5ABA165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81550"/>
            <a:ext cx="24765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B7A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30CB30-6A00-4EA1-80C9-EF809A9E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0101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演进方向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F1D3DC-0D92-4913-92D9-5D8F7107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962650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选择原则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6D4E73-D424-4E84-863D-32438112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43600"/>
            <a:ext cx="919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越接近写入和审批，越需要显式流程；越偏理解、规划与生成，越适合 Agent</a:t>
            </a:r>
          </a:p>
        </p:txBody>
      </p:sp>
    </p:spTree>
    <p:extLst>
      <p:ext uri="{BB962C8B-B14F-4D97-AF65-F5344CB8AC3E}">
        <p14:creationId xmlns:p14="http://schemas.microsoft.com/office/powerpoint/2010/main" val="16606967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78472D-454E-4232-B394-47BF25CF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23A4D-7F32-4D21-9E2A-582CA2C9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预期效果：聊天请假、聊天发日报，并且过程可控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5F09A-CE5E-4A6D-9709-C3AF9B6D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29954-4276-415B-A948-6F059D7E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E2C41-2AAA-415D-B990-08C8D379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5210175" cy="337185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F29D0-A359-4455-AEFF-C8F9D430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E7551"/>
                </a:solidFill>
              </a:defRPr>
            </a:pPr>
            <a:r>
              <a:rPr sz="2025" b="1">
                <a:solidFill>
                  <a:srgbClr val="3E7551"/>
                </a:solidFill>
              </a:rPr>
              <a:t>聊天请假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BD941-42C3-4C07-B194-B1662797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00300"/>
            <a:ext cx="31432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D2040-4D3F-4693-B881-F60EB7B8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54317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2AA9F-BB72-4B68-959B-C4420BC9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48025"/>
            <a:ext cx="440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识别模板 → 补充类型和时间 → 校验 → 预览 → 确认提交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84D95-D1D5-47BE-819A-CCEC8E5D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862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结果：用户无需寻找请假入口，也不必理解所有表单字段。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50B93-9333-498C-A4D7-6F969EB7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533525"/>
            <a:ext cx="5210175" cy="337185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79730-9F88-4EFD-B27C-D39D598E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8097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聊天发日报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8E76A-1F6B-42CC-9310-24AE92C3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3743325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2E73C-2F70-4EF7-936D-DD842042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43175"/>
            <a:ext cx="3324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整理今天客户跟进情况，生成日报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807D9-EDFE-4BB0-ACC8-B36C3A0B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48025"/>
            <a:ext cx="4400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加载 ERP 上下文 → 整理内容 → 保存草稿 → 预览 → 确认提交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C99CD-1685-4C2A-8968-D91C6617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862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结果：减少重复整理，同时保留接收人、自定义字段等业务信息。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2273A-00BB-4096-96AC-85191D2E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2466975" cy="866775"/>
          </a:xfrm>
          <a:prstGeom xmlns:a="http://schemas.openxmlformats.org/drawingml/2006/main" prst="roundRect">
            <a:avLst>
              <a:gd name="adj" fmla="val 18681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0478">
            <a:solidFill>
              <a:srgbClr val="C9B7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7960B-F278-4350-AC66-06CC6E33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2 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434E3E-959F-48AB-ABF4-4B62F41C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486400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核心业务场景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AA51E-1D15-4EEF-BFE6-D0E3E201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388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审批 + 日报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DEB4C-B43F-43FF-BCBE-E4C92EF5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34000"/>
            <a:ext cx="2466975" cy="866775"/>
          </a:xfrm>
          <a:prstGeom xmlns:a="http://schemas.openxmlformats.org/drawingml/2006/main" prst="roundRect">
            <a:avLst>
              <a:gd name="adj" fmla="val 18681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C9B7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6BDF0-1741-402D-8F9C-742BC7B1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29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4 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309E8-2A95-42A9-A96B-B753DD8F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486400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工作流方案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4E9DE-5D65-4246-8FB1-E8133B83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388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流程与 Agent 对比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3AB40C-8456-452C-8BD9-AD1F11AD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34000"/>
            <a:ext cx="2466975" cy="866775"/>
          </a:xfrm>
          <a:prstGeom xmlns:a="http://schemas.openxmlformats.org/drawingml/2006/main" prst="roundRect">
            <a:avLst>
              <a:gd name="adj" fmla="val 18681"/>
            </a:avLst>
          </a:prstGeom>
          <a:solidFill xmlns:a="http://schemas.openxmlformats.org/drawingml/2006/main">
            <a:srgbClr val="E9DCC9"/>
          </a:solidFill>
          <a:ln xmlns:a="http://schemas.openxmlformats.org/drawingml/2006/main" w="10478">
            <a:solidFill>
              <a:srgbClr val="C9B7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C66AB6-877E-4571-A562-8655B882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29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2 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17E9A7-9559-414D-A550-D16A79F9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486400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写入确认闸门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E0B75D-59E9-440E-BA9E-9516833F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388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审批提交 + 日报提交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B11978-73F1-4970-B652-DDCF0F2E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34000"/>
            <a:ext cx="2466975" cy="866775"/>
          </a:xfrm>
          <a:prstGeom xmlns:a="http://schemas.openxmlformats.org/drawingml/2006/main" prst="roundRect">
            <a:avLst>
              <a:gd name="adj" fmla="val 18681"/>
            </a:avLst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2641FE-98E1-463A-B6DF-95196274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429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8 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55B581-9AD3-4865-8131-3144EAE6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486400"/>
            <a:ext cx="1362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后续量化指标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BAB625-C0DF-43C3-B2A4-699692CB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8388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准确率、轮次、成功率、耗时</a:t>
            </a:r>
          </a:p>
        </p:txBody>
      </p:sp>
    </p:spTree>
    <p:extLst>
      <p:ext uri="{BB962C8B-B14F-4D97-AF65-F5344CB8AC3E}">
        <p14:creationId xmlns:p14="http://schemas.microsoft.com/office/powerpoint/2010/main" val="1336180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44AD18-8A73-4440-9498-B494A743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06382-38AB-4B49-9B08-F887CA8D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遇到的问题：动态配置与流程状态叠加后迅速变复杂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F6A10-4B98-4D6D-9921-3FC62BDA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E10AB-563F-4583-A82C-DCC4298A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4CA71-D763-43BA-A0DB-A2734B14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3324225" cy="13620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8DC67-BEF5-4D5A-AF94-F6F307E5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24025"/>
            <a:ext cx="8477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74364A"/>
                </a:solidFill>
              </a:defRPr>
            </a:pPr>
            <a:r>
              <a:rPr sz="3150" b="1">
                <a:solidFill>
                  <a:srgbClr val="74364A"/>
                </a:solidFill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84373-7C4D-476F-B4F1-0F0BCA46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80975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注册节点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21C99-58DA-4D9C-A6DE-1DFA0303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52675"/>
            <a:ext cx="2847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顶层 9 + 审批 14 + 标准日报 10 + Agentic 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CD433-7D87-434D-864C-24AB0BC0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71625"/>
            <a:ext cx="3324225" cy="13620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3335">
            <a:solidFill>
              <a:srgbClr val="B448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81C81-92EE-4AE0-9996-E1081279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24025"/>
            <a:ext cx="8477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B44842"/>
                </a:solidFill>
              </a:defRPr>
            </a:pPr>
            <a:r>
              <a:rPr sz="3150" b="1">
                <a:solidFill>
                  <a:srgbClr val="B44842"/>
                </a:solidFill>
              </a:rPr>
              <a:t>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F103A-1F3D-46AA-B731-D3918220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80975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44842"/>
                </a:solidFill>
              </a:defRPr>
            </a:pPr>
            <a:r>
              <a:rPr sz="1650" b="1">
                <a:solidFill>
                  <a:srgbClr val="B44842"/>
                </a:solidFill>
              </a:rPr>
              <a:t>审批复核路由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DC24F-600D-4EBB-A94E-6A853E7D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52675"/>
            <a:ext cx="2847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decision_review 需要处理 9 类分支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4C7D4-F67F-4865-8944-8A5DFA54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71625"/>
            <a:ext cx="3324225" cy="13620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73397-4644-434C-A2AB-39C48528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724025"/>
            <a:ext cx="8477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BF7326"/>
                </a:solidFill>
              </a:defRPr>
            </a:pPr>
            <a:r>
              <a:rPr sz="3150" b="1">
                <a:solidFill>
                  <a:srgbClr val="BF7326"/>
                </a:solidFill>
              </a:rPr>
              <a:t>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9920D-D3B4-4BAD-814B-D500148C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09750"/>
            <a:ext cx="1857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日报恢复路线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E7E09-F7A4-4D48-95D3-7E3A7345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352675"/>
            <a:ext cx="28479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interrupt_daily_report resume 后有 7 类去向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94CDB-7200-49FF-8C36-2DEEFEC6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51720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1430">
            <a:solidFill>
              <a:srgbClr val="3E75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EE78A-49D1-4932-8C06-D1DAC777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09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E7551"/>
                </a:solidFill>
              </a:defRPr>
            </a:pPr>
            <a:r>
              <a:rPr sz="1575" b="1">
                <a:solidFill>
                  <a:srgbClr val="3E7551"/>
                </a:solidFill>
              </a:rPr>
              <a:t>审批组件太多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38C0D-E1AF-433B-B60C-21AA35CF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099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字段、选项和审批规则都可能按公司动态配置。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55A67-1522-4CF6-B3D4-C1106349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48025"/>
            <a:ext cx="51720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1430">
            <a:solidFill>
              <a:srgbClr val="B448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78DDA-2843-4299-A47C-9F5C2E60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09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44842"/>
                </a:solidFill>
              </a:defRPr>
            </a:pPr>
            <a:r>
              <a:rPr sz="1575" b="1">
                <a:solidFill>
                  <a:srgbClr val="B44842"/>
                </a:solidFill>
              </a:rPr>
              <a:t>if-else 持续增长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1E3FC2-83E5-4F73-8819-4B6792BB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099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新建、继续、修改、取消、确认与字段缺失都要分流。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789C6-74AC-4172-A92D-34BBCCEE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51720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1430">
            <a:solidFill>
              <a:srgbClr val="BF73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B589B0-8E32-4738-9B63-68E391F4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43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状态相互影响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7B60E-7526-4D7B-B043-2CBF3311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434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多轮对话、人工中断、恢复和重复提交需要协同。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A52835-7CA6-48C4-961D-6665A11F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81525"/>
            <a:ext cx="517207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15CD3F-04DB-414B-893F-DA8BF38F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故障定位困难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3845E0-5B8F-4E4C-BB0A-38D18DF2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743450"/>
            <a:ext cx="2819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需要区分模型、路由、状态恢复与 ERP 接口问题。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405A8F-FE55-4B3E-94DF-396EF36A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668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B80F38-FF00-4B6A-8FF8-3F60E9B1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105525"/>
            <a:ext cx="1021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根本原因：动态配置 × 多轮对话 × 状态流转 × ERP 写入风险同时叠加</a:t>
            </a:r>
          </a:p>
        </p:txBody>
      </p:sp>
    </p:spTree>
    <p:extLst>
      <p:ext uri="{BB962C8B-B14F-4D97-AF65-F5344CB8AC3E}">
        <p14:creationId xmlns:p14="http://schemas.microsoft.com/office/powerpoint/2010/main" val="6262168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093EDC-0591-4997-8C7C-086E41A9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116FD-F42A-453C-B607-8F3DB5FC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问题排查：需要从“看结果”升级为“看完整链路”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1F540-B678-42D0-9E5D-F5629D2A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41CE3-6B63-499B-8B20-626F33C9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6E1C6-664F-4F2E-BE32-433444CC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5049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一次请求可能同时经过四类环节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41A0A5-7781-4C24-A60C-B01315B1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71775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01C95-BD47-478D-A578-8689C713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71775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E18E2-1940-4F4E-B1B1-6AE6A475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71775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06533-CC91-440D-B02B-99A603E1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19075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335">
            <a:solidFill>
              <a:srgbClr val="BF73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FFC64-D67D-4FA5-86E1-7360AE2E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模型理解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E5ABC-76EB-480C-8B27-7BDFD8DD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意图是否识别正确？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字段是否提取完整？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0D4C0-F4D2-45DC-AD82-A31C3F30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43125"/>
            <a:ext cx="219075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58304-AD65-400F-A02C-2F8A8030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流程路由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DB46A-F575-4191-8FFF-9D4C0CBF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241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进入了哪个节点？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为什么选择这个分支？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57814-C5E8-41E8-B58B-A526CB21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219075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335">
            <a:solidFill>
              <a:srgbClr val="3E75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26FDC-3DFB-48F3-A3F2-BF71208D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E7551"/>
                </a:solidFill>
              </a:defRPr>
            </a:pPr>
            <a:r>
              <a:rPr sz="1650" b="1">
                <a:solidFill>
                  <a:srgbClr val="3E7551"/>
                </a:solidFill>
              </a:rPr>
              <a:t>状态变化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ECDD0-A9E5-4B9D-8C44-FB2D13D6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41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当前等待什么？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中断恢复是否正确？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C88E46-15B7-4A1D-B30B-BC6E3213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219075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3335">
            <a:solidFill>
              <a:srgbClr val="B448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F731A6-21B9-4AFD-9D69-1CC39D76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44842"/>
                </a:solidFill>
              </a:defRPr>
            </a:pPr>
            <a:r>
              <a:rPr sz="1650" b="1">
                <a:solidFill>
                  <a:srgbClr val="B44842"/>
                </a:solidFill>
              </a:rPr>
              <a:t>ERP 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2037A-2214-4D0B-ACD9-425D9E19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241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调用了哪个接口？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入参与返回是否正确？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E8886-363B-4ADE-B78F-02501ED4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10706100" cy="1714500"/>
          </a:xfrm>
          <a:prstGeom xmlns:a="http://schemas.openxmlformats.org/drawingml/2006/main" prst="roundRect">
            <a:avLst>
              <a:gd name="adj" fmla="val 1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A66C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093C9-CB4B-4491-A7C7-8422D12F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4958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LangSmith / Trace 需要重点观察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AD63AB-7F2E-4D1F-9E6A-F1157ED7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F40EC-C249-4E8F-ACA4-45ADCEC8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33950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节点执行顺序与路由原因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D2BC39-B3A6-4711-9ADD-8C3E0936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67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E251DA-7FA7-4D9D-9BBC-7C2AAACB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91125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模型输入输出与字段抽取结果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208FB8-96BA-46FF-A2D3-1562BF8C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3BE1B3-25F7-40D4-82CA-675D83F5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48300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Tool 调用参数、返回和耗时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3DD9EF-FAC1-4383-8D13-402F9FA5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81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DC7DC7-F069-4DC4-B4F3-81860023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705475"/>
            <a:ext cx="959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中断前后的状态差异与失败位置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AF83AA-1374-4CEC-A39E-E9751B63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191250"/>
            <a:ext cx="10496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D293B"/>
                </a:solidFill>
              </a:defRPr>
            </a:pPr>
            <a:r>
              <a:rPr sz="1350" b="1">
                <a:solidFill>
                  <a:srgbClr val="5D293B"/>
                </a:solidFill>
              </a:rPr>
              <a:t>建议截图：审批完整 Trace + 日报 interrupt/resume + Agentic Workflow 计划与闸门</a:t>
            </a:r>
          </a:p>
        </p:txBody>
      </p:sp>
    </p:spTree>
    <p:extLst>
      <p:ext uri="{BB962C8B-B14F-4D97-AF65-F5344CB8AC3E}">
        <p14:creationId xmlns:p14="http://schemas.microsoft.com/office/powerpoint/2010/main" val="792965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D0C982-2F1E-48EA-9E29-94DF85B4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2913C-E708-4D8D-9DC1-36658712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优化方向：稳定流程标准化，开放判断 Agent 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F130E-8856-43D9-B1DB-FF1CA549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DECD7-016F-47FA-88C0-3034AB9A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586DF-1BD3-483D-8A81-8CBE49A0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33525"/>
            <a:ext cx="5010150" cy="32575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95A02-86F3-4DE4-A4B3-79B19759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192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E7551"/>
                </a:solidFill>
              </a:defRPr>
            </a:pPr>
            <a:r>
              <a:rPr sz="1950" b="1">
                <a:solidFill>
                  <a:srgbClr val="3E7551"/>
                </a:solidFill>
              </a:rPr>
              <a:t>适合保留在流程中的内容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29663-B7DC-4623-B1D9-08541B37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32CFB-746A-4DC3-A8EB-7CF01A4D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4479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字段是否完整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AF5CF-F6AD-4909-8C41-10C0113C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81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708FB-3ABB-4B8F-A48A-491E7FA2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9051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业务校验是否通过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5FDB3-4CFC-446E-BBB8-76E202E7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38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2A733F-D828-4E3A-B848-34C792AA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623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是否已经生成预览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B8135-96B3-464E-9B73-329E8461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37F76-D167-40A6-A1BE-FBD54C57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8195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用户是否明确确认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0061C5-0661-4443-BC48-B01C2C73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66F95-9A2F-4498-9FD6-7FF2A32D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767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写入是否幂等、可审计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7B75A-383C-4FF5-BCAB-80D8E22C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533525"/>
            <a:ext cx="5010150" cy="32575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4B692-6E74-43EC-988B-67B391DF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8192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适合交给 Agent 的内容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FB6F9-B0DF-4340-9B7D-98CCB970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1248F3-C4F9-48FD-847E-E4EB38C0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479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理解用户真实目标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AC74FD-737E-405A-8244-B342D286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81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BDDAF-40EE-4DD3-8D66-C739861E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9051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从自然语言提取信息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6773D1-CF1C-4315-9BE2-A26B49A5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38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2253BE-2A95-48FB-A8E0-3388E741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3623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决定需要查询哪些上下文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43525D-901B-4E42-89F9-96798829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A9BEE7-5290-4BFF-92D9-7D6C764A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8195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组织日报和业务摘要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83A2E9-D8A6-424B-A4F7-4A920CD6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52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76FB74-321B-4BE4-BCBD-755D79C7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276725"/>
            <a:ext cx="3876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面对开放任务制定下一步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C62AD5-84C2-457D-8654-034A66FD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配套改进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0763BF-99F5-47D9-A4A0-31A8597E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2476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42C059-E4EC-41C1-98A9-CA9727B7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规则配置化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1F90D8-1B6B-436D-BCAE-E46CB4B5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657850"/>
            <a:ext cx="2476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BB3F58-74C6-4A1F-A668-D77DBDC5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838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节点单一职责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AF2754-F719-42D8-AE6F-3B10359B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57850"/>
            <a:ext cx="2476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5C6C7F-4953-4E78-B0E0-25AE8516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38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统一 ERP 工具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682167-4013-4DC6-8889-5CE109DC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657850"/>
            <a:ext cx="247650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DC11B8-9845-4D60-9B88-69F9EC1A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838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LangSmith 全链路观测</a:t>
            </a:r>
          </a:p>
        </p:txBody>
      </p:sp>
    </p:spTree>
    <p:extLst>
      <p:ext uri="{BB962C8B-B14F-4D97-AF65-F5344CB8AC3E}">
        <p14:creationId xmlns:p14="http://schemas.microsoft.com/office/powerpoint/2010/main" val="7464030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102CB3-5BEC-465D-BAB9-72FC9EAE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F4501-6AF8-4CE0-A8B4-58928359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八句话总结：AI 负责理解，ERP 负责可信执行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FD22A-6091-485C-AD52-E3B2C2A4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CORE TAKEAWAYS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8A66E-D843-469E-9AA6-07DB9195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A8435-7186-46F2-9FD2-18F1BF81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62F99-A0FE-450E-9A70-FD903979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AF334-C69D-40FC-9197-0DF66280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2FE1E-9ACD-4C4F-9EB3-C9E56158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628775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AI不是替代ERP，而是给ERP增加自然语言入口。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1EE44-58AA-4A23-9A34-823962F0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B2927-1450-498E-A844-16F3EE58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2CE85-75A2-4199-A048-E9151280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078EA-624C-457D-86FC-A0FCD7FA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86050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首批选择审批和日报，因为高频、典型、容易验证闭环。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E6880-831C-40C4-964E-55FC2F41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9D67F-E7BA-49DD-8E70-2841CE07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37C4F-AE30-46F8-AB58-37EB33B0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E717B-279B-4D56-B6FA-552A0E46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43325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用户只说业务目标，AI负责理解和补充信息。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D6EF71-BE05-4D29-885B-1B1AFEEB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D9EDD-AC73-467C-9CE5-0D307D83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B6EDF-700E-4ED6-85F1-E4F0F774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F6E7A-081E-4681-A31A-3884979A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800600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ERP继续负责权限、规则、字段和最终写入。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BA5BB6-35A7-45D9-9EF3-C513474E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38275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FE05C6-73F4-4B41-955A-99086045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478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F9ACEA-36BF-449B-B24A-F1E2A7D7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621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E11BF9-63FF-47C3-A40B-68C881FF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28775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LangChain提供基础组件，LangGraph负责流程，Deep Agents探索自主规划。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57F6FD-40D8-4AD7-93D7-148CD066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E66D3-E329-4196-8B7A-A2D682AA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6552B5-BE77-471F-B625-B76E0CF6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194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AEB32F-873B-48AA-B561-E2F39A4C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86050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最终选择LangGraph，是因为ERP更需要可控、可恢复和可审计。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3498D6-8F59-48D8-BA98-B06DD12A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52825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2383">
            <a:solidFill>
              <a:srgbClr val="B448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FD82FE-6070-4D6A-B48F-1E0A5BFA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62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842"/>
          </a:solidFill>
          <a:ln xmlns:a="http://schemas.openxmlformats.org/drawingml/2006/main" w="0">
            <a:solidFill>
              <a:srgbClr val="B448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751816-C975-46C5-B927-A137B325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766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EA7591-BE05-4683-BAA5-3DEF1577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743325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当前最大问题是动态字段、流程分支和状态复杂度。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80471D-3316-4A36-AE16-684151DA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10100"/>
            <a:ext cx="5276850" cy="895350"/>
          </a:xfrm>
          <a:prstGeom xmlns:a="http://schemas.openxmlformats.org/drawingml/2006/main" prst="roundRect">
            <a:avLst>
              <a:gd name="adj" fmla="val 20213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962A42-9D33-4644-9631-B869225E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196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31EC47-F06E-4202-B534-2D1DA89B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339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4A9442-155E-4820-BF9F-5B50326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00600"/>
            <a:ext cx="4105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下一步要把试点沉淀为统一Schema、统一Tool和统一观测体系。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BDBA0A-56B2-44E6-A571-22FE1F6D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95975"/>
            <a:ext cx="10782300" cy="533400"/>
          </a:xfrm>
          <a:prstGeom xmlns:a="http://schemas.openxmlformats.org/drawingml/2006/main" prst="roundRect">
            <a:avLst>
              <a:gd name="adj" fmla="val 26786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55D22C-E04F-4C2E-A624-77637E55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38850"/>
            <a:ext cx="1024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一条主线：AI 降低用户操作门槛，ERP 保证业务执行可信</a:t>
            </a:r>
          </a:p>
        </p:txBody>
      </p:sp>
    </p:spTree>
    <p:extLst>
      <p:ext uri="{BB962C8B-B14F-4D97-AF65-F5344CB8AC3E}">
        <p14:creationId xmlns:p14="http://schemas.microsoft.com/office/powerpoint/2010/main" val="12053047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DD5F57-A057-4E48-B9D1-7DB63C6A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8DB25-6990-44EE-810A-C35DD7D3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下一步：从两个场景沉淀 ERP 智能化底座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C0B0F-3A4F-4F83-A34A-7DB06EC5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4F244-DC00-41D9-867B-09D1C545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FC5FA-1BD1-4017-AA3C-5BFB2D7D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124200"/>
            <a:ext cx="5524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3F367-2744-43BD-A5BB-70B5D97E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24200"/>
            <a:ext cx="5524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DA152-2AE3-4320-B863-AA29F0BA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81175"/>
            <a:ext cx="3333750" cy="3257550"/>
          </a:xfrm>
          <a:prstGeom xmlns:a="http://schemas.openxmlformats.org/drawingml/2006/main" prst="roundRect">
            <a:avLst>
              <a:gd name="adj" fmla="val 818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4288">
            <a:solidFill>
              <a:srgbClr val="7436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49B3B-ACC5-4ADC-8CEC-DEBE123D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057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近期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D7F8BA-8EC4-4960-8DDB-9EC4D33D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146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完善审批与日报闭环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B8EA1-AB58-4CA7-B16B-1635DD7B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88B21-B8B7-4B7B-B61E-96958DC7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7662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动态字段适配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AA1AC-C441-4A1E-B6CC-A6D99FA2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149A8-BEBE-4A55-A082-9AC0A610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43350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确认与错误恢复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97F9C-0C47-4B04-88EF-7D8DCF71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86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CED30-8499-4F53-9F9B-DBD22219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007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链路观测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680056-4119-4304-BD34-64DB162A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81175"/>
            <a:ext cx="3333750" cy="3257550"/>
          </a:xfrm>
          <a:prstGeom xmlns:a="http://schemas.openxmlformats.org/drawingml/2006/main" prst="roundRect">
            <a:avLst>
              <a:gd name="adj" fmla="val 818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4288">
            <a:solidFill>
              <a:srgbClr val="BF73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DE144-2178-496C-BEF1-4B618D3E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57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中期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7A8C9-A430-4A2E-8694-0B3C3B79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146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沉淀通用能力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54649-4874-4A6F-87F5-0E64997B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B96248-2DCE-4728-9E3E-EB5D405A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7662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统一业务 Schema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DF27A-669B-4C84-8BFB-BFBB69AF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BF6BA-0A59-498B-80DE-3D0C65D4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43350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统一 ERP Tool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1C3F5-8C0A-4E1C-B6CD-9E707C49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486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CCC30-4323-48BC-8CDA-33B34AD2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007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公司级配置适配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816AEA-827F-4D59-8713-5B65A321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81175"/>
            <a:ext cx="3333750" cy="3257550"/>
          </a:xfrm>
          <a:prstGeom xmlns:a="http://schemas.openxmlformats.org/drawingml/2006/main" prst="roundRect">
            <a:avLst>
              <a:gd name="adj" fmla="val 818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4288">
            <a:solidFill>
              <a:srgbClr val="3E75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A2D2CF-39EB-4B77-A119-A5C60642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0574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长期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AC534A-6BCA-4168-82E7-AF94DC0D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146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扩展更多 ERP 场景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B9F9B4-6D4E-4D79-84E8-7E2A17E9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52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062877-1F4D-45C3-A171-7923A2DC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7662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订单与库存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A52EA4-03A4-4C5A-A32C-DE355164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49E245-7604-4D6F-8C7C-B83940D7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客户跟进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E80DCA-E498-4EF8-AB8C-08521EAB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486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6C16F1-10D5-4066-8009-CEC09FCC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0075"/>
            <a:ext cx="25050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经营分析与任务执行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D1A1D2-6514-4239-9528-F96475E1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95925"/>
            <a:ext cx="10782300" cy="790575"/>
          </a:xfrm>
          <a:prstGeom xmlns:a="http://schemas.openxmlformats.org/drawingml/2006/main" prst="roundRect">
            <a:avLst>
              <a:gd name="adj" fmla="val 22892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332FF8-F6C4-4B5A-84BF-F77B0893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695950"/>
            <a:ext cx="1022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以 LangGraph 作为主框架：让 AI 理解任务，让 ERP 流程稳定、可控、可追踪</a:t>
            </a:r>
          </a:p>
        </p:txBody>
      </p:sp>
    </p:spTree>
    <p:extLst>
      <p:ext uri="{BB962C8B-B14F-4D97-AF65-F5344CB8AC3E}">
        <p14:creationId xmlns:p14="http://schemas.microsoft.com/office/powerpoint/2010/main" val="18624604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234EC5-6327-457B-B97A-5CE6C66F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67209-1878-4C06-99F3-F5675037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附录：聊天助手顶层路由图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3029D-F633-4F02-A7BF-B6D4FD0A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LANGGRAPH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D1E60-F05C-4BE0-9388-B537D53F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434DC-42C5-4909-9A1F-CB86920D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866c4aaab42b0"/>
          <a:stretch xmlns:a="http://schemas.openxmlformats.org/drawingml/2006/main"/>
        </p:blipFill>
        <p:spPr>
          <a:xfrm xmlns:a="http://schemas.openxmlformats.org/drawingml/2006/main">
            <a:off x="552450" y="2270459"/>
            <a:ext cx="6400800" cy="306003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D1C15-7EC2-4F65-8366-DFF0856B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C9B2F-E056-4E07-A667-2C3D35EE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节点职责（与代码对应）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28B41-2F12-4BA9-A514-C8181F60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A0912-0A2D-423F-9AEB-C0A40C9F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START /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DA56C-D2FD-4197-8D5F-47B72D73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6212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进入主图 / 本轮处理结束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738CB-D624-4A1A-9A86-B5A751EA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6408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10AA6-0732-4FC6-B0A6-C2DD11B6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1170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memory_agent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CEE6D6-DD28-4258-9A25-5D361B86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1170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记录输入，补充短期记忆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A628F-1576-442D-8531-190B3E23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1366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E4DFD-36D2-443B-8784-B17A48C9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6128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intent_router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F6524-392E-4E74-B804-8CA0C198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128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按意图与会话状态分配业务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357BF-245A-4ACA-BCB3-92EFEEB1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6324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1ECAD-62B0-474D-AF0F-AEE3BD6A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086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user_profile_agent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433860-0A07-4CC0-A62C-8721B9C2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1086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加载当前用户和直属上级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252999-3FA1-427D-A33B-FC242340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1282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A88F3A-5A92-4C45-93E1-F4BA91AA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044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user_info_agent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5EA89-4340-4DE2-85D5-53C9AE32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6044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回答用户、上级和部门问题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4F4864-D726-41EB-BE96-4534D59D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624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EB0143-9645-4B39-ACA1-0C1D7D32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002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approval_creation_agent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365DCF-5548-4559-8F7E-3D3BFD4F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1002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进入审批发起子流程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B66BF4-12B7-45D4-9E38-9C3018C8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1198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E31346-6061-42E7-926D-67F84B0E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5960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22C863-0639-45F9-BF24-7343A160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5960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进入标准日报子流程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57D352-98ED-45B3-ACFC-DD1605A4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6156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AD68F3-648E-4C2B-A54A-191715DC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0918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daily_report_create_agent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6AAF84-7B0C-4463-AD7F-E031B90F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0918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自主调用日报工具完成任务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AFBD99-CE26-434D-A30D-382D3AF7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1114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6D3C1D-D05B-439D-819A-FABCABD1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876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daily_report_agentic_workflow_demo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6D8343-ADBD-4665-97D0-5DFB23CE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5876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演示 Agent 规划与流程闸门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4633A8-FC45-46C1-ABA0-AA5BEF4F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76072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B5601D-A378-4ABC-A9C1-E615621D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08345"/>
            <a:ext cx="205740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general_chat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07F50F-7E31-4580-A3DA-72E84725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08345"/>
            <a:ext cx="1885950" cy="382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处理闲聊并保留业务上下文</a:t>
            </a:r>
          </a:p>
        </p:txBody>
      </p:sp>
    </p:spTree>
    <p:extLst>
      <p:ext uri="{BB962C8B-B14F-4D97-AF65-F5344CB8AC3E}">
        <p14:creationId xmlns:p14="http://schemas.microsoft.com/office/powerpoint/2010/main" val="179582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2B2866-667A-4B04-A155-0A844899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7ED37-8447-48A9-9D77-E2EB14A7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审批子图：入口、上下文与路由决策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61E85-2520-4C96-A4BF-A8B018C0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 ·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89B4A-2A38-4ED0-8AA3-131EFB69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5E139-052C-48F3-9269-4F42E2DD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adff3900046f0"/>
          <a:stretch xmlns:a="http://schemas.openxmlformats.org/drawingml/2006/main"/>
        </p:blipFill>
        <p:spPr>
          <a:xfrm xmlns:a="http://schemas.openxmlformats.org/drawingml/2006/main">
            <a:off x="552450" y="2111938"/>
            <a:ext cx="6400800" cy="33770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29971-4AAD-4A68-B7ED-A587D99F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4A0A6-CD2B-4474-B6F5-ECA2951E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节点职责：入口与路由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9ECA6-C6A4-48FA-894B-C5BFFFDB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FE47E-3B50-4A60-92EB-8FDDA6A2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A67A2-8FB4-4CE8-A4F2-95AB5633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62125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进入审批子图 / 本轮处理结束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307C6-50D7-454B-855A-F6FA79A7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76475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B8E72-97BE-4E32-8277-7A499D50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approval_creation_entry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E0A4B-2A9B-4A13-A114-430F965A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24100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标记进入审批发起流程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B747F-020B-44B5-9E48-3C9DAAF8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3845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398B5-DA08-4A04-87D0-0585CA07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860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load_context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AC2F3-DFE2-45FE-9946-C92311D2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86075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加载用户上下文和可用审批模板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ECD25-E8AF-4FE1-9500-4B6C4285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00425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69DA8-C48F-4A98-9148-C91C9D3C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480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classify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7FFE59-220B-4CE9-A937-6938474C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48050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识别模板、会话状态和用户动作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CD153-D691-40F9-AB95-76BC3E98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624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924D26-99B5-4D6E-AE31-41474475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002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decision_review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63583-CFE6-4120-8390-B6576706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010025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复核路由与提交条件，限制循环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5BFD6-4B79-45B4-9993-003B382C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24375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E13F4A-F6C6-45E0-860B-804BEE99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7200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clarify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0E0DE1-7B25-4E09-9831-752E1DFF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572000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返回缺失、冲突或模板选择提示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144CC6-1C40-4FCD-AA21-674526F5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8635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2AFD60-8830-4537-817F-594CBE34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339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general_chat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327E9D-63C9-4B1F-B68F-59C19E70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133975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处理非审批问题并保留审批上下文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CB5BC-7EDB-4009-9E79-16B4D68F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48325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5AA915-5D93-4A2B-82FB-2EF08626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95950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resume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F48619-05C5-478D-A485-26C3C4CD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695950"/>
            <a:ext cx="1990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提示当前等待项，帮助继续审批</a:t>
            </a:r>
          </a:p>
        </p:txBody>
      </p:sp>
    </p:spTree>
    <p:extLst>
      <p:ext uri="{BB962C8B-B14F-4D97-AF65-F5344CB8AC3E}">
        <p14:creationId xmlns:p14="http://schemas.microsoft.com/office/powerpoint/2010/main" val="8529560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3DFAB9-229F-46E5-90B6-191E26D0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A83E8-BBEA-4A11-9159-7656BB98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审批子图：字段、审批人与安全提交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A09E1-6D61-4FF3-B233-36627D49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 · 2/2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8971E-C002-45D6-BB8A-BE96DCFE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9F610-E908-41C1-AB81-3DA408C0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4e233041540ff"/>
          <a:stretch xmlns:a="http://schemas.openxmlformats.org/drawingml/2006/main"/>
        </p:blipFill>
        <p:spPr>
          <a:xfrm xmlns:a="http://schemas.openxmlformats.org/drawingml/2006/main">
            <a:off x="552450" y="2111938"/>
            <a:ext cx="6400800" cy="337707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D326C-5B3D-4D00-A088-B32176CC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39E1F-D18D-44E9-B2D1-87F85C7D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节点职责：业务执行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A28A2-27CA-4064-AD94-1CB27175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0BD8B-FC62-4B14-84CB-5ADA1659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C9E80-13D6-46F8-8AA6-03B6EEBF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62125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收集动态字段，缺失时继续追问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D8BD1-4174-4769-98D6-D22FDF58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56757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B47FC-7F29-4B2A-864C-05FA98D8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04382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94D60-9C86-40F8-9A9D-53F2FE49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04382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按 ERP 或模板规则校验字段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B1ECE-242D-470C-BC50-8B8102B2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9014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0D4B3-CE95-44C6-8D6F-BB888E77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46639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assignee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5FC22-FE2F-4F96-89A3-54370E29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46639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获取审批节点，必要时选择审批人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52E0A-BBA8-4B3D-BCDA-321F1634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41271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1D611-B881-42B6-B6F0-8F63DCD9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88896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preview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98E81B-F5DC-49F7-B4DF-B1FEA384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688896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生成完整预览，等待明确确认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F74FA-9DB3-4088-B719-10D0A7AA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83529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CC526B-968A-40E5-8C9C-EBC478F8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31154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submit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8A6CD-577D-4B12-97EC-26798CA2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331154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确认守卫通过后正式提交 ERP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F2E226-CE64-45A0-B74F-9903F1A8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25786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5674ED-A682-4424-9354-7F998EFC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73411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already_submitted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4BB6BD-3AB1-41EA-8546-9F322606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73411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返回原提交结果，防止重复提交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7D3A5E-5DAD-4388-A985-052E764E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68043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F74CF4-950D-4A35-96A7-E93E0543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15668"/>
            <a:ext cx="19526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cancel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AE63A2-19F6-469D-92EB-91DCDA7F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615668"/>
            <a:ext cx="1990725" cy="575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取消申请并重置审批状态</a:t>
            </a:r>
          </a:p>
        </p:txBody>
      </p:sp>
    </p:spTree>
    <p:extLst>
      <p:ext uri="{BB962C8B-B14F-4D97-AF65-F5344CB8AC3E}">
        <p14:creationId xmlns:p14="http://schemas.microsoft.com/office/powerpoint/2010/main" val="565906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68BEC6-3233-496B-AA6A-20925976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61468-7E6B-44BC-92BA-F6EB3BD8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标准日报子图：准备上下文与收集信息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16579-E3B6-4888-9850-83107105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 ·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5AEFD-DE57-4C82-9B92-BB2D6A09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266D3-09F4-4F22-B733-F4D8927C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645e578254210"/>
          <a:stretch xmlns:a="http://schemas.openxmlformats.org/drawingml/2006/main"/>
        </p:blipFill>
        <p:spPr>
          <a:xfrm xmlns:a="http://schemas.openxmlformats.org/drawingml/2006/main">
            <a:off x="552450" y="1853840"/>
            <a:ext cx="6400800" cy="389327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B1935-B595-4727-9E5F-5778CE6C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C3112-A81F-44A6-A07A-13E43BFC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节点职责：准备与编辑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5A19C-9E13-42FD-A18D-E2061C02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A66A9-DE90-451F-81F2-E8B61ED3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9698F-BC50-48CA-8ADC-E8427DE1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621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进入日报子图 / 本轮处理结束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BD1A3-234A-4CEA-A6D9-9D9070BC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638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AD3EA-9379-401B-B78F-07FB111E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114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daily_report_entry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33275-B382-4FF7-AA5F-DB2DCFCD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114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初始化标准日报模式和会话状态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5DBB8-5245-46A1-A443-7E5758CF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131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EC865-153E-4AE6-9F7B-F45A8A92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607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daily_report_action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8349A-783A-4402-8906-4506123A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607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判断加载、补内容、改日期或提交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C2925-1AE0-48F3-B795-D7600940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624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8444F-87DF-4FB9-BC76-3E7DB49D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00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load_daily_report_context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06D34-6699-4885-8804-E988042E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100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加载字段、配置、草稿和同步数据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2EE7C-B25B-4440-BD71-ADC42762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117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E46736-B896-4B90-8D3F-E5A92948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593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collect_daily_report_content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D8B21-2606-4B0F-9F21-2110D41D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593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收集或修改日报工作内容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35D307-F27D-4AF8-870A-0F69FD1C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6100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CD7F64-028C-411C-ADB2-78414722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08625"/>
            <a:ext cx="209550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collect_daily_report_date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5FDF58-12FB-4631-BE02-5C07732C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508625"/>
            <a:ext cx="1847850" cy="68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收集日期并重载当天上下文</a:t>
            </a:r>
          </a:p>
        </p:txBody>
      </p:sp>
    </p:spTree>
    <p:extLst>
      <p:ext uri="{BB962C8B-B14F-4D97-AF65-F5344CB8AC3E}">
        <p14:creationId xmlns:p14="http://schemas.microsoft.com/office/powerpoint/2010/main" val="180749688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A2A2D9-1804-453C-9B8A-7B89A0FB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73A22-B40D-46EC-B211-75FDB7CA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标准日报子图：草稿、预览与提交恢复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23BFE-4D07-4A40-A691-145E10B3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 · 2/2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D01C4-3474-4FB3-9045-3CF3578C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6499E-CD6F-4266-8D57-08E03399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6667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c0a5d6c9e4520"/>
          <a:stretch xmlns:a="http://schemas.openxmlformats.org/drawingml/2006/main"/>
        </p:blipFill>
        <p:spPr>
          <a:xfrm xmlns:a="http://schemas.openxmlformats.org/drawingml/2006/main">
            <a:off x="552450" y="1853840"/>
            <a:ext cx="6400800" cy="389327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95691-775A-4AD6-A3E9-0DD9BBC2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4457700" cy="49720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75770-CE88-4538-AC38-F2F67F2A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287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节点职责：写入与恢复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E49AC-C797-49EB-AED3-ED90964E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14500"/>
            <a:ext cx="14288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443BA-C081-48C0-B82E-0245287A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6212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save_daily_report_draft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E2F8C-AF3B-4FBA-80F1-93B70B6C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6212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将完整 payload 保存为 ERP 草稿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C5348-9149-4D86-B707-5244C0FE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1366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29B8E-E761-4230-95E9-C9120D33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6128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preview_daily_report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AF260-95FF-470B-8947-BF493789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6128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生成预览以及确认、修改、取消动作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ECDFB5-058B-4E45-A34D-A582A4D4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1282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E3F6B-3480-4B2D-86F7-B79AA1F2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044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submit_daily_report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936AF-2886-4F33-8D57-889BC63E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6044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明确确认后提交；失败时保留编辑态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98CDE-B24E-4CCC-A3A9-A17A5263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1198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858B45-63DE-4D99-BE04-F4E6C3FE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45960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cancel_daily_report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736D60-6E03-4632-81F5-36100DC9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5960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取消提交并回到日报内容编辑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75E2F-3902-4D16-8D1D-9A35B50F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1114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94ED51-4EFD-4C00-829E-DBB3D58B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58765"/>
            <a:ext cx="217170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interrupt_daily_report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35A19F-C2A2-4A95-88A9-75EBBDD7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58765"/>
            <a:ext cx="1771650" cy="832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暂停等待输入，resume 后继续路由</a:t>
            </a:r>
          </a:p>
        </p:txBody>
      </p:sp>
    </p:spTree>
    <p:extLst>
      <p:ext uri="{BB962C8B-B14F-4D97-AF65-F5344CB8AC3E}">
        <p14:creationId xmlns:p14="http://schemas.microsoft.com/office/powerpoint/2010/main" val="195309368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88D31D-A27A-4E3F-832D-0556EC1B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2214D-CABD-45AA-B10A-BB888239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附录：Agentic Workflow 子图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1BB4F-C495-487A-9B01-1842485F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AGENTIC WORKFLOW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288AB-012E-4F43-92BD-45F76641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56A90-5A45-4F12-818F-125097D8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5143500" cy="4819650"/>
          </a:xfrm>
          <a:prstGeom xmlns:a="http://schemas.openxmlformats.org/drawingml/2006/main" prst="roundRect">
            <a:avLst>
              <a:gd name="adj" fmla="val 3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79ac527e694f99"/>
          <a:stretch xmlns:a="http://schemas.openxmlformats.org/drawingml/2006/main"/>
        </p:blipFill>
        <p:spPr>
          <a:xfrm xmlns:a="http://schemas.openxmlformats.org/drawingml/2006/main">
            <a:off x="792313" y="1524000"/>
            <a:ext cx="4587573" cy="4552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F46D9-4DD2-4965-BC27-7F75DC85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352550"/>
            <a:ext cx="5867400" cy="4933950"/>
          </a:xfrm>
          <a:prstGeom xmlns:a="http://schemas.openxmlformats.org/drawingml/2006/main" prst="roundRect">
            <a:avLst>
              <a:gd name="adj" fmla="val 3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B7A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748FC-B264-466E-A69A-242814AF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66850"/>
            <a:ext cx="556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节点职责（与代码对应）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CB499-33F9-4127-87F4-14542A2B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752600"/>
            <a:ext cx="14288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74D11-2ADF-47F1-8697-01D6546E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0225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FC3F8-58A0-4C78-8914-7673D47C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800225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进入演示子图 / 本轮处理结束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72611-6CDE-46F3-9E11-596992BD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09813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DBC84-1AD4-4324-B999-B4338035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57438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demo_agent_plan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F73A7-D177-407F-BD92-51CD4464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57438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理解目标、抽取日期与内容，提出下一步建议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53C7A-7CE1-4C20-90FE-7B5089C2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670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B3E02B-5396-4304-A607-05EC37B0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14650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demo_confirm_date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00D86-4D31-4DA4-9ADC-83715E06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14650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将相对日期转成 ERP 可用的明确日期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38BB23-10C3-4C3E-82FA-47857163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24238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298D94-D546-4F1F-888D-86C956F2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71863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demo_load_context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BDD03-03EE-4681-9AF0-40A9D172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71863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加载 ERP 默认 payload、草稿和同步数据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988CE-77F5-4258-8013-6FC0297F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81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BA940E-2C70-4008-B334-306082B7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29075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demo_agent_compose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F120B-812D-4D25-93A3-2719D79D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029075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根据计划与上下文生成正文，只修改内容字段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548C23-7C2D-41A0-9CA4-FDC2585B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38663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3AED3D-5DD9-42E1-B6DF-AD0256A0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86288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demo_save_draft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07ECAB-DEEE-4D70-AEE8-EE440888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586288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由 Workflow 执行草稿写入，不让 Agent 直写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D6DCC0-B78D-430E-BB2F-3C2A45E2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95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7699A6-391C-44B1-896E-44A45644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43500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demo_preview_gate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2E5C2B-DC9A-4C80-A7EE-3DE3387A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143500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生成预览并暂停，等待用户确认或修改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CA75E4-786F-41FD-A2B9-9EC04830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653088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AE4"/>
          </a:solidFill>
          <a:ln xmlns:a="http://schemas.openxmlformats.org/drawingml/2006/main" w="0">
            <a:solidFill>
              <a:srgbClr val="EFEA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CADB7A-11BB-4CBE-B364-3F952AEE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00713"/>
            <a:ext cx="19526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demo_submit_gate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035919-3B90-4EB3-9FC1-CC06368E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700713"/>
            <a:ext cx="3400425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校验预览状态与明确确认后才允许提交</a:t>
            </a:r>
          </a:p>
        </p:txBody>
      </p:sp>
    </p:spTree>
    <p:extLst>
      <p:ext uri="{BB962C8B-B14F-4D97-AF65-F5344CB8AC3E}">
        <p14:creationId xmlns:p14="http://schemas.microsoft.com/office/powerpoint/2010/main" val="168584907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99192F-20FB-422D-A7FC-DFE55423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4BE65-AF74-4EAD-939B-66D5925F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企业级 RAG：连接 ERP 知识、权限与业务上下文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6E11D-F4E7-4193-BD7C-8BC9AE80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ARCHITECTURE 1/3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04C5F-E1AB-40A9-8234-E517D7BE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790E4-B8AA-4FF8-8CA2-6B50E162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38275"/>
            <a:ext cx="108013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859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1E4AC-ACDB-4B6A-90C7-90734F8F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70FFB-A794-4E4D-B487-5AB6A79E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93483-8155-4737-8E50-EB49D1A7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1925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知识源治理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551D4-BFB1-4331-A13E-88957DE8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59067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制度 · SOP · 操作手册 · FAQ · ERP 字段说明与审批规则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9A30B-D2F4-422C-8746-F14C4CA3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71675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版本、更新时间、责任人、原文位置必须可追溯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260F3-39BF-407D-AF82-2DE6BF42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28875"/>
            <a:ext cx="523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96FD2-7F26-42B2-A84D-EAC5DE85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108013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859">
            <a:solidFill>
              <a:srgbClr val="BF73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34D31-1910-4B9B-A3CF-22CBB26D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88148-236C-4887-A330-E98D98C4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562BC-ECF3-4DB9-B261-9A6DE6D6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0035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F7326"/>
                </a:solidFill>
              </a:defRPr>
            </a:pPr>
            <a:r>
              <a:rPr sz="1800" b="1">
                <a:solidFill>
                  <a:srgbClr val="BF7326"/>
                </a:solidFill>
              </a:rPr>
              <a:t>检索与安全底座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908AE2-2635-4223-A958-8CE6ABE3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77177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Milvus Dense + BM25 混合检索 · RRF / Weighted 融合 · Reranker 精排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39D4E-F117-42C3-81B9-5576B2F9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52775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tenant / company / department / ACL 在检索服务层强制过滤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5F591D-64C9-4F50-865C-0F238CA9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09975"/>
            <a:ext cx="523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5B307-9CC2-4E1F-8A86-51ED5F49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00475"/>
            <a:ext cx="108013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859">
            <a:solidFill>
              <a:srgbClr val="3E75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287CAA-4197-40F1-8D17-AA469EB5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FDDA8-87C3-4EF3-840D-EF011FF9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4A649-57C8-45D7-B048-F3C73D16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E7551"/>
                </a:solidFill>
              </a:defRPr>
            </a:pPr>
            <a:r>
              <a:rPr sz="1800" b="1">
                <a:solidFill>
                  <a:srgbClr val="3E7551"/>
                </a:solidFill>
              </a:rPr>
              <a:t>ERP 业务协同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26700-2CD0-4A5F-B088-E97B9197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95287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RAG 回答规则 · ERP Tool 查询实时数据 · LangGraph 控制下一步动作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02880-89A3-4DE0-A4D9-66CA2049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333875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预览、人工确认、正式提交和审计仍由业务流程负责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F3E5B-DB6F-48BF-883A-0D5ACC52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7823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D5170E-4EB3-47CA-8991-34EC4BA3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0200"/>
            <a:ext cx="1019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企业级 RAG 的核心不是“模型知道更多”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80DFFB-9918-4DE4-B1D7-64E326FD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81675"/>
            <a:ext cx="1019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2E7EA"/>
                </a:solidFill>
              </a:defRPr>
            </a:pPr>
            <a:r>
              <a:rPr sz="1500" b="0">
                <a:solidFill>
                  <a:srgbClr val="F2E7EA"/>
                </a:solidFill>
              </a:rPr>
              <a:t>而是知识有治理、检索有权限、回答有证据、执行有边界</a:t>
            </a:r>
          </a:p>
        </p:txBody>
      </p:sp>
    </p:spTree>
    <p:extLst>
      <p:ext uri="{BB962C8B-B14F-4D97-AF65-F5344CB8AC3E}">
        <p14:creationId xmlns:p14="http://schemas.microsoft.com/office/powerpoint/2010/main" val="192694624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1FD37B-E7DC-4245-99A9-14C32B86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68EA3-7521-4B97-A85E-2F708180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Milvus：承载企业级混合检索与多租户隔离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6ED62-194A-415A-90BF-3B5C367A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MILVUS 2/3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6C07A-B091-4A15-82C2-974D0A7C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A1CD2-0F31-4C4C-9B47-FE30C6FB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4133850" cy="3762375"/>
          </a:xfrm>
          <a:prstGeom xmlns:a="http://schemas.openxmlformats.org/drawingml/2006/main" prst="roundRect">
            <a:avLst>
              <a:gd name="adj" fmla="val 5823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335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8F32F-D6EE-438B-9432-0C9CCA0C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6764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Collection 数据结构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3160C-A75C-4F7D-AC85-0B79385E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1526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4364A"/>
                </a:solidFill>
              </a:defRPr>
            </a:pPr>
            <a:r>
              <a:rPr sz="1200" b="1">
                <a:solidFill>
                  <a:srgbClr val="74364A"/>
                </a:solidFill>
              </a:rPr>
              <a:t>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1ECEB-B92E-4CA2-8FB7-993583AE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526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Chunk 原文，支持引用与 BM25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9E1FA-31A9-4173-B472-14654737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241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315B7-07B1-447A-AA66-8AF01B29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098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4364A"/>
                </a:solidFill>
              </a:defRPr>
            </a:pPr>
            <a:r>
              <a:rPr sz="1200" b="1">
                <a:solidFill>
                  <a:srgbClr val="74364A"/>
                </a:solidFill>
              </a:rPr>
              <a:t>dense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56F06-FA72-4140-9C0E-BFF02283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098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语义向量：同义表达与自然语言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0B97D-1A0F-4E71-AEE7-6C2C8EC1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8365D-8CB2-4389-B661-C11AF306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670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4364A"/>
                </a:solidFill>
              </a:defRPr>
            </a:pPr>
            <a:r>
              <a:rPr sz="1200" b="1">
                <a:solidFill>
                  <a:srgbClr val="74364A"/>
                </a:solidFill>
              </a:rPr>
              <a:t>sparse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72D73-ED9D-480A-B3CF-F23680F6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670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BM25：制度号、单据号、产品编码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46E74-4223-4B0D-8A80-ACFFD786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385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3D4B5-6E6F-44B2-B477-E13490CA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242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F7326"/>
                </a:solidFill>
              </a:defRPr>
            </a:pPr>
            <a:r>
              <a:rPr sz="1200" b="1">
                <a:solidFill>
                  <a:srgbClr val="BF7326"/>
                </a:solidFill>
              </a:rPr>
              <a:t>来源 / 页码 / 标题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1D6F7-5C28-4AFD-B0B9-9D587D57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242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原文来源、页码与标题路径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0782D-8F21-4B6A-8896-D3455D7A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957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BE291-88FD-4484-9939-AEBFE3BA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9814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F7326"/>
                </a:solidFill>
              </a:defRPr>
            </a:pPr>
            <a:r>
              <a:rPr sz="1200" b="1">
                <a:solidFill>
                  <a:srgbClr val="BF7326"/>
                </a:solidFill>
              </a:rPr>
              <a:t>租户 / 公司 / 部门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6EC29F-7FE1-464B-8D47-6AA16A45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814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多租户和组织权限隔离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40217E-EB41-4C94-BBB3-AD17932F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529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739188-E9FF-463B-B98F-D740A8B2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3865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F7326"/>
                </a:solidFill>
              </a:defRPr>
            </a:pPr>
            <a:r>
              <a:rPr sz="1200" b="1">
                <a:solidFill>
                  <a:srgbClr val="BF7326"/>
                </a:solidFill>
              </a:rPr>
              <a:t>ACL / 版本 / 更新时间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D7A0D-7AAB-4FE3-AE3E-B7D0BFEE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38650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权限、版本与增量更新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66023-E3E8-4AAB-95F0-6834C3D1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382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在线查询链路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756321-F6C3-468C-8EB3-77817AA1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43150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E2B455-3999-4D51-8A07-6D2F5B18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95475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0954">
            <a:solidFill>
              <a:srgbClr val="7436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A0B937-A8A1-4009-B09F-A011AFF6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00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用户问题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D3EB5A-C72C-4165-9ECF-C1CCF605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意图、关键词与当前身份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4FEAB0-A34C-475B-8A1D-3E1BC849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886075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2BBBEC-B57E-41B5-A7B6-0A3CD58E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38400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0954">
            <a:solidFill>
              <a:srgbClr val="B448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AFAC56-7D31-44C0-AB20-7B26D5DB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431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44842"/>
                </a:solidFill>
              </a:defRPr>
            </a:pPr>
            <a:r>
              <a:rPr sz="1350" b="1">
                <a:solidFill>
                  <a:srgbClr val="B44842"/>
                </a:solidFill>
              </a:rPr>
              <a:t>强制权限过滤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26E04B-F181-4468-A404-57315B8B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43175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tenant + company + department + ACL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8B24EC-A982-4BEC-8F8F-29F07218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29000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434363-2CBD-4A5C-AD58-8E57C45C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81325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0954">
            <a:solidFill>
              <a:srgbClr val="BF73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BB2171-7439-415C-9B24-0C0A1FCD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86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Dense + BM25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86120B-7D55-4C6A-8DCE-DC653977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语义召回与精确召回并行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25951F-F249-4616-AF70-E4723738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71925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02133E-6245-44F2-89B1-66E53FA7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0954">
            <a:solidFill>
              <a:srgbClr val="7436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321068-1F9B-4149-AA60-830F9524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2902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RRF / Weighted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3F994E-BB89-4F4D-AD3C-F12216B3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29025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融合不同检索结果的排名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B6B4-0FC3-4C33-AE31-A41B96D7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514850"/>
            <a:ext cx="4191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B0BC47-B3E9-425C-9047-BE1F4238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67175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0954">
            <a:solidFill>
              <a:srgbClr val="3E755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C46B9E-0E42-4380-B223-D8198B87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71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Reranker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3885EC-A532-43BA-B5BC-1BE5CA00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71950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精排 Top-K，过滤高相似噪声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AE45B7-6AC1-4CF0-9D9F-2AB49012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10100"/>
            <a:ext cx="62865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0954">
            <a:solidFill>
              <a:srgbClr val="3E755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D635AF-B813-4444-8D66-6D9D4CB1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14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来源证据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BE22AD-BDAF-4C80-8D77-DB4BEA90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14875"/>
            <a:ext cx="3838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返回文档、章节、版本与原文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6A6E91-A8A1-496D-A2D8-E46CF423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801350" cy="866775"/>
          </a:xfrm>
          <a:prstGeom xmlns:a="http://schemas.openxmlformats.org/drawingml/2006/main" prst="roundRect">
            <a:avLst>
              <a:gd name="adj" fmla="val 1758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1430">
            <a:solidFill>
              <a:srgbClr val="BF732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39DC2D-4ED4-4A72-A4A0-73FDBFD3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56260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部署选择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812814-1C7F-445E-8972-EB4F9C65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562600"/>
            <a:ext cx="2000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Lite：学习 / Demo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5C33C0-FC35-4A1E-A27F-8F578FBD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562600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Standalone：单机试点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221BA3-2284-460E-B4F3-3E7E7BCE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4229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Distributed / Cloud：规模化、高可用、并发与弹性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2E2AE4-CFC9-467C-839B-8C1DCE9C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905500"/>
            <a:ext cx="10163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ERP 同时存在语义问题与精确编号：Dense + BM25 比单路向量检索更合适</a:t>
            </a:r>
          </a:p>
        </p:txBody>
      </p:sp>
    </p:spTree>
    <p:extLst>
      <p:ext uri="{BB962C8B-B14F-4D97-AF65-F5344CB8AC3E}">
        <p14:creationId xmlns:p14="http://schemas.microsoft.com/office/powerpoint/2010/main" val="48185269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E1D927-0E51-4EF7-B633-2573BDA3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96787-2152-446C-9A95-DD82CC05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企业选型：先建立 Milvus RAG 基线，再验证图检索增益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D6A31-5866-4F8E-BE3D-C16CB2E6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SELECTION 3/3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72A38-B3FD-444A-B913-B5BDAF09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A7F3C-CBE0-4F86-904D-BFDDFBF6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352800" cy="34671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811">
            <a:solidFill>
              <a:srgbClr val="3E755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CCCF8-7A0F-450E-BAA8-202A06FE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240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Milvus 混合 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613CD-BB51-469D-BFB4-898064ED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52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ERP 第一阶段首选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E8A3A-6CED-42A5-BA03-533D684F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437A03-7339-4797-9E0C-11D1B026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适合：制度、FAQ、字段说明、操作手册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1E246-2E30-4E63-BE31-D328B5B2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31AF1-EE97-4089-9018-07CB74E7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992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优势：稳定、成本可控、增量更新简单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5081F-E08C-42C5-BA8B-70CBEF58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6ABB1-BA9B-4E49-A70E-29D02C68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局限：不显式建模跨文档复杂关系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E99E2-29CC-4669-B57D-B4104166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3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8170C-0E5A-43C2-AB52-FF4B41D1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5767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重点：权限、混合检索、来源与评测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B01BD-3D53-4ABE-A504-7AE668D3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66850"/>
            <a:ext cx="3352800" cy="34671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811">
            <a:solidFill>
              <a:srgbClr val="7436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E1982-0E6E-471F-B69B-8CBDA3E7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240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Microsoft GraphRAG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4A204-C60F-43F0-86BE-834C9A48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复杂关系专项验证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2B85AF-33BE-45B3-A883-EA3A60CD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99DD2-E14E-4F47-8C98-3EEE4535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8605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适合：跨文档多跳、全局主题与风险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2B4B1-71EE-4905-8F42-7A5A7DC0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FD7D0-8668-4CCD-B066-4E93948F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0992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优势：实体关系、社区发现、全局检索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5D056-46B8-4503-9B22-6C67414E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4E696F-7242-456A-8471-BA557979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3380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代价：索引成本高，实体消歧与更新复杂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C56B4B-377B-46B6-BDFA-950CF188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33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7DD285-AF04-4834-A83B-71184F09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5767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风险：权限需传播到实体、关系和社区报告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9AD9C4-47FF-40CD-8AD1-2184FB5B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66850"/>
            <a:ext cx="3352800" cy="34671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811">
            <a:solidFill>
              <a:srgbClr val="BF73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4E0EA7-7683-4889-8C9D-D9095D6B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724025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LightRAG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D01A40-32E1-47EC-A2E5-0B6434CB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526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第二阶段轻量试验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DA13AE-EF2E-489D-A977-EBAD4BF8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CBBE49-D076-403D-B906-B400E3A3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8605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适合：图关系能力与持续增量知识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A0E552-0001-41C6-BF3C-048695E0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86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95EC97-DCA9-47D6-9A01-36D19B52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0992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优势：图召回与向量召回融合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9AA189-0BA1-4A64-8A8C-C18F84E5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0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E4700E-D54F-4522-8A7C-42A0ED3C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代价：仍需实体抽取、消歧和图存储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44C1A2-602F-43C5-A1BE-2FF6BF8B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3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E64E17-2271-440D-A300-3EBD5A32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57675"/>
            <a:ext cx="2543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原则：Light 不代表没有索引成本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C267B4-829B-4F07-AA2F-20FDD3B7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340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921B6E-42F2-4ED6-8F6C-CAD5440A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3528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1430">
            <a:solidFill>
              <a:srgbClr val="3E755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3E383E-F8F5-4CB9-977F-6959FEFE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81625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阶段 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B22B0B-3043-4E26-88D5-3B7D9824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05475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Milvus 混合 RAG + 权限 + 固定评测集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BC9D3C-8017-4212-ADC4-6651E1C2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34025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067423-E53A-4768-9AA5-0B30939D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19700"/>
            <a:ext cx="33528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1430">
            <a:solidFill>
              <a:srgbClr val="7436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0B732C-819A-473C-900E-2DB1F351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381625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阶段 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5C00E7-644F-46C4-BBCF-856A1615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705475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选择多跳 / 全局问题验证图 RAG 价值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35ACDD-9DBC-43A1-B6D6-504062FE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19700"/>
            <a:ext cx="33528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1430">
            <a:solidFill>
              <a:srgbClr val="BF732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486195-C760-486A-81F8-D930BB18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381625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阶段 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C81950-419A-4528-9A9D-1596769E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705475"/>
            <a:ext cx="2990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同数据同模型比较质量、成本、P95 与增量更新</a:t>
            </a:r>
          </a:p>
        </p:txBody>
      </p:sp>
    </p:spTree>
    <p:extLst>
      <p:ext uri="{BB962C8B-B14F-4D97-AF65-F5344CB8AC3E}">
        <p14:creationId xmlns:p14="http://schemas.microsoft.com/office/powerpoint/2010/main" val="21125728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72B5D5-4473-453E-8439-56608F8C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0A06A-2B75-432E-9088-47028DA0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RAG × ERP：三层协作，让自然语言进入业务流程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F1C31-2311-43D3-B2F0-9ED7E00C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ERP COLLABORATION 1/4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059C3-FEAC-43D2-B95A-0AF2C867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0A9D4-3A32-4F47-8075-5CAE9ABE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0990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4B7C0-9746-4196-9CF4-195A973A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276600" cy="3143250"/>
          </a:xfrm>
          <a:prstGeom xmlns:a="http://schemas.openxmlformats.org/drawingml/2006/main" prst="roundRect">
            <a:avLst>
              <a:gd name="adj" fmla="val 6970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811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A84D1-D0B5-4918-8A6C-534B714B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RAG 知识层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58788-DD8C-4469-B3C7-CD105AF2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回答：规则是什么？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99A88-364B-44AF-9AEF-8B2BD03D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EFC3B-3D87-4D86-A0AF-11175149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87655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制度、SOP、FAQ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D9A23-36EF-4111-8002-417585AF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14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95E00-DDA3-4C79-895A-4CAD9F85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438525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字段与审批规则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711AC-1EC6-40D8-B429-E3C2F352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E91D7-720B-4368-B7FD-8A8932D5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0050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返回来源、版本与原文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807E9-65F7-410C-A954-64BE478E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9900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70793-34ED-48BC-B20F-5E1B38D5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71625"/>
            <a:ext cx="3276600" cy="3143250"/>
          </a:xfrm>
          <a:prstGeom xmlns:a="http://schemas.openxmlformats.org/drawingml/2006/main" prst="roundRect">
            <a:avLst>
              <a:gd name="adj" fmla="val 6970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811">
            <a:solidFill>
              <a:srgbClr val="BF7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DDA014-A2FB-4A4C-8EB6-8003B053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478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ERP Tool 实时层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CB1C9-E023-4B08-BF8B-085D32F3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8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回答：现在是什么？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030151-5D87-48CE-93AC-230EF6D9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52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D72C22-F34B-46FC-9FF7-67D5C159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87655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当前用户与权限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DEDA3-03FA-4575-A655-CFA682E7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14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BB2D3-8CC0-49A9-A123-7463C86C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438525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审批模板与实时状态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EE96B-D44E-4071-9482-75F7B837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66B6AB-5C3C-4D37-9D09-3DF89032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0050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订单、库存、客户数据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C73F13-07DA-4920-AF70-07BFDB9C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276600" cy="3143250"/>
          </a:xfrm>
          <a:prstGeom xmlns:a="http://schemas.openxmlformats.org/drawingml/2006/main" prst="roundRect">
            <a:avLst>
              <a:gd name="adj" fmla="val 697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811">
            <a:solidFill>
              <a:srgbClr val="3E75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F75D26-DB10-4358-9200-E07CFDE5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LangGraph 执行层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CDE9DC-9CAE-424F-A5FE-2417B224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8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决定：下一步做什么？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99AD7C-17D2-4BC3-B2EE-8E5FA7FA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52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022166-9A34-4705-9F2C-3E59B13D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7655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判断调用 RAG 还是 Tool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1A7550-FEC0-44F4-8FE5-BD03E4C7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14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4AA0E7-49A9-4EF5-A1FC-F7240976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438525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追问、校验、预览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7B7D0A-B907-4398-BA15-D3F011B1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3877F3-37BF-4CEB-A252-A39CC357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00500"/>
            <a:ext cx="2447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确认、提交与审计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87211E-C64B-4920-9387-5CCC77EE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50D214-DF6D-4FE8-A4D7-90C8BC32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343525"/>
            <a:ext cx="1022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三个边界，避免“所有能力都塞进一个 Prompt”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69028F-10E6-4727-99C3-93A4030A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762625"/>
            <a:ext cx="10229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2E7EA"/>
                </a:solidFill>
              </a:defRPr>
            </a:pPr>
            <a:r>
              <a:rPr sz="1350" b="0">
                <a:solidFill>
                  <a:srgbClr val="F2E7EA"/>
                </a:solidFill>
              </a:rPr>
              <a:t>RAG 管知识 · ERP Tool 管实时事实 · LangGraph 管流程、状态和写入</a:t>
            </a:r>
          </a:p>
        </p:txBody>
      </p:sp>
    </p:spTree>
    <p:extLst>
      <p:ext uri="{BB962C8B-B14F-4D97-AF65-F5344CB8AC3E}">
        <p14:creationId xmlns:p14="http://schemas.microsoft.com/office/powerpoint/2010/main" val="16847954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A0FF9F-3088-4C2D-BE6F-AE2B93C7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B08CA-3832-442A-A4A5-491CF92C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怎么搜索出想要的内容？一条企业级检索链路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5E2EC-63F4-4BDD-AE67-A63B52FC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SEARCH PATH 2/4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EE9C9-DDEE-476F-A8BD-965EE957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3368F-7F9E-4316-BD98-710BF6ED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253A7-49C5-4221-B1C4-DD849E25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23556-5979-45EB-AF64-35815296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E2253-74F3-4D0A-BCCA-69FBF654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FE0E6-F7C1-4FC2-815C-BB4EB467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用户问题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84E86-E721-46A6-A0A6-CE47DF5D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自然语言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带上下文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330B0-2F6E-4485-9E94-868617C7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4E679-570D-4D18-A2ED-1C954FA4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AF2F9-1F8F-4885-9BF8-C7B8C1BA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E9B45-C17A-40BC-9564-CFB14D07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06048-7913-46AA-BF1D-983BD7FC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问题拆解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FDD39-FACD-4A85-A49B-85C77471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业务类型 · 公司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部门 · 时间 · 关键词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97BD8-677F-4A3F-93CE-717E142B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171E5-7D8B-4485-902E-5FDD5792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2383">
            <a:solidFill>
              <a:srgbClr val="B448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A00CB-A0BD-4264-AE9D-4D4E010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842"/>
          </a:solidFill>
          <a:ln xmlns:a="http://schemas.openxmlformats.org/drawingml/2006/main" w="0">
            <a:solidFill>
              <a:srgbClr val="B448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2CC1B0-0E71-4A71-908B-AD08EE9D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50AB0-7060-4CD2-BF0C-C0228484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44842"/>
                </a:solidFill>
              </a:defRPr>
            </a:pPr>
            <a:r>
              <a:rPr sz="1350" b="1">
                <a:solidFill>
                  <a:srgbClr val="B44842"/>
                </a:solidFill>
              </a:rPr>
              <a:t>权限过滤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A156B1-A385-49C2-98C5-B11ED50A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tenant / company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department / ACL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CACA3D-FC4E-4996-AD48-A7351FEC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60055-4A28-439E-979E-2E468BAE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0E22CF-7935-49C1-B709-1A9DB387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28FBA-EE60-42B8-8156-C745AA39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AE86BA-6668-49B1-A2C2-157857F1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混合召回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7F58FB-AB11-47DD-90A7-C3C200A0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Dense 语义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+ BM25 精确词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5705FA-D873-4420-9C99-138575C6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DB2C23-3E4F-4B98-BAB4-029ED4BE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2216BA-AFF3-442A-96DD-E784898D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CFEB87-92CF-4E92-9BF7-D4B09F65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114054-4456-4E0C-A85D-3CC22E10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融合与精排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571138-D8A5-4038-BA77-F48690F1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RRF / Weighted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+ Reranker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091FBA-98D9-49DF-8E9E-C24AEB9F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47A59A-18AD-485C-BEDE-10EFA347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CCF2DC-C56B-4D17-81A7-6E25138E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75C350-4409-44F1-AF2D-3927711A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证据回答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A263AB-0DE9-49EB-A116-D71B0AC4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来源 · 章节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版本 · 原文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D3B24A-D417-470A-85A6-148510E9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0522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为什么要两路检索？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0F637A-F8FF-4008-8767-E70E604C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3528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1906">
            <a:solidFill>
              <a:srgbClr val="3E755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05EBFD-14F5-4D68-B1AC-B6465741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343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E7551"/>
                </a:solidFill>
              </a:defRPr>
            </a:pPr>
            <a:r>
              <a:rPr sz="1425" b="1">
                <a:solidFill>
                  <a:srgbClr val="3E7551"/>
                </a:solidFill>
              </a:rPr>
              <a:t>Dense 向量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6C2547-E890-4E15-A689-CBD5817C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724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擅长同义表达和语义问题，例如“出差回来怎么报销”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3AA079-CB57-4E1E-A760-00F2F8C2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43375"/>
            <a:ext cx="33528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1906">
            <a:solidFill>
              <a:srgbClr val="BF732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80961F-39A8-4885-9EC3-CC5F2952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43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F7326"/>
                </a:solidFill>
              </a:defRPr>
            </a:pPr>
            <a:r>
              <a:rPr sz="1425" b="1">
                <a:solidFill>
                  <a:srgbClr val="BF7326"/>
                </a:solidFill>
              </a:rPr>
              <a:t>BM25 关键词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DE49FF-B238-4C95-B63A-BF56F2F5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724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擅长制度号、订单号、产品编码和字段名等精确匹配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D1DA18-6F5F-4911-9161-94B3CEBC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43375"/>
            <a:ext cx="33528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1906">
            <a:solidFill>
              <a:srgbClr val="B4484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091BFD-DED9-455D-8DD9-02A12EE8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343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4842"/>
                </a:solidFill>
              </a:defRPr>
            </a:pPr>
            <a:r>
              <a:rPr sz="1425" b="1">
                <a:solidFill>
                  <a:srgbClr val="B44842"/>
                </a:solidFill>
              </a:rPr>
              <a:t>找不到怎么办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6F50D6-E299-42B6-B688-0931A787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724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返回“当前权限范围内没有找到”，向用户追问范围，不编造答案</a:t>
            </a:r>
          </a:p>
        </p:txBody>
      </p:sp>
    </p:spTree>
    <p:extLst>
      <p:ext uri="{BB962C8B-B14F-4D97-AF65-F5344CB8AC3E}">
        <p14:creationId xmlns:p14="http://schemas.microsoft.com/office/powerpoint/2010/main" val="8395203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E14A95-78A5-4A53-A6B0-E434D68A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72F73-7D2B-4C37-8D6F-DC75EF81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三个 ERP 问题，三种处理方式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21506-25FC-40AA-82E0-D6056C4F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USE CASES 3/4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B7F7C-B70E-4A98-B963-D8FED3F6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1E03A-4F44-4791-AA50-47C344B6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33725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67D3D-175D-46A7-8A8A-9298263A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276600" cy="3295650"/>
          </a:xfrm>
          <a:prstGeom xmlns:a="http://schemas.openxmlformats.org/drawingml/2006/main" prst="roundRect">
            <a:avLst>
              <a:gd name="adj" fmla="val 6686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3811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58440-6BE8-4700-AA78-E7867101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1927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C3C70-A693-4095-BD96-722DBF4C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05050"/>
            <a:ext cx="280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82523"/>
                </a:solidFill>
              </a:defRPr>
            </a:pPr>
            <a:r>
              <a:rPr sz="1650" b="1">
                <a:solidFill>
                  <a:srgbClr val="282523"/>
                </a:solidFill>
              </a:rPr>
              <a:t>病假需要什么材料？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6E3B6-98E6-40A2-8B8F-652E0465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52775"/>
            <a:ext cx="25146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5382A-C621-48D4-9214-B0CB6115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2575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RAG 知识检索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F40C7-3AB5-40EB-BD6F-F4C86EDC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57625"/>
            <a:ext cx="274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检索当前有效制度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返回条款、版本和来源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4D0F6-2EF0-432D-9349-88BD2D0C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33725"/>
            <a:ext cx="361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6B83C-5355-4988-80DC-B089EA2F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71625"/>
            <a:ext cx="3276600" cy="3295650"/>
          </a:xfrm>
          <a:prstGeom xmlns:a="http://schemas.openxmlformats.org/drawingml/2006/main" prst="roundRect">
            <a:avLst>
              <a:gd name="adj" fmla="val 6686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3811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1C83A-D96A-4259-8C34-E02AE34B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81927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F7326"/>
                </a:solidFill>
              </a:defRPr>
            </a:pPr>
            <a:r>
              <a:rPr sz="1800" b="1">
                <a:solidFill>
                  <a:srgbClr val="BF7326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280FC-F8F5-43E5-B090-23004A0C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05050"/>
            <a:ext cx="280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82523"/>
                </a:solidFill>
              </a:defRPr>
            </a:pPr>
            <a:r>
              <a:rPr sz="1650" b="1">
                <a:solidFill>
                  <a:srgbClr val="282523"/>
                </a:solidFill>
              </a:rPr>
              <a:t>我的请假审批到谁了？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C95DB-EA1A-45F9-8282-EA6420B2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52775"/>
            <a:ext cx="25146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AB650-C85A-422B-9C5E-35C4379D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2575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ERP Tool 实时查询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F31B71-BCFD-4ACA-9525-05399164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57625"/>
            <a:ext cx="274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读取当前审批状态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返回节点、处理人和时间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6D0D2-48E9-4464-88CB-D0026A2D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71625"/>
            <a:ext cx="3276600" cy="3295650"/>
          </a:xfrm>
          <a:prstGeom xmlns:a="http://schemas.openxmlformats.org/drawingml/2006/main" prst="roundRect">
            <a:avLst>
              <a:gd name="adj" fmla="val 6686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3811">
            <a:solidFill>
              <a:srgbClr val="3E75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6455D-DD5E-4228-BCE1-75125592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19275"/>
            <a:ext cx="61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E7551"/>
                </a:solidFill>
              </a:defRPr>
            </a:pPr>
            <a:r>
              <a:rPr sz="1800" b="1">
                <a:solidFill>
                  <a:srgbClr val="3E7551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E7BB43-EEF4-4C8F-91D4-F2CA5413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05050"/>
            <a:ext cx="280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82523"/>
                </a:solidFill>
              </a:defRPr>
            </a:pPr>
            <a:r>
              <a:rPr sz="1650" b="1">
                <a:solidFill>
                  <a:srgbClr val="282523"/>
                </a:solidFill>
              </a:rPr>
              <a:t>帮我明天下午请半天事假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FE9B2-6A45-45FF-B36B-BEBCD8DD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52775"/>
            <a:ext cx="25146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C37460-B19D-4923-AC17-7B5919BB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575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RAG + Tool + LangGraph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95297E-EB11-44FD-82C7-2DCF1A6E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625"/>
            <a:ext cx="274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追问缺失字段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校验、预览、确认后提交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2A08DB-2C7E-4AD0-B983-2C99F98E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8204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D5AC5B-25FA-41AE-9E16-01FE27F2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505450"/>
            <a:ext cx="10267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用户少记菜单和字段，ERP 仍保留权限、规则与写入边界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8F87C2-0F38-4B60-96F4-85E10A85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867400"/>
            <a:ext cx="10267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2E7EA"/>
                </a:solidFill>
              </a:defRPr>
            </a:pPr>
            <a:r>
              <a:rPr sz="1350" b="0">
                <a:solidFill>
                  <a:srgbClr val="F2E7EA"/>
                </a:solidFill>
              </a:rPr>
              <a:t>AI 负责理解和交互，ERP 负责真实数据与可信执行</a:t>
            </a:r>
          </a:p>
        </p:txBody>
      </p:sp>
    </p:spTree>
    <p:extLst>
      <p:ext uri="{BB962C8B-B14F-4D97-AF65-F5344CB8AC3E}">
        <p14:creationId xmlns:p14="http://schemas.microsoft.com/office/powerpoint/2010/main" val="87410869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A0FF9F-3088-4C2D-BE6F-AE2B93C7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B08CA-3832-442A-A4A5-491CF92C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一次请求，如何从聊天走到 ERP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5E2EC-63F4-4BDD-AE67-A63B52FC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ENTERPRISE RAG · AGENT WORKFLOW 4/4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EE9C9-DDEE-476F-A8BD-965EE957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3368F-7F9E-4316-BD98-710BF6ED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253A7-49C5-4221-B1C4-DD849E25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23556-5979-45EB-AF64-35815296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E2253-74F3-4D0A-BCCA-69FBF654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FE0E6-F7C1-4FC2-815C-BB4EB467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用户提问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84E86-E721-46A6-A0A6-CE47DF5D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自然语言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表达业务目标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330B0-2F6E-4485-9E94-868617C7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4E679-570D-4D18-A2ED-1C954FA4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2383">
            <a:solidFill>
              <a:srgbClr val="BF73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AF2F9-1F8F-4885-9BF8-C7B8C1BA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7326"/>
          </a:solidFill>
          <a:ln xmlns:a="http://schemas.openxmlformats.org/drawingml/2006/main" w="0">
            <a:solidFill>
              <a:srgbClr val="BF73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E9B45-C17A-40BC-9564-CFB14D07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06048-7913-46AA-BF1D-983BD7FC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LLM 理解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FDD39-FACD-4A85-A49B-85C77471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识别意图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抽取业务字段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97BD8-677F-4A3F-93CE-717E142B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171E5-7D8B-4485-902E-5FDD5792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2383">
            <a:solidFill>
              <a:srgbClr val="B448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A00CB-A0BD-4264-AE9D-4D4E010B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842"/>
          </a:solidFill>
          <a:ln xmlns:a="http://schemas.openxmlformats.org/drawingml/2006/main" w="0">
            <a:solidFill>
              <a:srgbClr val="B448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2CC1B0-0E71-4A71-908B-AD08EE9D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50AB0-7060-4CD2-BF0C-C0228484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44842"/>
                </a:solidFill>
              </a:defRPr>
            </a:pPr>
            <a:r>
              <a:rPr sz="1350" b="1">
                <a:solidFill>
                  <a:srgbClr val="B44842"/>
                </a:solidFill>
              </a:rPr>
              <a:t>路由选择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A156B1-A385-49C2-98C5-B11ED50A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制度问答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实时查询 · 业务动作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CACA3D-FC4E-4996-AD48-A7351FEC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60055-4A28-439E-979E-2E468BAE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3E8E5"/>
          </a:solidFill>
          <a:ln xmlns:a="http://schemas.openxmlformats.org/drawingml/2006/main" w="12383">
            <a:solidFill>
              <a:srgbClr val="7436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0E22CF-7935-49C1-B709-1A9DB387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F28FBA-EE60-42B8-8156-C745AA39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AE86BA-6668-49B1-A2C2-157857F1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能力调用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7F58FB-AB11-47DD-90A7-C3C200A0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RAG 检索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或 ERP Tool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5705FA-D873-4420-9C99-138575C6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05075"/>
            <a:ext cx="2000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B7AE"/>
          </a:solidFill>
          <a:ln xmlns:a="http://schemas.openxmlformats.org/drawingml/2006/main" w="0">
            <a:solidFill>
              <a:srgbClr val="C9B7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DB2C23-3E4F-4B98-BAB4-029ED4BE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2216BA-AFF3-442A-96DD-E784898D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CFEB87-92CF-4E92-9BF7-D4B09F65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114054-4456-4E0C-A85D-3CC22E10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LangGraph 控制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571138-D8A5-4038-BA77-F48690F1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追问 · 校验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预览 · 确认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091FBA-98D9-49DF-8E9E-C24AEB9F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04975"/>
            <a:ext cx="1619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2383">
            <a:solidFill>
              <a:srgbClr val="3E755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47A59A-18AD-485C-BEDE-10EFA347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876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551"/>
          </a:solidFill>
          <a:ln xmlns:a="http://schemas.openxmlformats.org/drawingml/2006/main" w="0">
            <a:solidFill>
              <a:srgbClr val="3E755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CCF2DC-C56B-4D17-81A7-6E25138E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933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75C350-4409-44F1-AF2D-3927711A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返回结果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A263AB-0DE9-49EB-A116-D71B0AC4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95575"/>
            <a:ext cx="1390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证据回答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282523"/>
                </a:solidFill>
              </a:defRPr>
            </a:pPr>
            <a:r>
              <a:rPr sz="1125" b="0">
                <a:solidFill>
                  <a:srgbClr val="282523"/>
                </a:solidFill>
              </a:rPr>
              <a:t>或写入 ERP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D3B24A-D417-470A-85A6-148510E9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0522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三个关键边界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0F637A-F8FF-4008-8767-E70E604C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3528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11906">
            <a:solidFill>
              <a:srgbClr val="3E755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05EBFD-14F5-4D68-B1AC-B6465741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343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E7551"/>
                </a:solidFill>
              </a:defRPr>
            </a:pPr>
            <a:r>
              <a:rPr sz="1425" b="1">
                <a:solidFill>
                  <a:srgbClr val="3E7551"/>
                </a:solidFill>
              </a:rPr>
              <a:t>LLM Agent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6C2547-E890-4E15-A689-CBD5817C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724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负责理解与规划，不直接修改 ERP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3AA079-CB57-4E1E-A760-00F2F8C2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43375"/>
            <a:ext cx="33528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11906">
            <a:solidFill>
              <a:srgbClr val="BF732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80961F-39A8-4885-9EC3-CC5F2952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43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F7326"/>
                </a:solidFill>
              </a:defRPr>
            </a:pPr>
            <a:r>
              <a:rPr sz="1425" b="1">
                <a:solidFill>
                  <a:srgbClr val="BF7326"/>
                </a:solidFill>
              </a:rPr>
              <a:t>RAG + Milvus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DE49FF-B238-4C95-B63A-BF56F2F5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724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只在权限范围内检索制度和文档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AD1DA18-6F5F-4911-9161-94B3CEBC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43375"/>
            <a:ext cx="335280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9E9E7"/>
          </a:solidFill>
          <a:ln xmlns:a="http://schemas.openxmlformats.org/drawingml/2006/main" w="11906">
            <a:solidFill>
              <a:srgbClr val="B4484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091BFD-DED9-455D-8DD9-02A12EE8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3434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4842"/>
                </a:solidFill>
              </a:defRPr>
            </a:pPr>
            <a:r>
              <a:rPr sz="1425" b="1">
                <a:solidFill>
                  <a:srgbClr val="B44842"/>
                </a:solidFill>
              </a:rPr>
              <a:t>ERP Tool + LangGraph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6F50D6-E299-42B6-B688-0931A787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724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ERP 提供实时事实，LangGraph 控制业务写入</a:t>
            </a:r>
          </a:p>
        </p:txBody>
      </p:sp>
    </p:spTree>
    <p:extLst>
      <p:ext uri="{BB962C8B-B14F-4D97-AF65-F5344CB8AC3E}">
        <p14:creationId xmlns:p14="http://schemas.microsoft.com/office/powerpoint/2010/main" val="83952036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647BF-C621-4459-86C7-52447153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21897-D8DB-4234-989D-BEF37DA3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谢谢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7DB74-A9EA-44E5-828B-2BCB0D11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6552D-47EB-457E-9358-D375F620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60B12-DE6D-4622-9976-C912727B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3162300"/>
          </a:xfrm>
          <a:prstGeom xmlns:a="http://schemas.openxmlformats.org/drawingml/2006/main" prst="roundRect">
            <a:avLst>
              <a:gd name="adj" fmla="val 7831"/>
            </a:avLst>
          </a:prstGeom>
          <a:solidFill xmlns:a="http://schemas.openxmlformats.org/drawingml/2006/main">
            <a:srgbClr val="74364A"/>
          </a:solidFill>
          <a:ln xmlns:a="http://schemas.openxmlformats.org/drawingml/2006/main" w="0">
            <a:solidFill>
              <a:srgbClr val="7436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0724C-186F-4C21-8612-CFDF428C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526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AI 让 ERP 更易用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BE1CA-9418-43A5-9452-DC1D47D0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71825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2E7EA"/>
                </a:solidFill>
              </a:defRPr>
            </a:pPr>
            <a:r>
              <a:rPr sz="2850" b="1">
                <a:solidFill>
                  <a:srgbClr val="F2E7EA"/>
                </a:solidFill>
              </a:rPr>
              <a:t>ERP 让 AI 更可靠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47DAD-3BFD-4C0F-A560-1B10C532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626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欢迎交流</a:t>
            </a:r>
          </a:p>
        </p:txBody>
      </p:sp>
    </p:spTree>
    <p:extLst>
      <p:ext uri="{BB962C8B-B14F-4D97-AF65-F5344CB8AC3E}">
        <p14:creationId xmlns:p14="http://schemas.microsoft.com/office/powerpoint/2010/main" val="1022930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2026-08-14T06:49:39.8360000Z</dcterms:created>
  <dcterms:modified xsi:type="dcterms:W3CDTF">2026-08-14T06:49:39.8370000Z</dcterms:modified>
</coreProperties>
</file>