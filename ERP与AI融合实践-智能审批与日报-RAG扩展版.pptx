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3f1d8c92c44229" /><Relationship Type="http://schemas.openxmlformats.org/officeDocument/2006/relationships/extended-properties" Target="/docProps/app.xml" Id="Rb5440566591f4e9f" /><Relationship Type="http://schemas.openxmlformats.org/officeDocument/2006/relationships/officeDocument" Target="/ppt/presentation.xml" Id="Reba5f4280a2b4f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f0ac9f917043bb"/>
  </p:sldMasterIdLst>
  <p:notesMasterIdLst>
    <p:notesMasterId xmlns:r="http://schemas.openxmlformats.org/officeDocument/2006/relationships" r:id="R8e97156a94554cfb"/>
  </p:notesMasterIdLst>
  <p:sldIdLst>
    <p:sldId xmlns:r="http://schemas.openxmlformats.org/officeDocument/2006/relationships" id="256" r:id="R208ffa6a6d694ece"/>
    <p:sldId xmlns:r="http://schemas.openxmlformats.org/officeDocument/2006/relationships" id="257" r:id="R2f7e2f7b561b44e3"/>
    <p:sldId xmlns:r="http://schemas.openxmlformats.org/officeDocument/2006/relationships" id="258" r:id="R9bba1d433d524667"/>
    <p:sldId xmlns:r="http://schemas.openxmlformats.org/officeDocument/2006/relationships" id="259" r:id="Rd1a01fd4781144f6"/>
    <p:sldId xmlns:r="http://schemas.openxmlformats.org/officeDocument/2006/relationships" id="260" r:id="R6e63dc9837d04377"/>
    <p:sldId xmlns:r="http://schemas.openxmlformats.org/officeDocument/2006/relationships" id="261" r:id="Rda93be0c0a334bed"/>
    <p:sldId xmlns:r="http://schemas.openxmlformats.org/officeDocument/2006/relationships" id="262" r:id="R84447c6ae9c6417a"/>
    <p:sldId xmlns:r="http://schemas.openxmlformats.org/officeDocument/2006/relationships" id="263" r:id="R7451029351064177"/>
    <p:sldId xmlns:r="http://schemas.openxmlformats.org/officeDocument/2006/relationships" id="264" r:id="R41df5919557c4ed0"/>
    <p:sldId xmlns:r="http://schemas.openxmlformats.org/officeDocument/2006/relationships" id="265" r:id="R568d4fb3fab64112"/>
    <p:sldId xmlns:r="http://schemas.openxmlformats.org/officeDocument/2006/relationships" id="266" r:id="R8e3aaba791714002"/>
    <p:sldId xmlns:r="http://schemas.openxmlformats.org/officeDocument/2006/relationships" id="267" r:id="R6b0df607022e4a74"/>
    <p:sldId xmlns:r="http://schemas.openxmlformats.org/officeDocument/2006/relationships" id="268" r:id="Rf03e2ef3626c4c4a"/>
    <p:sldId xmlns:r="http://schemas.openxmlformats.org/officeDocument/2006/relationships" id="269" r:id="Rc8255bd32bf04000"/>
    <p:sldId xmlns:r="http://schemas.openxmlformats.org/officeDocument/2006/relationships" id="270" r:id="Rd3455ef909154358"/>
    <p:sldId xmlns:r="http://schemas.openxmlformats.org/officeDocument/2006/relationships" id="271" r:id="Rca77b54089a34c5e"/>
    <p:sldId xmlns:r="http://schemas.openxmlformats.org/officeDocument/2006/relationships" id="272" r:id="R342989061fbf448c"/>
    <p:sldId xmlns:r="http://schemas.openxmlformats.org/officeDocument/2006/relationships" id="273" r:id="R387cedbc86744d25"/>
    <p:sldId xmlns:r="http://schemas.openxmlformats.org/officeDocument/2006/relationships" id="274" r:id="R6f98464c7db54ae4"/>
    <p:sldId xmlns:r="http://schemas.openxmlformats.org/officeDocument/2006/relationships" id="275" r:id="Rb1cf2adf6ef94c27"/>
    <p:sldId xmlns:r="http://schemas.openxmlformats.org/officeDocument/2006/relationships" id="276" r:id="R5fdc7ec35a0646c8"/>
    <p:sldId xmlns:r="http://schemas.openxmlformats.org/officeDocument/2006/relationships" id="277" r:id="R7a64adc99e664841"/>
    <p:sldId xmlns:r="http://schemas.openxmlformats.org/officeDocument/2006/relationships" id="278" r:id="R9df864bc37cd4bb3"/>
    <p:sldId xmlns:r="http://schemas.openxmlformats.org/officeDocument/2006/relationships" id="279" r:id="R8886995a05f642aa"/>
    <p:sldId xmlns:r="http://schemas.openxmlformats.org/officeDocument/2006/relationships" id="280" r:id="R435b4e98bb2b4a27"/>
    <p:sldId xmlns:r="http://schemas.openxmlformats.org/officeDocument/2006/relationships" id="281" r:id="Re583e9124f7e43e7"/>
    <p:sldId xmlns:r="http://schemas.openxmlformats.org/officeDocument/2006/relationships" id="282" r:id="R2044813261804d29"/>
    <p:sldId xmlns:r="http://schemas.openxmlformats.org/officeDocument/2006/relationships" id="283" r:id="R567fadf3f0ed47bc"/>
    <p:sldId xmlns:r="http://schemas.openxmlformats.org/officeDocument/2006/relationships" id="284" r:id="Rd15c1992c25c4947"/>
    <p:sldId xmlns:r="http://schemas.openxmlformats.org/officeDocument/2006/relationships" id="285" r:id="Rb902d64ac65e42a5"/>
    <p:sldId xmlns:r="http://schemas.openxmlformats.org/officeDocument/2006/relationships" id="286" r:id="Rbd201fcee91d41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d12e0dd63343e1" /><Relationship Type="http://schemas.openxmlformats.org/officeDocument/2006/relationships/slideMaster" Target="/ppt/slideMasters/slideMaster1.xml" Id="R17f0ac9f917043bb" /><Relationship Type="http://schemas.openxmlformats.org/officeDocument/2006/relationships/notesMaster" Target="/ppt/notesMasters/notesMaster1.xml" Id="R8e97156a94554cfb" /><Relationship Type="http://schemas.openxmlformats.org/officeDocument/2006/relationships/presProps" Target="/ppt/presProps.xml" Id="R4388239722054e14" /><Relationship Type="http://schemas.openxmlformats.org/officeDocument/2006/relationships/tableStyles" Target="/ppt/tableStyles.xml" Id="Re9a84363b4304c82" /><Relationship Type="http://schemas.openxmlformats.org/officeDocument/2006/relationships/slide" Target="/ppt/slides/slide1.xml" Id="R208ffa6a6d694ece" /><Relationship Type="http://schemas.openxmlformats.org/officeDocument/2006/relationships/slide" Target="/ppt/slides/slide2.xml" Id="R2f7e2f7b561b44e3" /><Relationship Type="http://schemas.openxmlformats.org/officeDocument/2006/relationships/slide" Target="/ppt/slides/slide3.xml" Id="R9bba1d433d524667" /><Relationship Type="http://schemas.openxmlformats.org/officeDocument/2006/relationships/slide" Target="/ppt/slides/slide4.xml" Id="Rd1a01fd4781144f6" /><Relationship Type="http://schemas.openxmlformats.org/officeDocument/2006/relationships/slide" Target="/ppt/slides/slide5.xml" Id="R6e63dc9837d04377" /><Relationship Type="http://schemas.openxmlformats.org/officeDocument/2006/relationships/slide" Target="/ppt/slides/slide6.xml" Id="Rda93be0c0a334bed" /><Relationship Type="http://schemas.openxmlformats.org/officeDocument/2006/relationships/slide" Target="/ppt/slides/slide7.xml" Id="R84447c6ae9c6417a" /><Relationship Type="http://schemas.openxmlformats.org/officeDocument/2006/relationships/slide" Target="/ppt/slides/slide8.xml" Id="R7451029351064177" /><Relationship Type="http://schemas.openxmlformats.org/officeDocument/2006/relationships/slide" Target="/ppt/slides/slide9.xml" Id="R41df5919557c4ed0" /><Relationship Type="http://schemas.openxmlformats.org/officeDocument/2006/relationships/slide" Target="/ppt/slides/slide10.xml" Id="R568d4fb3fab64112" /><Relationship Type="http://schemas.openxmlformats.org/officeDocument/2006/relationships/slide" Target="/ppt/slides/slide11.xml" Id="R8e3aaba791714002" /><Relationship Type="http://schemas.openxmlformats.org/officeDocument/2006/relationships/slide" Target="/ppt/slides/slide12.xml" Id="R6b0df607022e4a74" /><Relationship Type="http://schemas.openxmlformats.org/officeDocument/2006/relationships/slide" Target="/ppt/slides/slide13.xml" Id="Rf03e2ef3626c4c4a" /><Relationship Type="http://schemas.openxmlformats.org/officeDocument/2006/relationships/slide" Target="/ppt/slides/slide14.xml" Id="Rc8255bd32bf04000" /><Relationship Type="http://schemas.openxmlformats.org/officeDocument/2006/relationships/slide" Target="/ppt/slides/slide15.xml" Id="Rd3455ef909154358" /><Relationship Type="http://schemas.openxmlformats.org/officeDocument/2006/relationships/slide" Target="/ppt/slides/slide16.xml" Id="Rca77b54089a34c5e" /><Relationship Type="http://schemas.openxmlformats.org/officeDocument/2006/relationships/slide" Target="/ppt/slides/slide17.xml" Id="R342989061fbf448c" /><Relationship Type="http://schemas.openxmlformats.org/officeDocument/2006/relationships/slide" Target="/ppt/slides/slide18.xml" Id="R387cedbc86744d25" /><Relationship Type="http://schemas.openxmlformats.org/officeDocument/2006/relationships/slide" Target="/ppt/slides/slide19.xml" Id="R6f98464c7db54ae4" /><Relationship Type="http://schemas.openxmlformats.org/officeDocument/2006/relationships/slide" Target="/ppt/slides/slide20.xml" Id="Rb1cf2adf6ef94c27" /><Relationship Type="http://schemas.openxmlformats.org/officeDocument/2006/relationships/slide" Target="/ppt/slides/slide21.xml" Id="R5fdc7ec35a0646c8" /><Relationship Type="http://schemas.openxmlformats.org/officeDocument/2006/relationships/slide" Target="/ppt/slides/slide22.xml" Id="R7a64adc99e664841" /><Relationship Type="http://schemas.openxmlformats.org/officeDocument/2006/relationships/slide" Target="/ppt/slides/slide23.xml" Id="R9df864bc37cd4bb3" /><Relationship Type="http://schemas.openxmlformats.org/officeDocument/2006/relationships/slide" Target="/ppt/slides/slide24.xml" Id="R8886995a05f642aa" /><Relationship Type="http://schemas.openxmlformats.org/officeDocument/2006/relationships/slide" Target="/ppt/slides/slide25.xml" Id="R435b4e98bb2b4a27" /><Relationship Type="http://schemas.openxmlformats.org/officeDocument/2006/relationships/slide" Target="/ppt/slides/slide26.xml" Id="Re583e9124f7e43e7" /><Relationship Type="http://schemas.openxmlformats.org/officeDocument/2006/relationships/slide" Target="/ppt/slides/slide27.xml" Id="R2044813261804d29" /><Relationship Type="http://schemas.openxmlformats.org/officeDocument/2006/relationships/slide" Target="/ppt/slides/slide28.xml" Id="R567fadf3f0ed47bc" /><Relationship Type="http://schemas.openxmlformats.org/officeDocument/2006/relationships/slide" Target="/ppt/slides/slide29.xml" Id="Rd15c1992c25c4947" /><Relationship Type="http://schemas.openxmlformats.org/officeDocument/2006/relationships/slide" Target="/ppt/slides/slide30.xml" Id="Rb902d64ac65e42a5" /><Relationship Type="http://schemas.openxmlformats.org/officeDocument/2006/relationships/slide" Target="/ppt/slides/slide31.xml" Id="Rbd201fcee91d41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df67c1b34d4d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e6636b1fca443d" /><Relationship Type="http://schemas.openxmlformats.org/officeDocument/2006/relationships/notesMaster" Target="/ppt/notesMasters/notesMaster1.xml" Id="R11f008e15a1747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383583fa8e4328" /><Relationship Type="http://schemas.openxmlformats.org/officeDocument/2006/relationships/notesMaster" Target="/ppt/notesMasters/notesMaster1.xml" Id="R83ea95b6ee844c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d50a49c8114235" /><Relationship Type="http://schemas.openxmlformats.org/officeDocument/2006/relationships/notesMaster" Target="/ppt/notesMasters/notesMaster1.xml" Id="Rd2036049979041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077c66eeda4460" /><Relationship Type="http://schemas.openxmlformats.org/officeDocument/2006/relationships/notesMaster" Target="/ppt/notesMasters/notesMaster1.xml" Id="Rc680346cb7bb4b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d8f916b983494e" /><Relationship Type="http://schemas.openxmlformats.org/officeDocument/2006/relationships/notesMaster" Target="/ppt/notesMasters/notesMaster1.xml" Id="R872b0f82bb5447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6900ecb6634a19" /><Relationship Type="http://schemas.openxmlformats.org/officeDocument/2006/relationships/notesMaster" Target="/ppt/notesMasters/notesMaster1.xml" Id="R647e648fbfa040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9c140c7d2b4e47" /><Relationship Type="http://schemas.openxmlformats.org/officeDocument/2006/relationships/notesMaster" Target="/ppt/notesMasters/notesMaster1.xml" Id="Re3acc3d38b5745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7c63b3cc944e0e" /><Relationship Type="http://schemas.openxmlformats.org/officeDocument/2006/relationships/notesMaster" Target="/ppt/notesMasters/notesMaster1.xml" Id="R4757097f20154c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64a1d11ebb4f28" /><Relationship Type="http://schemas.openxmlformats.org/officeDocument/2006/relationships/notesMaster" Target="/ppt/notesMasters/notesMaster1.xml" Id="R2dcdc117f22243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3610d6fb1749b2" /><Relationship Type="http://schemas.openxmlformats.org/officeDocument/2006/relationships/notesMaster" Target="/ppt/notesMasters/notesMaster1.xml" Id="R25b2d6dfb64c46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94648d35004cd3" /><Relationship Type="http://schemas.openxmlformats.org/officeDocument/2006/relationships/notesMaster" Target="/ppt/notesMasters/notesMaster1.xml" Id="R984fefe73b014b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16761dc9514206" /><Relationship Type="http://schemas.openxmlformats.org/officeDocument/2006/relationships/notesMaster" Target="/ppt/notesMasters/notesMaster1.xml" Id="R548add73c82241b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bf996a104c49ea" /><Relationship Type="http://schemas.openxmlformats.org/officeDocument/2006/relationships/notesMaster" Target="/ppt/notesMasters/notesMaster1.xml" Id="R6f333e27bdf14f3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85c0ab377d4dbe" /><Relationship Type="http://schemas.openxmlformats.org/officeDocument/2006/relationships/notesMaster" Target="/ppt/notesMasters/notesMaster1.xml" Id="R0d65d4076d1943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d328af8e789475b" /><Relationship Type="http://schemas.openxmlformats.org/officeDocument/2006/relationships/notesMaster" Target="/ppt/notesMasters/notesMaster1.xml" Id="Rcd9bf20a22ec4be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2673e2057d3433c" /><Relationship Type="http://schemas.openxmlformats.org/officeDocument/2006/relationships/notesMaster" Target="/ppt/notesMasters/notesMaster1.xml" Id="Rd6a16006b1304d4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e65143d39354440" /><Relationship Type="http://schemas.openxmlformats.org/officeDocument/2006/relationships/notesMaster" Target="/ppt/notesMasters/notesMaster1.xml" Id="R880106d5d39b4f4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ff74075b3394640" /><Relationship Type="http://schemas.openxmlformats.org/officeDocument/2006/relationships/notesMaster" Target="/ppt/notesMasters/notesMaster1.xml" Id="Rb41a38d736c1400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f82590e1fca405a" /><Relationship Type="http://schemas.openxmlformats.org/officeDocument/2006/relationships/notesMaster" Target="/ppt/notesMasters/notesMaster1.xml" Id="R0bd82b00f8034f7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e871067668343fa" /><Relationship Type="http://schemas.openxmlformats.org/officeDocument/2006/relationships/notesMaster" Target="/ppt/notesMasters/notesMaster1.xml" Id="R91bcc241cc9c40b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10a4f5c8a524e01" /><Relationship Type="http://schemas.openxmlformats.org/officeDocument/2006/relationships/notesMaster" Target="/ppt/notesMasters/notesMaster1.xml" Id="R62f99845e5ea4d7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1ecc44b4f5e444b" /><Relationship Type="http://schemas.openxmlformats.org/officeDocument/2006/relationships/notesMaster" Target="/ppt/notesMasters/notesMaster1.xml" Id="Rad34a08c9c8a49d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5633e617ed94924" /><Relationship Type="http://schemas.openxmlformats.org/officeDocument/2006/relationships/notesMaster" Target="/ppt/notesMasters/notesMaster1.xml" Id="R1c30649023894d6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f9baac7fe5e4def" /><Relationship Type="http://schemas.openxmlformats.org/officeDocument/2006/relationships/notesMaster" Target="/ppt/notesMasters/notesMaster1.xml" Id="Rca41bedb491c4d3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0d4ab7abe0741fa" /><Relationship Type="http://schemas.openxmlformats.org/officeDocument/2006/relationships/notesMaster" Target="/ppt/notesMasters/notesMaster1.xml" Id="Re9b4cfe17e73450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0cb9d2c0b3f4b63" /><Relationship Type="http://schemas.openxmlformats.org/officeDocument/2006/relationships/notesMaster" Target="/ppt/notesMasters/notesMaster1.xml" Id="R6aa76f42aae3494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c05f289552b45b5" /><Relationship Type="http://schemas.openxmlformats.org/officeDocument/2006/relationships/notesMaster" Target="/ppt/notesMasters/notesMaster1.xml" Id="R942fcf8a920b466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213a828003f4c02" /><Relationship Type="http://schemas.openxmlformats.org/officeDocument/2006/relationships/notesMaster" Target="/ppt/notesMasters/notesMaster1.xml" Id="R97fa8c4981fc41b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6a8b699bf1642f2" /><Relationship Type="http://schemas.openxmlformats.org/officeDocument/2006/relationships/notesMaster" Target="/ppt/notesMasters/notesMaster1.xml" Id="R9fb6dda3db6a4a7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44a65834c1d432b" /><Relationship Type="http://schemas.openxmlformats.org/officeDocument/2006/relationships/notesMaster" Target="/ppt/notesMasters/notesMaster1.xml" Id="R94566ee43fbe413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70cdddf08464191" /><Relationship Type="http://schemas.openxmlformats.org/officeDocument/2006/relationships/notesMaster" Target="/ppt/notesMasters/notesMaster1.xml" Id="R4e64a9c69d6942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【只记一句】ERP 和 AI 的结合，目标不是做一个会聊天的机器人，而是让用户用自然语言完成真实业务动作。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【可直接照读】今天分享的是 ERP 与 AI 的结合实践，重点放在两个具体动作：聊天发起审批、聊天填写日报。我们验证了 approval_creation_agent、daily_report_agent、daily_report_create_agent 和 daily_report_agentic_workflow_demo 四类实现，最后把 LangGraph 作为 ERP 主流程框架。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- Visual style references supplied by the user: C:/Users/EDY/Pictures/1.jpg–16.jpg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【只记一句】今天只回答四个问题：场景、路径、效果、问题。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【可直接照读】整场分享围绕四个问题展开。第一，AI 为什么要进入 ERP；第二，如何通过聊天助手落地；第三，目前已经实现了哪些可用能力；第四，为什么看起来只是请假和日报，最后却出现了很多节点和分支。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35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【只记一句】首批场景选审批和日报，是因为频率高、规则清晰、容易验证闭环。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【可直接照读】用户不需要先找到 ERP 菜单，也不需要记住表单字段，只要表达业务目标。审批场景验证动态字段与确认提交，日报场景验证上下文加载、草稿、预览和提交。四种方案分别对应显式流程、稳定执行、Agent 决策和自主加闸门。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【只记一句】现场用两条对话证明：AI 不只是回答，而是真的走完 ERP 业务闭环。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【演示前准备】提前启动 ai_approval_assistant，优先打开现有聊天页面；没有聊天前端时打开 http://127.0.0.1:8010/docs。测试或 mock 环境可以确认提交，生产环境只演示到预览。每条演示使用新的 session_id，避免继承上一次状态。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下面我不讲代码，直接看实际效果。第一条输入“我要请假”，系统会按真实配置追问请假类型和时间，字段完整后生成审批预览，明确确认后才提交。第二条输入“写今天日报：完成审批助手开发和接口联调”，系统加载当天上下文、生成草稿和预览，再等待确认。大家重点看三个点：自然语言入口、动态补充信息、提交前人工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【异常备用】如果接口或网络临时异常，立刻停止刷新，直接用后面的 LangGraph Studio 截图说明同一条路径，并明确说明“现场环境异常，不影响已经完成的流程验证”。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2 分 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D:/PythonProject/LearnOne/ai_approval_assistant/演示.md</a:t>
            </a:r>
          </a:p>
          <a:p xmlns:a="http://schemas.openxmlformats.org/drawingml/2006/main">
            <a:r>
              <a:t>- D:/PythonProject/LearnOne/ai_approval_assistant/README.md</a:t>
            </a:r>
          </a:p>
          <a:p xmlns:a="http://schemas.openxmlformats.org/drawingml/2006/main">
            <a:r>
              <a:t>- D:/PythonProject/LearnOne/ai_approval_assistant/app/api/chat.py</a:t>
            </a:r>
          </a:p>
          <a:p xmlns:a="http://schemas.openxmlformats.org/drawingml/2006/main">
            <a:r>
              <a:t>- FastAPI Swagger demo entry: http://127.0.0.1:8010/docs</a:t>
            </a:r>
          </a:p>
          <a:p xmlns:a="http://schemas.openxmlformats.org/drawingml/2006/main">
            <a:r>
              <a:t>- Deep Agents demo entry: http://127.0.0.1:8020/docs</a:t>
            </a:r>
          </a:p>
          <a:p xmlns:a="http://schemas.openxmlformats.org/drawingml/2006/main">
            <a:r>
              <a:t>- Backup plan: if live service is unavailable, use the prepared LangGraph Studio screenshots and explain the same input → preview → confirmation path.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【只记一句】AI 接入已经普及，但规模化产生价值仍然困难。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【可直接照读】麦肯锡 2025 年调研显示，88% 的组织已经常态化使用 AI，但接近三分之二还没有开始企业级规模化。62% 正在试验或使用 AI Agent，只有 39% 报告了企业级 EBIT 影响。核心差距不在模型，而在能否嵌入真实流程。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McKinsey, The state of AI in 2025: Agents, innovation, and transformation (survey of 1,993 participants across 105 nations): https://www.mckinsey.com/capabilities/quantumblack/our-insights/the-state-of-ai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【只记一句】企业在持续投入 AI，但大多数还没有同时获得增收和降本。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【可直接照读】PwC 2026 全球 CEO 调研显示，30% 表示 AI 带来收入增长，26% 表示成本下降，但 56% 既未增收也未降本，只有 12% 同时实现两种收益。这说明孤立功能不等于业务价值，需要流程、数据与责任边界共同落地。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PwC, 29th Global CEO Survey: Leading through uncertainty in the age of AI (4,454 CEOs across 95 countries and territories): https://www.pwc.com/gx/en/issues/c-suite-insights/ceo-survey.html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【只记一句】实施路径是先选场景，再接数据，再封装工具，最后用 LangGraph 编排和观测。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【可直接照读】我们没有从“大而全的企业助手”开始，而是先选择审批和日报两个高频动作。接着接入用户权限、审批模板、动态字段和日报配置，再把查询、校验、保存、预览、提交封装成统一 Tool。LangGraph 管理状态和流程，LangSmith帮助定位问题，形成从试点到复用的路径。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60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D:/PythonProject/LearnOne/ai_approval_assistant/app/graph/workflow.py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【只记一句】三者是分层组合，最终主流程选 LangGraph。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【可直接照读】LangChain提供模型和 Tool 等基础构件；LangGraph负责状态、分支和人工中断；Deep Agents提供更高层的自主规划。ERP 涉及真实写入，所以先保证流程可控。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35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D:/PythonProject/LearnOne/ai_approval_assistant/pyproject.toml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- C:/Users/EDY/Pictures/16.jpg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【只记一句】ERP 场景更看重可控执行，而不是代码看起来更少。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【可直接照读】LangChain适合简单调用，LangGraph适合有状态和人工确认的流程，Deep Agents适合开放长任务。审批和日报需要暂停、恢复和安全写入，因此 LangGraph 更贴合主流程。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35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D:/PythonProject/LearnOne/ai_approval_assistant/app/graph/workflow.py</a:t>
            </a:r>
          </a:p>
          <a:p xmlns:a="http://schemas.openxmlformats.org/drawingml/2006/main">
            <a:r>
              <a:t>- D:/PythonProject/LearnOne/ai_deep_agents_assistant/app/agents/approval_agent.py</a:t>
            </a:r>
          </a:p>
          <a:p xmlns:a="http://schemas.openxmlformats.org/drawingml/2006/main">
            <a:r>
              <a:t>- C:/Users/EDY/Pictures/5.jpg</a:t>
            </a:r>
          </a:p>
          <a:p xmlns:a="http://schemas.openxmlformats.org/drawingml/2006/main">
            <a:r>
              <a:t>- C:/Users/EDY/Pictures/7.jpg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【只记一句】最终分工是 LangChain 做基础，LangGraph做主流程，Deep Agents做探索。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【可直接照读】选择 LangGraph 是因为流程清晰、状态可持久化、路径便于排查，并且能把 ERP 校验和提交做成明确闸门。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D:/PythonProject/LearnOne/ai_approval_assistant/app/graph/workflow.py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- C:/Users/EDY/Pictures/1.jpg</a:t>
            </a:r>
          </a:p>
          <a:p xmlns:a="http://schemas.openxmlformats.org/drawingml/2006/main">
            <a:r>
              <a:t>- C:/Users/EDY/Pictures/13.jpg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【只记一句】聊天发起审批的关键是动态适配，而不是把请假话术写死。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【可直接照读】用户说“我明天下午请假两小时”，助手先识别审批模板，再根据公司配置追问缺失字段，校验后生成预览，只有用户明确确认才写入 ERP。用户看到的是一句话入口，系统内部仍然遵守原来的字段、审批人和权限规则。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D:/PythonProject/LearnOne/ai_approval_assistant/app/graph/approval_workflow.py</a:t>
            </a:r>
          </a:p>
          <a:p xmlns:a="http://schemas.openxmlformats.org/drawingml/2006/main">
            <a:r>
              <a:t>- D:/PythonProject/LearnOne/ai_approval_assistant/README.md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【只记一句】同一个请假动作，在不同公司可能对应不同表单。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【可直接照读】审批最难的地方是组件多、字段不一样，而且每家公司还能配置不同规则。解决方法不是为每家公司增加一组 if-else，而是让 ERP 定义模板和字段，AI负责理解表达，聊天助手根据配置动态追问、校验和预览。这样新增组件主要是增加配置和适配，而不是重写主流程。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D:/PythonProject/LearnOne/ai_approval_assistant/app/services/crm_service.py</a:t>
            </a:r>
          </a:p>
          <a:p xmlns:a="http://schemas.openxmlformats.org/drawingml/2006/main">
            <a:r>
              <a:t>- D:/PythonProject/LearnOne/ai_approval_assistant/README.md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【只记一句】标准日报优先用固定流程，先保证稳定和可恢复。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用户说“帮我写今天日报”，系统加载当天配置、已有草稿和同步数据，收集工作内容，保存草稿，生成预览，确认后提交。这个场景步骤比较明确，所以把流程显式化，便于控制风险，也便于出现中断后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D:/PythonProject/LearnOne/ai_approval_assistant/app/graph/daily_report_workflow.py</a:t>
            </a:r>
          </a:p>
          <a:p xmlns:a="http://schemas.openxmlformats.org/drawingml/2006/main">
            <a:r>
              <a:t>- D:/PythonProject/LearnOne/ai_approval_assistant/app/agents/daily_report_chat_agent.py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【只记一句】自主日报让 Agent 决定下一步，但写入边界仍然固定。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【可直接照读】当用户只说“把今天客户跟进整理成日报”时，输入并不完整，Agent需要判断是否先确认日期、加载哪些 ERP 数据、是否继续追问以及何时生成预览。它提升了自然表达的适应性，但不能编造内容、跳过预览或自动提交。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D:/PythonProject/LearnOne/ai_approval_assistant/app/agents/daily_report_create_agent.py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【只记一句】开放性工作交给 Agent，确定性写入交给 Workflow。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【可直接照读】Agent可以理解目标、制定计划和组织正文；Workflow负责保存草稿、生成预览、等待确认和执行提交。这个 Agentic Workflow demo 体现的是一种折中：让模型有灵活性，但把高风险动作放在明确的流程闸门之后。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D:/PythonProject/LearnOne/ai_approval_assistant/app/graph/daily_report_agentic_workflow_demo.py</a:t>
            </a:r>
          </a:p>
          <a:p xmlns:a="http://schemas.openxmlformats.org/drawingml/2006/main">
            <a:r>
              <a:t>- D:/PythonProject/LearnOne/ai_approval_assistant/app/agents/daily_report_agentic_workflow_demo.py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【只记一句】四种方案是按风险和开放程度选择，不是互相替代。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【可直接照读】审批和标准日报已经具备生产落地的特征，因为流程和提交边界清晰；自主日报更适合能力探索，灵活性高但需要更多约束；Agentic Workflow是演进方向，用自主规划处理开放任务，再用流程闸门保证安全。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- D:/PythonProject/LearnOne/ai_approval_assistant/app/graph/workflow.py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【只记一句】现场演示证明“能用”，预期效果页说明“如何衡量”。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【可直接照读】刚才已经看到两条真实业务路径。当前已实现的是聊天请假、动态字段收集、审批预览和确认提交，以及聊天写日报、草稿、预览和 interrupt/resume 恢复。下一步用模板识别准确率、平均对话轮次、必填字段完成率、预览到提交成功率、恢复成功率和 ERP Tool P95 延迟衡量规模化效果。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【只记一句】复杂度来自配置、状态和安全边界叠加。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【可直接照读】审批组件太多，每个组件字段不同；LangGraph中 if-else 持续增加；多轮对话、人工中断和恢复让节点状态相互影响；出现问题时还要区分模型、路由、状态和 ERP 接口。当前四类工作流一共注册了约 40 个节点：顶层 9 个、审批子图 14 个、标准日报 10 个、Agentic Workflow 7 个。这个数字能直观说明，聊天入口很简单，业务执行并不简单。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75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D:/PythonProject/LearnOne/ai_approval_assistant/app/graph/approval_workflow.py</a:t>
            </a:r>
          </a:p>
          <a:p xmlns:a="http://schemas.openxmlformats.org/drawingml/2006/main">
            <a:r>
              <a:t>- D:/PythonProject/LearnOne/ai_approval_assistant/app/graph/daily_report_workflow.py</a:t>
            </a:r>
          </a:p>
          <a:p xmlns:a="http://schemas.openxmlformats.org/drawingml/2006/main">
            <a:r>
              <a:t>- D:/PythonProject/LearnOne/ai_approval_assistant/app/graph/daily_report_agentic_workflow_demo.py</a:t>
            </a:r>
          </a:p>
          <a:p xmlns:a="http://schemas.openxmlformats.org/drawingml/2006/main">
            <a:r>
              <a:t>- D:/PythonProject/LearnOne/ai_approval_assistant/app/graph/workflow.py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【只记一句】排查问题要看完整 Trace，而不是只看最终回答。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【可直接照读】一次请求可能同时经过模型理解、流程路由、状态变化和 ERP 工具四类环节。LangSmith需要重点观察节点顺序、分支原因、模型字段抽取、Tool参数与耗时，以及 interrupt前后的状态差异。这样才能快速判断问题发生在哪一层，而不是凭感觉修改代码。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60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D:/PythonProject/LearnOne/ai_approval_assistant/docs/studio_debug.md</a:t>
            </a:r>
          </a:p>
          <a:p xmlns:a="http://schemas.openxmlformats.org/drawingml/2006/main">
            <a:r>
              <a:t>- D:/PythonProject/LearnOne/ai_approval_assistant/app/graph/workflow.py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【只记一句】优化原则是把稳定规则流程化，把开放判断 Agent 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【可直接照读】字段完整性、业务校验、预览确认、幂等和审计必须留在 Workflow 中；理解目标、提取信息、选择上下文和组织内容可以交给 Agent。配套动作包括规则配置化、节点单一职责、统一 ERP Tool 和全链路观测。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- D:/PythonProject/LearnOne/ai_approval_assistant/docs/studio_debug.md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【只记一句】AI 负责理解和交互，ERP 负责规则和可信执行。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【可直接照读】最后用八句话总结这次实践。AI 不是替代 ERP，而是增加自然语言入口；审批和日报是第一批高频、典型、容易验证闭环的场景。用户负责表达目标，AI 负责理解和补充信息，ERP 继续负责权限、规则、字段和最终写入。技术上，LangChain 提供基础组件，LangGraph 负责主流程，Deep Agents 探索自主规划；最终选择 LangGraph，是因为 ERP 更需要可控、可恢复和可审计。当前最大的挑战是动态字段、流程分支和状态复杂度，下一步要沉淀统一 Schema、统一 Tool 和统一观测体系。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D:/PythonProject/LearnOne/ai_approval_assistant/README.md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【只记一句】下一步是把两个试点沉淀成可复用底座。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【可直接照读】近期完善审批与日报的动态字段、错误恢复和链路观测；中期沉淀统一业务 Schema、ERP Tool和公司级配置适配；长期扩展订单、库存、客户跟进和经营分析。最终目标是让 AI 理解任务，让 ERP 流程稳定、可控、可追踪。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D:/PythonProject/LearnOne/ai_approval_assistant/README.md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【使用建议】这一页作为问答备用，不主动展开。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LangGraph Studio screenshot: C:/Users/EDY/AppData/Local/Temp/codex-clipboard-a168231d-4563-4e49-8319-92fa1617d4ed.png</a:t>
            </a:r>
          </a:p>
          <a:p xmlns:a="http://schemas.openxmlformats.org/drawingml/2006/main">
            <a:r>
              <a:t>- D:/PythonProject/LearnOne/ai_approval_assistant/app/graph/workflow.py</a:t>
            </a:r>
          </a:p>
          <a:p xmlns:a="http://schemas.openxmlformats.org/drawingml/2006/main">
            <a:r>
              <a:t>- D:/PythonProject/LearnOne/ai_approval_assistant/app/agents/approval_agent.py</a:t>
            </a:r>
          </a:p>
          <a:p xmlns:a="http://schemas.openxmlformats.org/drawingml/2006/main">
            <a:r>
              <a:t>- D:/PythonProject/LearnOne/ai_approval_assistant/app/agents/daily_report_create_agent.py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【使用建议】这一页作为问答备用，不主动展开。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LangGraph Studio screenshot: C:/Users/EDY/AppData/Local/Temp/codex-clipboard-39e93d19-0368-48e9-9041-d15d064c8b2e.png</a:t>
            </a:r>
          </a:p>
          <a:p xmlns:a="http://schemas.openxmlformats.org/drawingml/2006/main">
            <a:r>
              <a:t>- D:/PythonProject/LearnOne/ai_approval_assistant/app/graph/approval_workflow.py</a:t>
            </a:r>
          </a:p>
          <a:p xmlns:a="http://schemas.openxmlformats.org/drawingml/2006/main">
            <a:r>
              <a:t>- D:/PythonProject/LearnOne/ai_approval_assistant/app/agents/approval_agent.py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【使用建议】这一页作为问答备用，不主动展开。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LangGraph Studio screenshot: C:/Users/EDY/AppData/Local/Temp/codex-clipboard-39e93d19-0368-48e9-9041-d15d064c8b2e.png</a:t>
            </a:r>
          </a:p>
          <a:p xmlns:a="http://schemas.openxmlformats.org/drawingml/2006/main">
            <a:r>
              <a:t>- D:/PythonProject/LearnOne/ai_approval_assistant/app/graph/approval_workflow.py</a:t>
            </a:r>
          </a:p>
          <a:p xmlns:a="http://schemas.openxmlformats.org/drawingml/2006/main">
            <a:r>
              <a:t>- D:/PythonProject/LearnOne/ai_approval_assistant/app/agents/approval_agent.py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【使用建议】这一页作为问答备用，不主动展开。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LangGraph Studio screenshot: C:/Users/EDY/AppData/Local/Temp/codex-clipboard-05e8c312-0ae2-40a4-b844-9af537fa1dea.png</a:t>
            </a:r>
          </a:p>
          <a:p xmlns:a="http://schemas.openxmlformats.org/drawingml/2006/main">
            <a:r>
              <a:t>- D:/PythonProject/LearnOne/ai_approval_assistant/app/graph/daily_report_workflow.py</a:t>
            </a:r>
          </a:p>
          <a:p xmlns:a="http://schemas.openxmlformats.org/drawingml/2006/main">
            <a:r>
              <a:t>- D:/PythonProject/LearnOne/ai_approval_assistant/app/agents/daily_report_chat_agent.py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【使用建议】这一页作为问答备用，不主动展开。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LangGraph Studio screenshot: C:/Users/EDY/AppData/Local/Temp/codex-clipboard-05e8c312-0ae2-40a4-b844-9af537fa1dea.png</a:t>
            </a:r>
          </a:p>
          <a:p xmlns:a="http://schemas.openxmlformats.org/drawingml/2006/main">
            <a:r>
              <a:t>- D:/PythonProject/LearnOne/ai_approval_assistant/app/graph/daily_report_workflow.py</a:t>
            </a:r>
          </a:p>
          <a:p xmlns:a="http://schemas.openxmlformats.org/drawingml/2006/main">
            <a:r>
              <a:t>- D:/PythonProject/LearnOne/ai_approval_assistant/app/agents/daily_report_chat_agent.py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【使用建议】这一页作为问答备用，不主动展开。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LangGraph Studio screenshot: C:/Users/EDY/AppData/Local/Temp/codex-clipboard-b08edd2a-092c-42e0-b5a8-e9c7d58a5c65.png</a:t>
            </a:r>
          </a:p>
          <a:p xmlns:a="http://schemas.openxmlformats.org/drawingml/2006/main">
            <a:r>
              <a:t>- D:/PythonProject/LearnOne/ai_approval_assistant/app/graph/daily_report_agentic_workflow_demo.py</a:t>
            </a:r>
          </a:p>
          <a:p xmlns:a="http://schemas.openxmlformats.org/drawingml/2006/main">
            <a:r>
              <a:t>- D:/PythonProject/LearnOne/ai_approval_assistant/app/agents/daily_report_agentic_workflow_demo.py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【只记一句】企业级 RAG 的重点不是向量库，而是知识治理、权限、来源和业务边界。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【可直接照读】企业级 RAG 不是把几份文档放进向量库，再做一个知识库聊天。它首先要治理知识源，包括制度、SOP、操作手册、ERP 字段说明和审批规则，并记录版本、更新时间、责任人和原文位置。其次，检索时必须在服务端强制加入租户、公司、部门和 ACL 权限，再通过混合检索与重排找到证据。最后还要明确边界：RAG 回答规则和知识，ERP Tool 查询实时数据，LangGraph 控制预览、确认、提交和审计。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【ERP 示例】员工问“差旅报销需要哪些材料”，走 RAG；问“我的报销单现在到谁审批”，走 ERP Tool；说“帮我发起报销”，进入 LangGraph 业务流程。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75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D:/PythonProject/LearnOne/docs/python_rag_notes.md</a:t>
            </a:r>
          </a:p>
          <a:p xmlns:a="http://schemas.openxmlformats.org/drawingml/2006/main">
            <a:r>
              <a:t>- D:/PythonProject/LearnOne/docs/docs/rag_demo_sources/approval_rag_guide.md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【只记一句】Milvus 同时承载语义、关键词和权限过滤，是 ERP 知识检索的基础底座。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【可直接照读】Milvus 中不只保存向量，还要保存原文、Dense 向量、BM25 稀疏向量，以及来源、页码、标题、公司、部门、权限、版本和更新时间。查询时，先由检索服务强制注入当前用户的权限范围，再同时执行 Dense 语义召回和 BM25 精确召回，通过 RRF 或加权方式融合，最后由 Reranker 精排并返回带来源的证据。ERP 里既有“请假怎么申请”这种语义问题，也有制度号、审批编号、产品编码等精确词，因此 Dense 加 BM25 比单路向量检索更适合。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【部署口径】Milvus Lite 适合本地学习和 Demo；Standalone 适合单机试点；企业生产再根据数据规模、并发、高可用和弹性选择 Distributed 或云服务。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85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D:/PythonProject/LearnOne/docs/python_milvus_notes.md</a:t>
            </a:r>
          </a:p>
          <a:p xmlns:a="http://schemas.openxmlformats.org/drawingml/2006/main">
            <a:r>
              <a:t>- D:/PythonProject/LearnOne/docs/python_rag_notes.md</a:t>
            </a:r>
          </a:p>
          <a:p xmlns:a="http://schemas.openxmlformats.org/drawingml/2006/main">
            <a:r>
              <a:t>- D:/PythonProject/LearnOne/docs2/milvus_hnsw_ivf_annoy_cold_start_update_multitenancy.md</a:t>
            </a:r>
          </a:p>
          <a:p xmlns:a="http://schemas.openxmlformats.org/drawingml/2006/main">
            <a:r>
              <a:t>- Milvus Hybrid Search documentation: https://milvus.io/docs/multi-vector-search.md</a:t>
            </a:r>
          </a:p>
          <a:p xmlns:a="http://schemas.openxmlformats.org/drawingml/2006/main">
            <a:r>
              <a:t>- Milvus Multi-tenancy documentation: https://milvus.io/docs/multi_tenancy.md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【只记一句】先用 Milvus 建立稳定 RAG 基线，再用真实评测证明 GraphRAG 或 LightRAG 是否值得增加复杂度。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【可直接照读】传统的 Milvus 混合 RAG 最适合制度、FAQ、字段说明和操作手册，成本可控、增量更新简单，应该作为 ERP 第一阶段基线。Microsoft GraphRAG 会抽取实体和关系、进行社区发现，并支持 Local Search 和 Global Search，适合跨文档多跳关系、全局主题和风险总结，但离线索引成本、实体消歧、增量更新和权限传播都更复杂。LightRAG 同样融合图关系和向量检索，更强调增量使用体验，适合第二阶段快速验证，但“Light”不代表没有实体抽取和索引成本。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【验证方法】必须使用同一批文档、同一模型和同一评测集，对比准确率、证据覆盖率、索引成本、P95 延迟和增量更新时间；如果图检索没有显著增益，就不应该为了技术完整而引入更多中间件。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95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D:/PythonProject/LearnOne/docs/python_rag_graphrag_lightrag_notes.md</a:t>
            </a:r>
          </a:p>
          <a:p xmlns:a="http://schemas.openxmlformats.org/drawingml/2006/main">
            <a:r>
              <a:t>- D:/PythonProject/LearnOne/docs/python_rag_notes.md</a:t>
            </a:r>
          </a:p>
          <a:p xmlns:a="http://schemas.openxmlformats.org/drawingml/2006/main">
            <a:r>
              <a:t>- Microsoft GraphRAG documentation: https://microsoft.github.io/graphrag/</a:t>
            </a:r>
          </a:p>
          <a:p xmlns:a="http://schemas.openxmlformats.org/drawingml/2006/main">
            <a:r>
              <a:t>- LightRAG repository: https://github.com/HKUDS/LightRAG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1158881af24d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2d7698d60c4b4d" /><Relationship Type="http://schemas.openxmlformats.org/officeDocument/2006/relationships/slideLayout" Target="/ppt/slideLayouts/slideLayout1.xml" Id="Rd30a4ac5328541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0a4ac5328541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67568df4144f9" /><Relationship Type="http://schemas.openxmlformats.org/officeDocument/2006/relationships/notesSlide" Target="/ppt/notesSlides/notesSlide1.xml" Id="R59af178fa66f44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5baca2b064cd5" /><Relationship Type="http://schemas.openxmlformats.org/officeDocument/2006/relationships/notesSlide" Target="/ppt/notesSlides/notesSlide2.xml" Id="Rd49c3de548424a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b00213c6e41dc" /><Relationship Type="http://schemas.openxmlformats.org/officeDocument/2006/relationships/notesSlide" Target="/ppt/notesSlides/notesSlide3.xml" Id="Rf2ac4e1659c14d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6d980dbac4364" /><Relationship Type="http://schemas.openxmlformats.org/officeDocument/2006/relationships/notesSlide" Target="/ppt/notesSlides/notesSlide4.xml" Id="Rc356e1566db541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11101137646dc" /><Relationship Type="http://schemas.openxmlformats.org/officeDocument/2006/relationships/notesSlide" Target="/ppt/notesSlides/notesSlide5.xml" Id="R6d080f71fb3941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b306881934539" /><Relationship Type="http://schemas.openxmlformats.org/officeDocument/2006/relationships/notesSlide" Target="/ppt/notesSlides/notesSlide6.xml" Id="R3258a9d7fdb14c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4dd7da8974839" /><Relationship Type="http://schemas.openxmlformats.org/officeDocument/2006/relationships/notesSlide" Target="/ppt/notesSlides/notesSlide7.xml" Id="Rea0fe05c1f6d47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2e013a37949fa" /><Relationship Type="http://schemas.openxmlformats.org/officeDocument/2006/relationships/notesSlide" Target="/ppt/notesSlides/notesSlide8.xml" Id="R0cf0468ce3374c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ab3391acd4b2e" /><Relationship Type="http://schemas.openxmlformats.org/officeDocument/2006/relationships/notesSlide" Target="/ppt/notesSlides/notesSlide9.xml" Id="R64a95b44eb5f4a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66a7b93864de0" /><Relationship Type="http://schemas.openxmlformats.org/officeDocument/2006/relationships/notesSlide" Target="/ppt/notesSlides/notesSlide10.xml" Id="R893ef2024f4442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ee4af81f74355" /><Relationship Type="http://schemas.openxmlformats.org/officeDocument/2006/relationships/notesSlide" Target="/ppt/notesSlides/notesSlide11.xml" Id="Rb382cf7ff43a47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5d83cc7c2463d" /><Relationship Type="http://schemas.openxmlformats.org/officeDocument/2006/relationships/notesSlide" Target="/ppt/notesSlides/notesSlide12.xml" Id="Rc4a31a8a767a470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fc510808e4429" /><Relationship Type="http://schemas.openxmlformats.org/officeDocument/2006/relationships/notesSlide" Target="/ppt/notesSlides/notesSlide13.xml" Id="Rceb2bd73fddf4de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2853f03b54445" /><Relationship Type="http://schemas.openxmlformats.org/officeDocument/2006/relationships/notesSlide" Target="/ppt/notesSlides/notesSlide14.xml" Id="Rf0d59a41b63b483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6bdfaeb314813" /><Relationship Type="http://schemas.openxmlformats.org/officeDocument/2006/relationships/notesSlide" Target="/ppt/notesSlides/notesSlide15.xml" Id="Ref612bb4de7146b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65fe21e824eea" /><Relationship Type="http://schemas.openxmlformats.org/officeDocument/2006/relationships/notesSlide" Target="/ppt/notesSlides/notesSlide16.xml" Id="Rd9e58cbcf3b94c2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91986f62f4cff" /><Relationship Type="http://schemas.openxmlformats.org/officeDocument/2006/relationships/notesSlide" Target="/ppt/notesSlides/notesSlide17.xml" Id="R67c86b3b5ca4434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d1e5e047e42d7" /><Relationship Type="http://schemas.openxmlformats.org/officeDocument/2006/relationships/notesSlide" Target="/ppt/notesSlides/notesSlide18.xml" Id="Rc8288b7fc2d34a1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6a431f4734234" /><Relationship Type="http://schemas.openxmlformats.org/officeDocument/2006/relationships/notesSlide" Target="/ppt/notesSlides/notesSlide19.xml" Id="R69c2539726df4c4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161cfa5a94ed0" /><Relationship Type="http://schemas.openxmlformats.org/officeDocument/2006/relationships/notesSlide" Target="/ppt/notesSlides/notesSlide20.xml" Id="Rd15d2d11271941a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4d3272f164d36" /><Relationship Type="http://schemas.openxmlformats.org/officeDocument/2006/relationships/notesSlide" Target="/ppt/notesSlides/notesSlide21.xml" Id="R8cd54ec54ee442a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ece1dfba4469a" /><Relationship Type="http://schemas.openxmlformats.org/officeDocument/2006/relationships/notesSlide" Target="/ppt/notesSlides/notesSlide22.xml" Id="Re679c2fc80d6429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f9e704d3d4ee7" /><Relationship Type="http://schemas.openxmlformats.org/officeDocument/2006/relationships/image" Target="/ppt/media/image.png" Id="R43bb15fc3b314f6b" /><Relationship Type="http://schemas.openxmlformats.org/officeDocument/2006/relationships/notesSlide" Target="/ppt/notesSlides/notesSlide23.xml" Id="R8a602bbd2e89401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3f6b225384360" /><Relationship Type="http://schemas.openxmlformats.org/officeDocument/2006/relationships/image" Target="/ppt/media/image2.png" Id="R1a52a6121b4a4ded" /><Relationship Type="http://schemas.openxmlformats.org/officeDocument/2006/relationships/notesSlide" Target="/ppt/notesSlides/notesSlide24.xml" Id="R1e57494370ef48b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e06bd92434382" /><Relationship Type="http://schemas.openxmlformats.org/officeDocument/2006/relationships/image" Target="/ppt/media/image3.png" Id="R80474c5b07e046f6" /><Relationship Type="http://schemas.openxmlformats.org/officeDocument/2006/relationships/notesSlide" Target="/ppt/notesSlides/notesSlide25.xml" Id="Rf1f6fd19e4b643c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80ac594c94287" /><Relationship Type="http://schemas.openxmlformats.org/officeDocument/2006/relationships/image" Target="/ppt/media/image4.png" Id="R52bf069ec5a84b2d" /><Relationship Type="http://schemas.openxmlformats.org/officeDocument/2006/relationships/notesSlide" Target="/ppt/notesSlides/notesSlide26.xml" Id="R365c9936b8944f2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2eb5160aa4e9e" /><Relationship Type="http://schemas.openxmlformats.org/officeDocument/2006/relationships/image" Target="/ppt/media/image5.png" Id="Rbdcf965b3d5245dd" /><Relationship Type="http://schemas.openxmlformats.org/officeDocument/2006/relationships/notesSlide" Target="/ppt/notesSlides/notesSlide27.xml" Id="Rda2a8d9d49284d6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134399b024a7d" /><Relationship Type="http://schemas.openxmlformats.org/officeDocument/2006/relationships/image" Target="/ppt/media/image6.png" Id="Rfd31a08c61ca4c42" /><Relationship Type="http://schemas.openxmlformats.org/officeDocument/2006/relationships/notesSlide" Target="/ppt/notesSlides/notesSlide28.xml" Id="R953ea465b9e8404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a25302f184269" /><Relationship Type="http://schemas.openxmlformats.org/officeDocument/2006/relationships/notesSlide" Target="/ppt/notesSlides/notesSlide29.xml" Id="R973308b3cd234f8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52f07bf0b464f" /><Relationship Type="http://schemas.openxmlformats.org/officeDocument/2006/relationships/notesSlide" Target="/ppt/notesSlides/notesSlide30.xml" Id="R287914adf5ab408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3307534684c5e" /><Relationship Type="http://schemas.openxmlformats.org/officeDocument/2006/relationships/notesSlide" Target="/ppt/notesSlides/notesSlide31.xml" Id="R7e2178754e934b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5B2EE6-097B-4D5A-BC6C-F406891F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4160D-27B2-4E4F-B0BF-98C741E4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F75BD-1249-400E-BF0D-EF9F9E2B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ERP 与 AI 融合实践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D2D6C9-A588-4C7D-8DC0-E30E51C3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04925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CDDE1"/>
                </a:solidFill>
              </a:defRPr>
            </a:pPr>
            <a:r>
              <a:rPr sz="2025" b="0">
                <a:solidFill>
                  <a:srgbClr val="ECDDE1"/>
                </a:solidFill>
              </a:rPr>
              <a:t>从聊天发起审批，到聊天填写日报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61594-F2E0-4CC3-A710-A21C70D9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82523"/>
                </a:solidFill>
              </a:defRPr>
            </a:pPr>
            <a:r>
              <a:rPr sz="2325" b="1">
                <a:solidFill>
                  <a:srgbClr val="282523"/>
                </a:solidFill>
              </a:rPr>
              <a:t>让用户直接表达业务目标，让 AI 在 ERP 规则内协助完成操作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433C7-1C12-4BB5-9800-74C63FB5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2400300" cy="1104900"/>
          </a:xfrm>
          <a:prstGeom xmlns:a="http://schemas.openxmlformats.org/drawingml/2006/main" prst="roundRect">
            <a:avLst>
              <a:gd name="adj" fmla="val 189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D1E49-1DB1-4975-B234-70EB84C4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672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智能审批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8EA1C-BA8E-449A-9E0B-D10F7563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9149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35E"/>
                </a:solidFill>
              </a:defRPr>
            </a:pPr>
            <a:r>
              <a:rPr sz="975" b="0">
                <a:solidFill>
                  <a:srgbClr val="6E635E"/>
                </a:solidFill>
              </a:rPr>
              <a:t>approval_creation_agent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F8E9A4-739D-487F-A296-C9C8A5D8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38625"/>
            <a:ext cx="2400300" cy="1104900"/>
          </a:xfrm>
          <a:prstGeom xmlns:a="http://schemas.openxmlformats.org/drawingml/2006/main" prst="roundRect">
            <a:avLst>
              <a:gd name="adj" fmla="val 189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199D6-7ECB-4FDD-91D5-CE5DDE4B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672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标准日报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DDE83-1170-43A5-988F-D28A79ED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9149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35E"/>
                </a:solidFill>
              </a:defRPr>
            </a:pPr>
            <a:r>
              <a:rPr sz="975" b="0">
                <a:solidFill>
                  <a:srgbClr val="6E635E"/>
                </a:solidFill>
              </a:rPr>
              <a:t>daily_report_agent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5E021D-958E-4649-9FF9-A3FEB052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38625"/>
            <a:ext cx="2400300" cy="1104900"/>
          </a:xfrm>
          <a:prstGeom xmlns:a="http://schemas.openxmlformats.org/drawingml/2006/main" prst="roundRect">
            <a:avLst>
              <a:gd name="adj" fmla="val 18966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13335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DA7F6D-75A0-4063-A65E-CBA3CDD3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672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自主日报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8E2AAB-784D-402E-85A5-2A011349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9149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35E"/>
                </a:solidFill>
              </a:defRPr>
            </a:pPr>
            <a:r>
              <a:rPr sz="975" b="0">
                <a:solidFill>
                  <a:srgbClr val="6E635E"/>
                </a:solidFill>
              </a:rPr>
              <a:t>daily_report_create_agent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30737D-E6F0-47AE-A840-52790260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38625"/>
            <a:ext cx="2400300" cy="1104900"/>
          </a:xfrm>
          <a:prstGeom xmlns:a="http://schemas.openxmlformats.org/drawingml/2006/main" prst="roundRect">
            <a:avLst>
              <a:gd name="adj" fmla="val 18966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13335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FA112D-10DA-4552-A529-D7D6FCFE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672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Agentic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9CC4F0-8D84-4C19-8E42-6AFD7DA4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9149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35E"/>
                </a:solidFill>
              </a:defRPr>
            </a:pPr>
            <a:r>
              <a:rPr sz="975" b="0">
                <a:solidFill>
                  <a:srgbClr val="6E635E"/>
                </a:solidFill>
              </a:rPr>
              <a:t>daily_report_agentic_workflow_demo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3BB25B-A28B-426C-BDAB-4C2C9D63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53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6C6B"/>
                </a:solidFill>
              </a:defRPr>
            </a:pPr>
            <a:r>
              <a:rPr sz="1050" b="1">
                <a:solidFill>
                  <a:srgbClr val="A66C6B"/>
                </a:solidFill>
              </a:rPr>
              <a:t>AI APPROVAL ASSISTANT · 场景实践分享</a:t>
            </a:r>
          </a:p>
        </p:txBody>
      </p:sp>
    </p:spTree>
    <p:extLst>
      <p:ext uri="{BB962C8B-B14F-4D97-AF65-F5344CB8AC3E}">
        <p14:creationId xmlns:p14="http://schemas.microsoft.com/office/powerpoint/2010/main" val="8721489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C60461-7335-4E62-86BF-B3255213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2B820-2AD1-46F8-B9CC-B58E378F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本次分享围绕四个核心问题展开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0C113-E93A-4900-96DC-DFC99B30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8490B-BC3F-4862-AAA5-A8761EC7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A6669-DC25-4FA5-8B3F-A3575EC8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5181600" cy="1847850"/>
          </a:xfrm>
          <a:prstGeom xmlns:a="http://schemas.openxmlformats.org/drawingml/2006/main" prst="roundRect">
            <a:avLst>
              <a:gd name="adj" fmla="val 12887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4288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EAB59-4BF0-4B56-A018-DCAF2818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95475"/>
            <a:ext cx="666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4364A"/>
                </a:solidFill>
              </a:defRPr>
            </a:pPr>
            <a:r>
              <a:rPr sz="2250" b="1">
                <a:solidFill>
                  <a:srgbClr val="74364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D5DE9-6C87-45B6-8B31-E4FE8537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1905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4364A"/>
                </a:solidFill>
              </a:defRPr>
            </a:pPr>
            <a:r>
              <a:rPr sz="2025" b="1">
                <a:solidFill>
                  <a:srgbClr val="74364A"/>
                </a:solidFill>
              </a:rPr>
              <a:t>应用场景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C11BA-1F6B-4EBB-90E9-062257A4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4669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AI 与 ERP 如何结合？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ACC42C-A7B6-44B2-8656-6A25F74E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8670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聊天发起审批、聊天填写日报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224BF-931B-43B4-A4B1-874F5847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5181600" cy="1847850"/>
          </a:xfrm>
          <a:prstGeom xmlns:a="http://schemas.openxmlformats.org/drawingml/2006/main" prst="roundRect">
            <a:avLst>
              <a:gd name="adj" fmla="val 12887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4288">
            <a:solidFill>
              <a:srgbClr val="BF73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A87B3-3613-451A-B492-2C7DF629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95475"/>
            <a:ext cx="666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F7326"/>
                </a:solidFill>
              </a:defRPr>
            </a:pPr>
            <a:r>
              <a:rPr sz="2250" b="1">
                <a:solidFill>
                  <a:srgbClr val="BF7326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13387-95EB-4139-96C8-5F0F7308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905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F7326"/>
                </a:solidFill>
              </a:defRPr>
            </a:pPr>
            <a:r>
              <a:rPr sz="2025" b="1">
                <a:solidFill>
                  <a:srgbClr val="BF7326"/>
                </a:solidFill>
              </a:rPr>
              <a:t>实施路径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6431D0-B5B2-46BC-99E1-336930F9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4669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如何把想法做成可用能力？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9B796-75C5-4724-AC62-132F1DFB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670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开发聊天助手，接入 ERP，并用 LangGraph 编排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A4A444-A9A5-4298-82FC-F717C366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6675"/>
            <a:ext cx="5181600" cy="1847850"/>
          </a:xfrm>
          <a:prstGeom xmlns:a="http://schemas.openxmlformats.org/drawingml/2006/main" prst="roundRect">
            <a:avLst>
              <a:gd name="adj" fmla="val 12887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4288">
            <a:solidFill>
              <a:srgbClr val="3E755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0D48DF-25F2-40AD-AF92-971557EC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666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E7551"/>
                </a:solidFill>
              </a:defRPr>
            </a:pPr>
            <a:r>
              <a:rPr sz="2250" b="1">
                <a:solidFill>
                  <a:srgbClr val="3E7551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0C9E4-77C6-4458-8A6F-F4C7A851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1243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E7551"/>
                </a:solidFill>
              </a:defRPr>
            </a:pPr>
            <a:r>
              <a:rPr sz="2025" b="1">
                <a:solidFill>
                  <a:srgbClr val="3E7551"/>
                </a:solidFill>
              </a:rPr>
              <a:t>预期效果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1F3D86-A949-45DD-B7BC-56EC02C6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863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最终希望实现什么？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F8E53C-B040-43B7-B9D6-0BD266B1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0863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聊天请假、聊天发日报，形成可确认的业务闭环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0D9464-0E8F-4606-989B-01AA0312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76675"/>
            <a:ext cx="5181600" cy="1847850"/>
          </a:xfrm>
          <a:prstGeom xmlns:a="http://schemas.openxmlformats.org/drawingml/2006/main" prst="roundRect">
            <a:avLst>
              <a:gd name="adj" fmla="val 12887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4288">
            <a:solidFill>
              <a:srgbClr val="B448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11A149-40FF-4549-BE29-955F75B4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666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4842"/>
                </a:solidFill>
              </a:defRPr>
            </a:pPr>
            <a:r>
              <a:rPr sz="2250" b="1">
                <a:solidFill>
                  <a:srgbClr val="B44842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49650C-1CF2-4064-AAF2-AF9A9089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1243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44842"/>
                </a:solidFill>
              </a:defRPr>
            </a:pPr>
            <a:r>
              <a:rPr sz="2025" b="1">
                <a:solidFill>
                  <a:srgbClr val="B44842"/>
                </a:solidFill>
              </a:rPr>
              <a:t>遇到的问题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FB7673-6E0C-40F0-8DBB-EB35DC42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6863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实际开发为什么变复杂？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2849F7-5E0A-41E8-BF7E-DDEA70AE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0863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动态组件、if-else 增长、节点复杂、排查困难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72F40F-4DF7-4CAD-BC01-C809C86C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674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D293B"/>
                </a:solidFill>
              </a:defRPr>
            </a:pPr>
            <a:r>
              <a:rPr sz="1575" b="1">
                <a:solidFill>
                  <a:srgbClr val="5D293B"/>
                </a:solidFill>
              </a:rPr>
              <a:t>核心目标：让用户直接表达业务目标，让 AI 在 ERP 的数据、规则和权限边界内协助执行</a:t>
            </a:r>
          </a:p>
        </p:txBody>
      </p:sp>
    </p:spTree>
    <p:extLst>
      <p:ext uri="{BB962C8B-B14F-4D97-AF65-F5344CB8AC3E}">
        <p14:creationId xmlns:p14="http://schemas.microsoft.com/office/powerpoint/2010/main" val="11351595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E1044D-A59E-4B29-A1C7-5AB0D96E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85C64-B88E-4678-97C3-8FC567C0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首批场景聚焦两个高频动作：审批与日报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64284-3E9D-49DB-A829-D30C0BBB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C335E-3333-43BD-86C2-33C94208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4D46D-8A66-46BE-AA45-7FF979FD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33525"/>
            <a:ext cx="5048250" cy="319087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11727-77AC-4C62-925B-E46E6926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383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364A"/>
                </a:solidFill>
              </a:defRPr>
            </a:pPr>
            <a:r>
              <a:rPr sz="2100" b="1">
                <a:solidFill>
                  <a:srgbClr val="74364A"/>
                </a:solidFill>
              </a:rPr>
              <a:t>聊天发起审批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50CEA-70B4-40B9-A42F-BAFE14FE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76475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35E"/>
                </a:solidFill>
              </a:defRPr>
            </a:pPr>
            <a:r>
              <a:rPr sz="1500" b="0">
                <a:solidFill>
                  <a:srgbClr val="6E635E"/>
                </a:solidFill>
              </a:rPr>
              <a:t>一句话表达需求，助手根据真实审批配置逐步引导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73740-7382-4471-9611-226C2649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000375"/>
            <a:ext cx="3067050" cy="590550"/>
          </a:xfrm>
          <a:prstGeom xmlns:a="http://schemas.openxmlformats.org/drawingml/2006/main" prst="roundRect">
            <a:avLst>
              <a:gd name="adj" fmla="val 32258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A267C9-9700-4492-8030-965DF664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4325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我明天下午请假 2 小时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32B054-62F2-4057-9C77-AD19CCD3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81425"/>
            <a:ext cx="3295650" cy="590550"/>
          </a:xfrm>
          <a:prstGeom xmlns:a="http://schemas.openxmlformats.org/drawingml/2006/main" prst="roundRect">
            <a:avLst>
              <a:gd name="adj" fmla="val 322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1EBC20-0467-4CEB-802D-C236E488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243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请选择请假类型，并确认开始时间。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6283FD-38C7-4ED3-925F-3E85E7C4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33525"/>
            <a:ext cx="5048250" cy="319087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49C878-055D-453F-A345-8A99AEBB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383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364A"/>
                </a:solidFill>
              </a:defRPr>
            </a:pPr>
            <a:r>
              <a:rPr sz="2100" b="1">
                <a:solidFill>
                  <a:srgbClr val="74364A"/>
                </a:solidFill>
              </a:rPr>
              <a:t>聊天填写日报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285386-BBA9-4FAA-8B8B-F9BB232D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76475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35E"/>
                </a:solidFill>
              </a:defRPr>
            </a:pPr>
            <a:r>
              <a:rPr sz="1500" b="0">
                <a:solidFill>
                  <a:srgbClr val="6E635E"/>
                </a:solidFill>
              </a:rPr>
              <a:t>用自然语言描述工作，助手加载 ERP 上下文并形成预览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775EDA-274B-4844-AF6C-6366D705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00375"/>
            <a:ext cx="4067175" cy="64770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1ECC3-8180-40EF-99F8-CC234FD7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43250"/>
            <a:ext cx="36480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帮我写今天日报：完成客户拜访和报价整理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BC41FB-5EC0-4E1E-95E3-270698B7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48100"/>
            <a:ext cx="3333750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EC79CC-6479-4CE5-B942-6B300F89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9097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日报草稿已生成，确认后提交。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C731F7-98EB-4FDD-8750-DA3EC68E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1435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2523"/>
                </a:solidFill>
              </a:defRPr>
            </a:pPr>
            <a:r>
              <a:rPr sz="1725" b="1">
                <a:solidFill>
                  <a:srgbClr val="282523"/>
                </a:solidFill>
              </a:rPr>
              <a:t>当前项目用四种方案验证不同业务复杂度下的 AI 编排方式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A06F0E-04D0-4709-9CFF-994E397C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676900"/>
            <a:ext cx="2505075" cy="666750"/>
          </a:xfrm>
          <a:prstGeom xmlns:a="http://schemas.openxmlformats.org/drawingml/2006/main" prst="roundRect">
            <a:avLst>
              <a:gd name="adj" fmla="val 2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436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817E4D-66A2-4F2D-AFB1-EA691695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72150"/>
            <a:ext cx="2219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审批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4E6BC3-0059-43E7-B232-CFB5AA54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048375"/>
            <a:ext cx="2219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显式流程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C61795-06AF-4D7F-B668-EFEFE634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676900"/>
            <a:ext cx="2505075" cy="666750"/>
          </a:xfrm>
          <a:prstGeom xmlns:a="http://schemas.openxmlformats.org/drawingml/2006/main" prst="roundRect">
            <a:avLst>
              <a:gd name="adj" fmla="val 2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6C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56173B-ADAB-4AA6-B47D-04894AC0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772150"/>
            <a:ext cx="2219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66C6B"/>
                </a:solidFill>
              </a:defRPr>
            </a:pPr>
            <a:r>
              <a:rPr sz="1350" b="1">
                <a:solidFill>
                  <a:srgbClr val="A66C6B"/>
                </a:solidFill>
              </a:rPr>
              <a:t>标准日报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16DDA8-1DEE-4E79-8C51-C81886E6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6048375"/>
            <a:ext cx="2219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稳定执行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C1134D-715B-48BD-8AE8-D39F9E44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676900"/>
            <a:ext cx="2505075" cy="666750"/>
          </a:xfrm>
          <a:prstGeom xmlns:a="http://schemas.openxmlformats.org/drawingml/2006/main" prst="roundRect">
            <a:avLst>
              <a:gd name="adj" fmla="val 2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F73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BF2126-797C-49B6-B3EE-8A8CFEC4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72150"/>
            <a:ext cx="2219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自主日报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089D39-6700-45D8-9856-50DBD4D1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048375"/>
            <a:ext cx="2219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Agent 决策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DADFA5-DF2E-44E0-BD7C-13F93100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676900"/>
            <a:ext cx="2505075" cy="666750"/>
          </a:xfrm>
          <a:prstGeom xmlns:a="http://schemas.openxmlformats.org/drawingml/2006/main" prst="roundRect">
            <a:avLst>
              <a:gd name="adj" fmla="val 2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E755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A3668D-B797-490F-85E7-B47C3651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772150"/>
            <a:ext cx="2219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Agentic Workflow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859C02-FC48-422A-9379-F62EB012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6048375"/>
            <a:ext cx="2219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自主 + 闸门</a:t>
            </a:r>
          </a:p>
        </p:txBody>
      </p:sp>
    </p:spTree>
    <p:extLst>
      <p:ext uri="{BB962C8B-B14F-4D97-AF65-F5344CB8AC3E}">
        <p14:creationId xmlns:p14="http://schemas.microsoft.com/office/powerpoint/2010/main" val="13797914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3D1667-A258-4DD7-B508-B5F518F1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9538D-AA6C-4CD3-BB93-1CD3D5BE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现场演示：用两条对话证明业务闭环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F17DA-4201-4CA7-99C6-CCCB9F8E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LIVE DEMO · 2–3 MIN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57426-469D-44E7-BC27-65533E08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B7786-7B4A-41B0-A211-B2D92D05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124450" cy="38385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F46FE-372B-4ABF-A346-579A900E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5260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4364A"/>
                </a:solidFill>
              </a:defRPr>
            </a:pPr>
            <a:r>
              <a:rPr sz="1950" b="1">
                <a:solidFill>
                  <a:srgbClr val="74364A"/>
                </a:solidFill>
              </a:rPr>
              <a:t>演示一：聊天请假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FFF70-509A-4DC1-886A-850AF5AD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52675"/>
            <a:ext cx="128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E635E"/>
                </a:solidFill>
              </a:defRPr>
            </a:pPr>
            <a:r>
              <a:rPr sz="1425" b="1">
                <a:solidFill>
                  <a:srgbClr val="6E635E"/>
                </a:solidFill>
              </a:rPr>
              <a:t>现场输入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2405E-5228-40FF-908C-78E3E923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76525"/>
            <a:ext cx="2190750" cy="5334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353E7-5C7D-47A3-AEBA-A5ECFF48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1940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我要请假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AA59A6-167A-4DFD-BF5C-45BBD1F7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继续补充：请假类型、开始时间、结束时间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53F27-88F0-4B38-8CAA-9D17F990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14775"/>
            <a:ext cx="128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E635E"/>
                </a:solidFill>
              </a:defRPr>
            </a:pPr>
            <a:r>
              <a:rPr sz="1425" b="1">
                <a:solidFill>
                  <a:srgbClr val="6E635E"/>
                </a:solidFill>
              </a:rPr>
              <a:t>展示结果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88D32D-9A0E-4563-BC7F-14E18032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76725"/>
            <a:ext cx="4191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E7551"/>
                </a:solidFill>
              </a:defRPr>
            </a:pPr>
            <a:r>
              <a:rPr sz="1425" b="1">
                <a:solidFill>
                  <a:srgbClr val="3E7551"/>
                </a:solidFill>
              </a:rPr>
              <a:t>动态追问 → 字段校验 → 审批预览 → 确认提交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17C9B3-F1B2-4A41-A04C-4ABE69D3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95850"/>
            <a:ext cx="419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关键观察：不打开 ERP 表单，也能遵守原审批规则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96340B-4D0E-447D-8C9D-6BE425A4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66850"/>
            <a:ext cx="5124450" cy="38385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4288">
            <a:solidFill>
              <a:srgbClr val="BF73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6418C-3B5E-400B-B12F-9190AF80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52600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F7326"/>
                </a:solidFill>
              </a:defRPr>
            </a:pPr>
            <a:r>
              <a:rPr sz="1950" b="1">
                <a:solidFill>
                  <a:srgbClr val="BF7326"/>
                </a:solidFill>
              </a:rPr>
              <a:t>演示二：聊天发日报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71082-2BA7-4485-BBF7-9D74CAA7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52675"/>
            <a:ext cx="128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E635E"/>
                </a:solidFill>
              </a:defRPr>
            </a:pPr>
            <a:r>
              <a:rPr sz="1425" b="1">
                <a:solidFill>
                  <a:srgbClr val="6E635E"/>
                </a:solidFill>
              </a:rPr>
              <a:t>现场输入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98494C-8DFA-4CDE-A745-803C6FCB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76525"/>
            <a:ext cx="4171950" cy="6096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A5ABB6-C24D-401D-B820-057781FB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19400"/>
            <a:ext cx="3752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写今天日报：完成审批助手开发和接口联调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4DBFB3-2F00-40D3-9743-3D148C42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09975"/>
            <a:ext cx="128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E635E"/>
                </a:solidFill>
              </a:defRPr>
            </a:pPr>
            <a:r>
              <a:rPr sz="1425" b="1">
                <a:solidFill>
                  <a:srgbClr val="6E635E"/>
                </a:solidFill>
              </a:rPr>
              <a:t>展示结果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E732C3-D87D-4B52-9893-CEB9CC15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71925"/>
            <a:ext cx="4191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E7551"/>
                </a:solidFill>
              </a:defRPr>
            </a:pPr>
            <a:r>
              <a:rPr sz="1425" b="1">
                <a:solidFill>
                  <a:srgbClr val="3E7551"/>
                </a:solidFill>
              </a:rPr>
              <a:t>加载上下文 → 生成草稿 → 预览 → 确认提交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AF9EAC-B197-4EF5-B4EA-3B503027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91050"/>
            <a:ext cx="419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关键观察：日报内容可以自然表达，业务字段仍然保留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6A55D0-3501-4013-8827-23292678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676900"/>
            <a:ext cx="10658475" cy="542925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CF5695-8249-4A34-8256-0333BF79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29300"/>
            <a:ext cx="1014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演示原则：先展示输入与结果，再解释背后的 Agent、Workflow 和 ERP Tool</a:t>
            </a:r>
          </a:p>
        </p:txBody>
      </p:sp>
    </p:spTree>
    <p:extLst>
      <p:ext uri="{BB962C8B-B14F-4D97-AF65-F5344CB8AC3E}">
        <p14:creationId xmlns:p14="http://schemas.microsoft.com/office/powerpoint/2010/main" val="14652619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D9AB65-E251-48A2-9902-C5338A51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1948A-7406-4573-B860-DE5F4036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行业现状：AI 使用率很高，规模化价值仍有明显断层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D2C09-970A-45C2-86E8-6107728F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GLOBAL AI ADOPTION · 2025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CA44B-56E8-43E5-8336-8D6F9101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FAC89-96EF-4231-A9D7-A77A151F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74364A"/>
                </a:solidFill>
              </a:defRPr>
            </a:pPr>
            <a:r>
              <a:rPr sz="4350" b="1">
                <a:solidFill>
                  <a:srgbClr val="74364A"/>
                </a:solidFill>
              </a:rPr>
              <a:t>88%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3DED7-868B-4A9D-9467-9C0D22A8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81225"/>
            <a:ext cx="3219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2523"/>
                </a:solidFill>
              </a:defRPr>
            </a:pPr>
            <a:r>
              <a:rPr sz="1575" b="1">
                <a:solidFill>
                  <a:srgbClr val="282523"/>
                </a:solidFill>
              </a:rPr>
              <a:t>至少一个业务职能常态化使用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5863B-1A51-4704-A4D4-3E7C69B5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2024 年为 78%，一年提升 10 个百分点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7C985-E865-4391-B4D7-8C7C2CCC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48577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09942-D8C5-4BFB-BDD2-3CA967D4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4276725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A10FDC-46BD-4FA6-8AA2-B6C6EE85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2422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88% 已使用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60016B-E84A-4AF9-8747-8F20AECD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82523"/>
                </a:solidFill>
              </a:defRPr>
            </a:pPr>
            <a:r>
              <a:rPr sz="1875" b="1">
                <a:solidFill>
                  <a:srgbClr val="282523"/>
                </a:solidFill>
              </a:rPr>
              <a:t>但规模化仍是少数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33D41-4636-4DDC-9635-71277A85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57725"/>
            <a:ext cx="4857750" cy="447675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19A89B-2154-4EB6-9317-9CC9B8F8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57725"/>
            <a:ext cx="1619250" cy="447675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F3631-6D9A-41F3-B5A4-FA206F08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5297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约 1/3 已规模化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73F1AD-B5B7-4D0B-8F76-9F9BCCAF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7625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近 2/3 尚未开始企业级扩展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EB71F-F547-4524-962A-73E41427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90675"/>
            <a:ext cx="2428875" cy="1809750"/>
          </a:xfrm>
          <a:prstGeom xmlns:a="http://schemas.openxmlformats.org/drawingml/2006/main" prst="roundRect">
            <a:avLst>
              <a:gd name="adj" fmla="val 12105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3335">
            <a:solidFill>
              <a:srgbClr val="BF73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AAE551-70D4-4CFA-B753-279C26D2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00225"/>
            <a:ext cx="2009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BF7326"/>
                </a:solidFill>
              </a:defRPr>
            </a:pPr>
            <a:r>
              <a:rPr sz="3225" b="1">
                <a:solidFill>
                  <a:srgbClr val="BF7326"/>
                </a:solidFill>
              </a:rPr>
              <a:t>62%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7551D2-DB2F-4AF1-A992-127C1A13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7450"/>
            <a:ext cx="2009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试验或使用 AI 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3CC1ED-AE81-43A6-B045-826BED09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23% 已扩展 · 39% 试验中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04185D-375F-4AA9-823D-2241C041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590675"/>
            <a:ext cx="2428875" cy="1809750"/>
          </a:xfrm>
          <a:prstGeom xmlns:a="http://schemas.openxmlformats.org/drawingml/2006/main" prst="roundRect">
            <a:avLst>
              <a:gd name="adj" fmla="val 12105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3335">
            <a:solidFill>
              <a:srgbClr val="3E755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B29181-6C5D-4AC9-BC15-8DD69A29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800225"/>
            <a:ext cx="2009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3E7551"/>
                </a:solidFill>
              </a:defRPr>
            </a:pPr>
            <a:r>
              <a:rPr sz="3225" b="1">
                <a:solidFill>
                  <a:srgbClr val="3E7551"/>
                </a:solidFill>
              </a:rPr>
              <a:t>39%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135E59-4467-4F61-982E-E9951FD5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57450"/>
            <a:ext cx="2009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报告企业级 EBIT 影响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741DDA-E6A4-470C-90E2-48A7A971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527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价值影响仍未成为多数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EC1623-F55A-4B7E-BAF7-465B8EFE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24275"/>
            <a:ext cx="2428875" cy="1809750"/>
          </a:xfrm>
          <a:prstGeom xmlns:a="http://schemas.openxmlformats.org/drawingml/2006/main" prst="roundRect">
            <a:avLst>
              <a:gd name="adj" fmla="val 12105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3335">
            <a:solidFill>
              <a:srgbClr val="B448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FA1B86-02CB-4343-B625-97C132F3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33825"/>
            <a:ext cx="2009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B44842"/>
                </a:solidFill>
              </a:defRPr>
            </a:pPr>
            <a:r>
              <a:rPr sz="3225" b="1">
                <a:solidFill>
                  <a:srgbClr val="B44842"/>
                </a:solidFill>
              </a:rPr>
              <a:t>51%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B2C6A7-85EE-4D13-BF47-01404D0A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91050"/>
            <a:ext cx="2009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遇到至少一种负面后果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071F3C-0DB6-4047-9676-583DF292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863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近三分之一提到 AI 不准确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2071D1-80BD-4FF8-BA99-97423CC5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24275"/>
            <a:ext cx="2428875" cy="1809750"/>
          </a:xfrm>
          <a:prstGeom xmlns:a="http://schemas.openxmlformats.org/drawingml/2006/main" prst="roundRect">
            <a:avLst>
              <a:gd name="adj" fmla="val 12105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335">
            <a:solidFill>
              <a:srgbClr val="7436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25F548-80F3-499A-807A-1972DBF7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933825"/>
            <a:ext cx="2009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74364A"/>
                </a:solidFill>
              </a:defRPr>
            </a:pPr>
            <a:r>
              <a:rPr sz="3225" b="1">
                <a:solidFill>
                  <a:srgbClr val="74364A"/>
                </a:solidFill>
              </a:rPr>
              <a:t>6%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624D56-7204-40A8-A1C2-2EF227E8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591050"/>
            <a:ext cx="2009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被归为 AI 高绩效组织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EF2181-8763-473A-8392-17E6ED09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0863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更重视流程重构与规模化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6864DC-B817-4197-B4AD-ACBF02E8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668000" cy="485775"/>
          </a:xfrm>
          <a:prstGeom xmlns:a="http://schemas.openxmlformats.org/drawingml/2006/main" prst="roundRect">
            <a:avLst>
              <a:gd name="adj" fmla="val 27451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CBC753-A16F-40FA-8E35-1CAC8891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15025"/>
            <a:ext cx="10172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结论：真正的竞争点不是“接入模型”，而是把 AI 嵌入业务流程并形成可控执行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F62884-4CE8-46D5-952A-14774AB1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341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35E"/>
                </a:solidFill>
              </a:defRPr>
            </a:pPr>
            <a:r>
              <a:rPr sz="900" b="0">
                <a:solidFill>
                  <a:srgbClr val="6E635E"/>
                </a:solidFill>
              </a:rPr>
              <a:t>数据来源：McKinsey《The state of AI in 2025》（2025，n=1,993，覆盖 105 个国家）</a:t>
            </a:r>
          </a:p>
        </p:txBody>
      </p:sp>
    </p:spTree>
    <p:extLst>
      <p:ext uri="{BB962C8B-B14F-4D97-AF65-F5344CB8AC3E}">
        <p14:creationId xmlns:p14="http://schemas.microsoft.com/office/powerpoint/2010/main" val="5747168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61E38D-C53E-471D-8733-33A3C00F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76163-C228-483B-B1C6-9902C42E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价值现状：企业持续投入，但 AI 回报尚未普遍兑现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6086DD-0919-44EA-B7EB-8EC57DAC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PWC GLOBAL CEO SURVEY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F87B5-8517-4C2D-B8A6-AFAE614B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9714D-1A72-4830-8EDC-4BAC3BA7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438275"/>
            <a:ext cx="609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82523"/>
                </a:solidFill>
              </a:defRPr>
            </a:pPr>
            <a:r>
              <a:rPr sz="1875" b="1">
                <a:solidFill>
                  <a:srgbClr val="282523"/>
                </a:solidFill>
              </a:rPr>
              <a:t>4,454 位 CEO · 95 个国家和地区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183C1-8C7A-4FBB-A62C-C4354C6E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19275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调研时间：2025 年 9 月 30 日—11 月 10 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4C4F5-04F4-4540-AB42-E676A823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45745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3335">
            <a:solidFill>
              <a:srgbClr val="3E75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D58C51-7311-4025-B300-AF0B0F70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2114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3E7551"/>
                </a:solidFill>
              </a:defRPr>
            </a:pPr>
            <a:r>
              <a:rPr sz="3225" b="1">
                <a:solidFill>
                  <a:srgbClr val="3E7551"/>
                </a:solidFill>
              </a:rPr>
              <a:t>30%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3650C-6852-4B82-ACBA-DCAECCB3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3372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AI 带来收入增长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E5DB39-D2EC-43FD-8AB9-3C9B738B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05050"/>
            <a:ext cx="245745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3335">
            <a:solidFill>
              <a:srgbClr val="BF73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2C54E7-D03F-48B8-9264-A900F01B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76500"/>
            <a:ext cx="2114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BF7326"/>
                </a:solidFill>
              </a:defRPr>
            </a:pPr>
            <a:r>
              <a:rPr sz="3225" b="1">
                <a:solidFill>
                  <a:srgbClr val="BF7326"/>
                </a:solidFill>
              </a:rPr>
              <a:t>26%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608C51-4C3D-43A1-9D22-7A930DED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13372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AI 带来成本下降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DFE435-D8F1-4D68-A1D5-2705E991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05050"/>
            <a:ext cx="245745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3335">
            <a:solidFill>
              <a:srgbClr val="B448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148A70-ED3C-4259-9E7D-E85B5B67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2114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B44842"/>
                </a:solidFill>
              </a:defRPr>
            </a:pPr>
            <a:r>
              <a:rPr sz="3225" b="1">
                <a:solidFill>
                  <a:srgbClr val="B44842"/>
                </a:solidFill>
              </a:rPr>
              <a:t>56%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9D06E7-5839-44AF-8657-E5E6ED5A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3372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既未增收也未降本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314B49-E509-4EC4-8AFB-5DB86A66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305050"/>
            <a:ext cx="245745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335">
            <a:solidFill>
              <a:srgbClr val="7436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DCBB82-4CC0-4D0C-85B5-B0391258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476500"/>
            <a:ext cx="2114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74364A"/>
                </a:solidFill>
              </a:defRPr>
            </a:pPr>
            <a:r>
              <a:rPr sz="3225" b="1">
                <a:solidFill>
                  <a:srgbClr val="74364A"/>
                </a:solidFill>
              </a:rPr>
              <a:t>12%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3E35A6-84C1-4525-9CEE-DAE299D9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13372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同时实现增收与降本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4555F5-D63A-46A1-993E-4630257D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7175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4364A"/>
                </a:solidFill>
              </a:defRPr>
            </a:pPr>
            <a:r>
              <a:rPr sz="1800" b="1">
                <a:solidFill>
                  <a:srgbClr val="74364A"/>
                </a:solidFill>
              </a:rPr>
              <a:t>AI 在业务领域“大范围应用”的比例仍然不高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6694E3-82E9-483C-810A-9739CF8D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获客 / 需求生成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406C71-045A-4DCE-B02D-44328B58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05325"/>
            <a:ext cx="66675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65CB2B-285A-44D8-840C-B43DD345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05325"/>
            <a:ext cx="58674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62F45E-ACA3-4ED4-912B-76029DB0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672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22%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5FC260-D1FB-4B9C-ACE9-E1B10D0B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支持服务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D688B0-BCB8-46CF-A03D-EE7D44CF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72025"/>
            <a:ext cx="66675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E5BC35-F810-4889-9E27-FF8431EC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72025"/>
            <a:ext cx="53340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6AFEAE-5D10-46F1-94BD-639AE13D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7339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20%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9F151A-66B0-4B5D-B03E-07C9402E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产品、服务与体验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BAE1E1-5B0F-489A-8D89-7B342AC7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38725"/>
            <a:ext cx="66675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4FD265-18AC-422B-9E07-3CBA64F1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38725"/>
            <a:ext cx="50673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97393D-401B-43BC-93B9-79EEB596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0006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19%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35272A-C932-4DC8-A42D-C7034631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战略决策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842033-53E8-4F1D-86DE-041507E2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05425"/>
            <a:ext cx="66675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09ECDA-5139-4C09-B927-4D0EBA25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05425"/>
            <a:ext cx="40005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432732-80B6-448E-AC6E-1A27AE0C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673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15%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20EF4C-F1C7-435F-BF25-9B622551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需求履约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D76375-B5EF-4CE6-9CD2-F37AEC50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72125"/>
            <a:ext cx="66675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7864F2-1A53-443F-A24A-0713ED79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72125"/>
            <a:ext cx="34671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8FF971-3138-4BC7-98D2-F8467426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534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13%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11F5AB-D307-475B-9356-EEB1F43F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4360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D293B"/>
                </a:solidFill>
              </a:defRPr>
            </a:pPr>
            <a:r>
              <a:rPr sz="1350" b="1">
                <a:solidFill>
                  <a:srgbClr val="5D293B"/>
                </a:solidFill>
              </a:rPr>
              <a:t>孤立功能难以产生可衡量价值：需要业务流程、数据基础、风险机制和组织采用共同推进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79B5F8-2408-417A-A153-4B5CCB07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0"/>
            <a:ext cx="1047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635E"/>
                </a:solidFill>
              </a:defRPr>
            </a:pPr>
            <a:r>
              <a:rPr sz="825" b="0">
                <a:solidFill>
                  <a:srgbClr val="6E635E"/>
                </a:solidFill>
              </a:rPr>
              <a:t>数据来源：PwC《29th Global CEO Survey: Leading through uncertainty in the age of AI》（2026，n=4,454，覆盖 95 个国家和地区）</a:t>
            </a:r>
          </a:p>
        </p:txBody>
      </p:sp>
    </p:spTree>
    <p:extLst>
      <p:ext uri="{BB962C8B-B14F-4D97-AF65-F5344CB8AC3E}">
        <p14:creationId xmlns:p14="http://schemas.microsoft.com/office/powerpoint/2010/main" val="10835868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F3F749-4421-4857-8BFD-C2F2314E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4C7F3-3DA2-4F87-90F0-CFF5F35F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实施路径：从业务试点到可复用聊天助手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28095-612A-43CD-A59A-E60E18DE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47F83-62B1-4685-A946-0D4A8F78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4F1EC-8FC2-4306-8164-D904E6B5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295650" cy="174307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335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626A4C-076B-44C5-A151-5B22F946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847850"/>
            <a:ext cx="59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4364A"/>
                </a:solidFill>
              </a:defRPr>
            </a:pPr>
            <a:r>
              <a:rPr sz="2025" b="1">
                <a:solidFill>
                  <a:srgbClr val="74364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2F767-8EDA-4E6A-BF9B-A705C53D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8478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选择试点场景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CEE3A-FD12-42BE-A6DD-D7C7FC7D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2762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先做审批与日报，验证查询、补充信息和写入闭环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9851A-6997-4A4E-BDB7-667B8F24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638300"/>
            <a:ext cx="3295650" cy="174307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3335">
            <a:solidFill>
              <a:srgbClr val="BF73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187AC-1BAE-4117-8C21-FFDA755A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47850"/>
            <a:ext cx="59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F7326"/>
                </a:solidFill>
              </a:defRPr>
            </a:pPr>
            <a:r>
              <a:rPr sz="2025" b="1">
                <a:solidFill>
                  <a:srgbClr val="BF7326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912A7-4592-47B7-A940-C35BABEF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478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F7326"/>
                </a:solidFill>
              </a:defRPr>
            </a:pPr>
            <a:r>
              <a:rPr sz="1725" b="1">
                <a:solidFill>
                  <a:srgbClr val="BF7326"/>
                </a:solidFill>
              </a:rPr>
              <a:t>接入 ERP 上下文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951AEA-E0C4-458C-90D9-73727FB4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19350"/>
            <a:ext cx="2762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打通用户权限、审批模板、动态字段、日报配置与草稿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82D7F-FA44-47F5-B742-CA2CAB66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38300"/>
            <a:ext cx="3295650" cy="174307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3335">
            <a:solidFill>
              <a:srgbClr val="3E755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E623B5-1AA0-4481-A4B4-187A0CC1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847850"/>
            <a:ext cx="59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E7551"/>
                </a:solidFill>
              </a:defRPr>
            </a:pPr>
            <a:r>
              <a:rPr sz="2025" b="1">
                <a:solidFill>
                  <a:srgbClr val="3E7551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2B489D-17CD-414B-962D-6300B697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478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E7551"/>
                </a:solidFill>
              </a:defRPr>
            </a:pPr>
            <a:r>
              <a:rPr sz="1725" b="1">
                <a:solidFill>
                  <a:srgbClr val="3E7551"/>
                </a:solidFill>
              </a:rPr>
              <a:t>封装业务能力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FB57DC-9E58-4800-BC1A-C727D5AB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19350"/>
            <a:ext cx="2762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将查询、校验、保存、预览和提交封装为统一 Tool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D2E68C-475C-46C0-82B0-D2813A30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038600"/>
            <a:ext cx="3295650" cy="174307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335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4B9FF3-B1BC-4A9C-B835-35CC875D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248150"/>
            <a:ext cx="59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4364A"/>
                </a:solidFill>
              </a:defRPr>
            </a:pPr>
            <a:r>
              <a:rPr sz="2025" b="1">
                <a:solidFill>
                  <a:srgbClr val="74364A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F818A6-C26F-4B98-B330-8B04107F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481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使用 LangGraph 编排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B77417-4AF9-4689-BDF6-B567164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819650"/>
            <a:ext cx="2762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管理多轮状态、流程节点、人工确认、暂停与恢复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890D95-2B36-4AB5-8FA7-594FBD60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38600"/>
            <a:ext cx="3295650" cy="174307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3335">
            <a:solidFill>
              <a:srgbClr val="BF73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6AEE8B-9407-465E-A3F3-15F09FD5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248150"/>
            <a:ext cx="59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F7326"/>
                </a:solidFill>
              </a:defRPr>
            </a:pPr>
            <a:r>
              <a:rPr sz="2025" b="1">
                <a:solidFill>
                  <a:srgbClr val="BF7326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C7BD9B-D82B-4A71-A984-06924073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2481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F7326"/>
                </a:solidFill>
              </a:defRPr>
            </a:pPr>
            <a:r>
              <a:rPr sz="1725" b="1">
                <a:solidFill>
                  <a:srgbClr val="BF7326"/>
                </a:solidFill>
              </a:rPr>
              <a:t>观测与迭代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D54C19-E5F8-4CBB-AEEB-59A3F43E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19650"/>
            <a:ext cx="2762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通过 LangSmith 定位模型、路由、状态与 ERP 接口问题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0C1AC7-CBDF-4C22-B6F6-9A7B5C5F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15050"/>
            <a:ext cx="1055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D293B"/>
                </a:solidFill>
              </a:defRPr>
            </a:pPr>
            <a:r>
              <a:rPr sz="1500" b="1">
                <a:solidFill>
                  <a:srgbClr val="5D293B"/>
                </a:solidFill>
              </a:rPr>
              <a:t>实施原则：AI 负责理解与组织，LangGraph 负责状态与流程，ERP 负责真实规则与最终执行</a:t>
            </a:r>
          </a:p>
        </p:txBody>
      </p:sp>
    </p:spTree>
    <p:extLst>
      <p:ext uri="{BB962C8B-B14F-4D97-AF65-F5344CB8AC3E}">
        <p14:creationId xmlns:p14="http://schemas.microsoft.com/office/powerpoint/2010/main" val="3327923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E4CB75-F07F-46E8-966A-2196E748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96EB8-1E09-4479-8540-EE27CE64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三层关系：基础组件、运行时与 Agent 套件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AE5019-4A4D-4495-90EB-5AA2C3DA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0A3EA-3C9E-4043-BF57-89EB543B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3540E-3A95-4457-8BB8-5B950CAC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954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82523"/>
                </a:solidFill>
              </a:defRPr>
            </a:pPr>
            <a:r>
              <a:rPr sz="1875" b="1">
                <a:solidFill>
                  <a:srgbClr val="282523"/>
                </a:solidFill>
              </a:rPr>
              <a:t>不是三套互相替代的框架，而是不同层级的能力组合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3EC6F-588E-4FB8-9984-9517F67A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85975"/>
            <a:ext cx="8001000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4A25D-83D8-4373-A9D4-A37A28D7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43150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Deep Agents  ·  应用层 / Agent Harness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31871-9BFF-4658-AE88-48EBAE3A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95575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2E5E8"/>
                </a:solidFill>
              </a:defRPr>
            </a:pPr>
            <a:r>
              <a:rPr sz="1200" b="0">
                <a:solidFill>
                  <a:srgbClr val="F2E5E8"/>
                </a:solidFill>
              </a:rPr>
              <a:t>提供任务规划、子智能体、文件与长任务等高级能力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645D7-66BB-4706-A1B9-A5DDF023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09900"/>
            <a:ext cx="45720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B3505-DA23-40CB-AE6E-144C7F73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528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66C6B"/>
                </a:solidFill>
              </a:defRPr>
            </a:pPr>
            <a:r>
              <a:rPr sz="1200" b="0">
                <a:solidFill>
                  <a:srgbClr val="A66C6B"/>
                </a:solidFill>
              </a:rPr>
              <a:t>构建在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F1F703-81A9-455E-B220-D9636D0B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05225"/>
            <a:ext cx="8001000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0DD423-C065-4846-A5FE-677F5E7C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62400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LangGraph  ·  运行时 / Agent Runtime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6329F-5A48-46D0-A2DA-D55BE573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14825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8EDEE"/>
                </a:solidFill>
              </a:defRPr>
            </a:pPr>
            <a:r>
              <a:rPr sz="1200" b="0">
                <a:solidFill>
                  <a:srgbClr val="F8EDEE"/>
                </a:solidFill>
              </a:rPr>
              <a:t>负责状态管理、持久化执行、循环分支与人工中断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D6456-03D5-4020-973F-0F5AD8A4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629150"/>
            <a:ext cx="45720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EE71B9-079B-45EC-8480-7606920C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720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66C6B"/>
                </a:solidFill>
              </a:defRPr>
            </a:pPr>
            <a:r>
              <a:rPr sz="1200" b="0">
                <a:solidFill>
                  <a:srgbClr val="A66C6B"/>
                </a:solidFill>
              </a:rPr>
              <a:t>构建在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82BF89-81E7-49CB-A8B1-D7C40DA4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24475"/>
            <a:ext cx="8001000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0">
            <a:solidFill>
              <a:srgbClr val="E9DC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3B7498-2D9E-4150-855F-974282EE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581650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D293B"/>
                </a:solidFill>
              </a:defRPr>
            </a:pPr>
            <a:r>
              <a:rPr sz="1875" b="1">
                <a:solidFill>
                  <a:srgbClr val="5D293B"/>
                </a:solidFill>
              </a:rPr>
              <a:t>LangChain  ·  基础层 / Agent Framework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A00D92-286E-450E-BDE8-CB964F2B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934075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提供模型适配、Prompt、Tool、消息与链式调用等基础构件</a:t>
            </a:r>
          </a:p>
        </p:txBody>
      </p:sp>
    </p:spTree>
    <p:extLst>
      <p:ext uri="{BB962C8B-B14F-4D97-AF65-F5344CB8AC3E}">
        <p14:creationId xmlns:p14="http://schemas.microsoft.com/office/powerpoint/2010/main" val="4910673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0CDB3E7-B92F-4D54-90BC-80A8B40F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4AEFD-5007-4F13-AF18-0D4751A5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核心对比：ERP 场景更看重可控执行与状态管理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F7062-B41F-4EE8-8B29-784D18DA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15373-1559-4496-8E73-B3DE73DD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2EF09-B106-46EC-99F8-25F703FB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4CD65-DFC6-482E-97EA-7070DB13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33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维度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CFAC8-6CC2-442D-878A-04140F91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5811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B4064-3AD9-44A7-AD62-346255C8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733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LangChain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56453-DC10-4B9E-B71A-7F6D0AB9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811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5FC1CC-262C-4995-A235-477EFD98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33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LangGraph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7F708-CCF4-4A55-BA9F-D4AE6F2D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811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43F8B-8728-4632-898D-4567115C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33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Deep Agents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CB1CE4-D689-4D0C-BD84-BEAB9321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5265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3BD867-EC91-4374-9EFE-936D0FB8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4315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定位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268E8F-1B9F-4D67-92A0-B309D907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1526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032699-10BC-44DC-B841-7188D6E1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3431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基础开发框架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AA6A78-2864-4697-AE0B-1243B26A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526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49EC1B-3AF4-40AA-B32F-3684EB35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3431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状态图运行时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C294A6-3AFD-4374-9A18-62802AAD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526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4C9392-C706-4EB6-853F-15350B73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3431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F7326"/>
                </a:solidFill>
              </a:defRPr>
            </a:pPr>
            <a:r>
              <a:rPr sz="1275" b="0">
                <a:solidFill>
                  <a:srgbClr val="BF7326"/>
                </a:solidFill>
              </a:rPr>
              <a:t>高级 Agent 套件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08DC6C-D11F-4F39-9B21-71F115DA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9560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68CFC6-561D-414E-B709-D5D4B16B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8610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控制流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A37C04-479C-4AAC-9AC8-1B7D894A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8956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B011D2-A60C-4181-9B2C-522E9B7E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0861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链式调用为主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D0202C-9630-44F2-B405-0AD1B3F2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956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3F07B3-360E-445B-AEAE-99197C7C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0861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显式状态图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D05F1E-B4F7-47E8-BDAE-A1D26996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956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C59C80-A65F-47FC-A4D7-34F4660D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0861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F7326"/>
                </a:solidFill>
              </a:defRPr>
            </a:pPr>
            <a:r>
              <a:rPr sz="1275" b="0">
                <a:solidFill>
                  <a:srgbClr val="BF7326"/>
                </a:solidFill>
              </a:rPr>
              <a:t>自主规划 + 工具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34DB31-EF91-4779-911E-3E14E778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3855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1A7722-B531-452C-8C2A-8BB5ED2E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2905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持久化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AFA125-E42E-41D7-93A4-99FE6312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385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BE3CBD-A3C7-4D7A-A033-FAB4C0C8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需自行组合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5CD9D4-9474-4895-8C2A-34F0C110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385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917352-6887-4CFE-BED4-5D30B604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原生支持检查点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1B413A-0D5E-4E0D-9F62-E12BF4C4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385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84624C-C61D-4266-8F7C-F9184412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F7326"/>
                </a:solidFill>
              </a:defRPr>
            </a:pPr>
            <a:r>
              <a:rPr sz="1275" b="0">
                <a:solidFill>
                  <a:srgbClr val="BF7326"/>
                </a:solidFill>
              </a:rPr>
              <a:t>构建在 LangGraph 上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41086E-2D3B-4DF3-9429-27C62609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8150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9ADFA3-82AD-4F5E-A6EE-8CFBA648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7200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人工干预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0E0E12-C17C-403B-99DB-0563D3E5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3815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3C7641-14D2-4AAD-918E-E1B39469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5720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需自行实现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5EF4F2-5C85-4536-A3D2-5DB6D917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3815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8626A6-8E80-46DD-9695-D5FE96A6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5720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interrupt / resume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4B1EB7-FAB4-4305-B69A-D0406BDB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815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7DBB90-5494-4D27-9DE3-82A02CEA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5720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F7326"/>
                </a:solidFill>
              </a:defRPr>
            </a:pPr>
            <a:r>
              <a:rPr sz="1275" b="0">
                <a:solidFill>
                  <a:srgbClr val="BF7326"/>
                </a:solidFill>
              </a:rPr>
              <a:t>支持危险工具中断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077B205-55BD-48AC-8376-0E05057C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2445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BD12AB-FF4D-448E-BC86-823F6182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1495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适合任务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48F05E-C466-4233-92E2-C6888E3B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1244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62C2FF-26C3-423C-8ADF-3F8A766C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3149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简单问答、原型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A3F16E-E9FA-4B4B-9940-CE70E9AE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1244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EEF08B-53FD-4450-B2C2-3D7F870A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3149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审批、业务流程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7462692-2597-4ECA-811B-3A1320A2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1244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8C2AD6-86CD-42B1-A9E0-902207D2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3149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F7326"/>
                </a:solidFill>
              </a:defRPr>
            </a:pPr>
            <a:r>
              <a:rPr sz="1275" b="0">
                <a:solidFill>
                  <a:srgbClr val="BF7326"/>
                </a:solidFill>
              </a:rPr>
              <a:t>长任务、复杂研究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63ADAF9-C620-46A6-885A-F4502979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9800"/>
            <a:ext cx="10629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0">
            <a:solidFill>
              <a:srgbClr val="E9DCC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6790BEC-4A94-44BB-839A-3A98BF1A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115050"/>
            <a:ext cx="1011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D293B"/>
                </a:solidFill>
              </a:defRPr>
            </a:pPr>
            <a:r>
              <a:rPr sz="1350" b="1">
                <a:solidFill>
                  <a:srgbClr val="5D293B"/>
                </a:solidFill>
              </a:rPr>
              <a:t>对 ERP 审批和日报而言，状态可追踪、流程可暂停、写操作可拦截，比“代码更少”更重要</a:t>
            </a:r>
          </a:p>
        </p:txBody>
      </p:sp>
    </p:spTree>
    <p:extLst>
      <p:ext uri="{BB962C8B-B14F-4D97-AF65-F5344CB8AC3E}">
        <p14:creationId xmlns:p14="http://schemas.microsoft.com/office/powerpoint/2010/main" val="629148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757E28-E512-4033-8AC0-38BAE9D6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CB5EF-E812-4E18-9E54-28A22A3E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最终选型：ERP 主流程采用 LangGraph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47E49-1393-4DD3-86E3-5C3AF57B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B7AE09-655E-4E7A-B7AA-A1458A3B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ABFC6-5B69-4BB9-9BFD-FAB31E88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14475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4364A"/>
                </a:solidFill>
              </a:defRPr>
            </a:pPr>
            <a:r>
              <a:rPr sz="1950" b="1">
                <a:solidFill>
                  <a:srgbClr val="74364A"/>
                </a:solidFill>
              </a:rPr>
              <a:t>为什么选择 LangGraph 作为主框架？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99B59-CF02-4B98-BBF0-F23143A3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BD192-A608-4651-9F34-9D10E376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DE391-C860-4620-AF49-E33EAB5A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52650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流程清晰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0DDE5-6154-41AF-AB17-1A335E1E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52650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审批、日报都需要明确的业务阶段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42795-15B8-44C4-A387-C0C8EE4A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28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1E7F2-F1F0-4ACA-8B5E-CEEB2D02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860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EC0851-BA7B-45B1-809C-3C958A4E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67025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状态可控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5872B7-3B92-4416-86D5-FEFC6606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67025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支持多轮对话、暂停、恢复和人工确认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15792B-4D72-43DE-A932-EB7C7463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12CF8-D826-4E2C-85E8-FAB2D3BC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2CE7F2-44B9-4D67-9519-C3CCB75A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81400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便于排查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1ECF79-9542-4C9E-B635-5791DC62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81400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可以观察节点路径、状态变化和失败位置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10FA2B-B87A-4350-93D1-D37F02FC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57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F4F47C-4A35-463D-8004-D1CFA05D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148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818593-53CF-4D16-8864-28043B7B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95775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适配 ERP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B61732-EE7B-4074-8C05-3551E3A7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95775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更容易承载动态字段、校验和提交闸门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09E27C-E7B5-4DC8-A495-8F31213B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857375"/>
            <a:ext cx="4124325" cy="3324225"/>
          </a:xfrm>
          <a:prstGeom xmlns:a="http://schemas.openxmlformats.org/drawingml/2006/main" prst="roundRect">
            <a:avLst>
              <a:gd name="adj" fmla="val 7736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5240">
            <a:solidFill>
              <a:srgbClr val="3E755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F7DB88-0FC5-465F-B6C8-3C22F105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526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E7551"/>
                </a:solidFill>
              </a:defRPr>
            </a:pPr>
            <a:r>
              <a:rPr sz="1875" b="1">
                <a:solidFill>
                  <a:srgbClr val="3E7551"/>
                </a:solidFill>
              </a:rPr>
              <a:t>最终分工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2D83A8-D42B-44C3-AC81-FDACEA10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62250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LangChain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758DA5-EB54-40B8-8552-2C4DB1E0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622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基础组件：模型、Prompt、Tool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717FA3-871B-44E4-97C9-C1C259A9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00425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LangGraph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633986-958C-422D-AD48-0A6082E5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00425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E7551"/>
                </a:solidFill>
              </a:defRPr>
            </a:pPr>
            <a:r>
              <a:rPr sz="1275" b="1">
                <a:solidFill>
                  <a:srgbClr val="3E7551"/>
                </a:solidFill>
              </a:rPr>
              <a:t>主框架：ERP 流程、状态、人工确认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E3051A-C530-45D6-847B-EB7E0440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14800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F7326"/>
                </a:solidFill>
              </a:defRPr>
            </a:pPr>
            <a:r>
              <a:rPr sz="1500" b="1">
                <a:solidFill>
                  <a:srgbClr val="BF7326"/>
                </a:solidFill>
              </a:rPr>
              <a:t>Deep Agents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E84933-35CA-408C-973B-0E60B9A4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14800"/>
            <a:ext cx="2047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探索方向：自主规划、复杂任务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0FAC31-2D7A-4A9E-9039-6436D429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43575"/>
            <a:ext cx="10658475" cy="5143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579917-B44A-436A-9F58-03E796A3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76925"/>
            <a:ext cx="1004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结论：不是放弃 Agent，而是先用 LangGraph 把 ERP 业务底座做稳</a:t>
            </a:r>
          </a:p>
        </p:txBody>
      </p:sp>
    </p:spTree>
    <p:extLst>
      <p:ext uri="{BB962C8B-B14F-4D97-AF65-F5344CB8AC3E}">
        <p14:creationId xmlns:p14="http://schemas.microsoft.com/office/powerpoint/2010/main" val="15624172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238BE1-A6D8-43C9-AF5F-09E0C932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3695E-BE7F-4BBA-A476-F2246DD7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聊天发起审批：用户只描述需求，助手完成流程引导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E7FE1-59CF-406F-9A99-2A16A32C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APPROVAL CREATION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28918-56B0-4AD2-85B9-41C5BB9D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86A38-9551-4B95-9C28-51596EEA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用户体验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38E54-5CBA-46A1-BF20-CCF53224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3619500" cy="6096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CAB34-BA84-4808-A34C-207F133E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0275"/>
            <a:ext cx="320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我明天下午请假 2 小时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0118B1-C725-4D0E-B97E-5E14C651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95600"/>
            <a:ext cx="2895600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0E763-6B31-4C5C-AC59-60EF5C95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384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请选择请假类型。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FC0E1-BD3F-4FFB-8C80-DD59E9DD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1771650" cy="5334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4DA2A-B25F-4846-A355-6F7CDA08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385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调休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796AA2-5F38-4794-A393-E038C00E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57700"/>
            <a:ext cx="3333750" cy="628650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14E05-DBD2-48F3-B134-E953A343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600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审批预览已生成，确认后提交。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978CBF-0DB3-40C4-A6C6-2FEEF897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4859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助手完成的四件事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2E0BC-6A2A-422D-91AC-DB1E4296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AC9ECA-03B8-4510-9D8A-C9236FC7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F8B12E-B6C1-4502-A353-31DA04E9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85975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识别审批模板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3060F6-2B3C-44A1-8EA4-84017CB3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90775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结合用户身份和当前公司配置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D59D8F-CE68-4923-96CE-A1A8D2A5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DF4415-ABC1-4D69-A66D-D3E32601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9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AA5B70-EB27-4219-9758-B6F0083E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43225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动态补充信息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1BEB21-42E4-422D-8FA0-84B18021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48025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按实际表单追问日期、时长、原因等字段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C83C15-FA9E-4ED0-A191-DFCC5972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10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274412-6BE8-4016-B503-B4F9FD25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671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F5BF79-AF2A-4DF3-BFB5-6465A485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00475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应用 ERP 流程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3B7B50-ACD4-43CE-9D7F-A8AC28D4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05275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校验字段，并获取真实审批节点与办理人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343FE1-15A0-499D-9BA4-BDC802D1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67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42EAB1-5248-42D4-90E5-A04035D3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244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DF0D00-D334-4A20-8575-8DB9B431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57725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预览后提交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49AD98-BB34-4FC5-A41D-C9E89B77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62525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用户明确确认，才执行最终写入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2369D6-FB7E-4112-B8BC-E7788D9F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10620375" cy="533400"/>
          </a:xfrm>
          <a:prstGeom xmlns:a="http://schemas.openxmlformats.org/drawingml/2006/main" prst="roundRect">
            <a:avLst>
              <a:gd name="adj" fmla="val 26786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0">
            <a:solidFill>
              <a:srgbClr val="E9DCC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A0D3B1-CDC9-4317-80F6-3F529EB3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867400"/>
            <a:ext cx="10029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D293B"/>
                </a:solidFill>
              </a:defRPr>
            </a:pPr>
            <a:r>
              <a:rPr sz="1650" b="1">
                <a:solidFill>
                  <a:srgbClr val="5D293B"/>
                </a:solidFill>
              </a:rPr>
              <a:t>核心价值：用户不必先理解 ERP 表单，系统仍然遵守原有审批规则</a:t>
            </a:r>
          </a:p>
        </p:txBody>
      </p:sp>
    </p:spTree>
    <p:extLst>
      <p:ext uri="{BB962C8B-B14F-4D97-AF65-F5344CB8AC3E}">
        <p14:creationId xmlns:p14="http://schemas.microsoft.com/office/powerpoint/2010/main" val="6615802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7D3EE7-2044-4A2E-8E16-97E9FF29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29EE4-EB8C-4FAF-85FE-09939502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审批最难的不是聊天，而是适配动态配置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89D4E-048A-4136-B6CF-393E8A86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1371B-2FBB-4F05-B600-8096E6BB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97954C-D3E4-443F-BDF7-483C0020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666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82523"/>
                </a:solidFill>
              </a:defRPr>
            </a:pPr>
            <a:r>
              <a:rPr sz="1950" b="1">
                <a:solidFill>
                  <a:srgbClr val="282523"/>
                </a:solidFill>
              </a:rPr>
              <a:t>同一个“请假”，不同公司可能完全不同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09D25-47F7-415D-BABD-49A8A198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4286250" cy="26670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E755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8FB2C-63F4-4C55-A063-17FF3C94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336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E7551"/>
                </a:solidFill>
              </a:defRPr>
            </a:pPr>
            <a:r>
              <a:rPr sz="1875" b="1">
                <a:solidFill>
                  <a:srgbClr val="3E7551"/>
                </a:solidFill>
              </a:rPr>
              <a:t>公司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25764-B2C2-4282-A050-E29678D4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5A2D77-E2D1-44EC-B576-A3C55A34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857500"/>
            <a:ext cx="3305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请假类型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69EFB1-3D9A-481F-9EAA-F8104EB1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62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2E370-7E35-466F-A45D-8E15D444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286125"/>
            <a:ext cx="3305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开始 / 结束时间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BF9E09-F8C1-49C9-9787-3C32F045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9FA0C-AA06-4233-96FF-5026686D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714750"/>
            <a:ext cx="3305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请假事由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B05C84-B2C0-4701-8E6A-DB5673B4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9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9CCAF2-3B7C-4F3A-9EFC-CCB343C4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143375"/>
            <a:ext cx="3305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审批人自动匹配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0CE5F-240F-441F-AB48-558C606E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85975"/>
            <a:ext cx="4286250" cy="26670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F73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A55854-FCE6-48B6-A4AA-8B18A53D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336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F7326"/>
                </a:solidFill>
              </a:defRPr>
            </a:pPr>
            <a:r>
              <a:rPr sz="1875" b="1">
                <a:solidFill>
                  <a:srgbClr val="BF7326"/>
                </a:solidFill>
              </a:rPr>
              <a:t>公司 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FCB8D2-DAD7-47B4-8042-482ED4E1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33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E84322-BF91-4005-8B52-19982134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3305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假期余额规则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B2187C-1EE2-4FF4-8214-DE67D8CA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62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BB03E8-712D-4E96-AED5-85EFA7D3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86125"/>
            <a:ext cx="3305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日期时间 + 时长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CB7FC7-F2E6-4F64-83FA-0C4BC38E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90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010E06-235E-4137-8671-6B2AB44E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14750"/>
            <a:ext cx="3305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交接人员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F24831-F700-430A-A925-1BAA3F13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19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0C201C-0EBE-4BF0-86A1-AD2DE59A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143375"/>
            <a:ext cx="3305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发起人选择审批人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3B8DB8-3D98-4E19-BC51-2768D5DC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33725"/>
            <a:ext cx="13335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596781-1D11-47E0-8384-77BE26C6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385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66C6B"/>
                </a:solidFill>
              </a:defRPr>
            </a:pPr>
            <a:r>
              <a:rPr sz="1350" b="1">
                <a:solidFill>
                  <a:srgbClr val="A66C6B"/>
                </a:solidFill>
              </a:rPr>
              <a:t>不能写死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2CE3DB-9C8E-4FF9-8DA5-34814988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325755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66C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429135-20B2-4E6F-B0A9-F90330D2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4102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4364A"/>
                </a:solidFill>
              </a:defRPr>
            </a:pPr>
            <a:r>
              <a:rPr sz="1425" b="1">
                <a:solidFill>
                  <a:srgbClr val="74364A"/>
                </a:solidFill>
              </a:rPr>
              <a:t>ERP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E94519-FD2C-4AD7-AED5-69573B0F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40067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定义模板、字段和审批流程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A59232-84C3-4137-9744-571E3ACC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238750"/>
            <a:ext cx="325755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11430">
            <a:solidFill>
              <a:srgbClr val="A66C6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88FF02-C56A-48EA-A8B7-EC73631A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102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4364A"/>
                </a:solidFill>
              </a:defRPr>
            </a:pPr>
            <a:r>
              <a:rPr sz="1425" b="1">
                <a:solidFill>
                  <a:srgbClr val="74364A"/>
                </a:solidFill>
              </a:rPr>
              <a:t>AI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445E45-6300-4C32-9B4C-FBABA745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40067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理解用户表达并提取信息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362BC6-B850-4578-AD4A-08074823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38750"/>
            <a:ext cx="325755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66C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324CE2-A5C1-4308-9F68-B97BC897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4102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4364A"/>
                </a:solidFill>
              </a:defRPr>
            </a:pPr>
            <a:r>
              <a:rPr sz="1425" b="1">
                <a:solidFill>
                  <a:srgbClr val="74364A"/>
                </a:solidFill>
              </a:rPr>
              <a:t>聊天助手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BEDA16-E0D1-48A0-A2B4-612807FD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40067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动态追问、校验、预览</a:t>
            </a:r>
          </a:p>
        </p:txBody>
      </p:sp>
    </p:spTree>
    <p:extLst>
      <p:ext uri="{BB962C8B-B14F-4D97-AF65-F5344CB8AC3E}">
        <p14:creationId xmlns:p14="http://schemas.microsoft.com/office/powerpoint/2010/main" val="7981858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505916-BDBC-44C0-9615-7C7A9E8C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C3976-0497-4174-A629-E3D60408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标准日报助手：固定流程优先保证稳定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5A55E-8CC4-4464-BEB3-475C5CB8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DAILY REPORT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D3575-BECE-4BDE-8C46-90815DDE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300B3-FD78-455B-856C-8E9F8BC1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4048125" cy="3905250"/>
          </a:xfrm>
          <a:prstGeom xmlns:a="http://schemas.openxmlformats.org/drawingml/2006/main" prst="roundRect">
            <a:avLst>
              <a:gd name="adj" fmla="val 63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675A6-B1EB-4067-81BC-525D693B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907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典型对话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ACBD5-2734-4F65-8C8D-7666D03E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3276600" cy="8572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523397-4E52-427C-BD6D-EF46CE11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86025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帮我写今天日报：完成客户拜访和报价整理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E911D-95BC-4B80-9FB3-4539D871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67100"/>
            <a:ext cx="2933700" cy="571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08E6DA-7828-4C15-B37C-9D28B009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09975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已加载今天的日报配置和草稿。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8A357-D230-4AF4-AF81-05A75497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86250"/>
            <a:ext cx="2933700" cy="571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515FA6-DB95-4396-9787-B5F853A4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29125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预览已生成，请确认提交。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EA0BD6-6E70-468B-919C-563E82D6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504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稳定执行链路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224A2F-5633-42CF-BAC1-0E8FCAF3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288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F90F2-E133-407F-AC98-2CD13665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859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4F8281-7783-4829-8011-C76EC09E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0977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2523"/>
                </a:solidFill>
              </a:defRPr>
            </a:pPr>
            <a:r>
              <a:rPr sz="1500" b="1">
                <a:solidFill>
                  <a:srgbClr val="282523"/>
                </a:solidFill>
              </a:rPr>
              <a:t>加载上下文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5C93B4-F6AD-4FD3-95A0-4B4772B1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288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字段、配置、草稿、同步数据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609D06-0095-4136-A9BB-F5B5B66F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71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8077C0-F8B7-4620-8AB5-CAA5103C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28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95E70F-0029-4272-A8A0-7CCBA0BE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5272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2523"/>
                </a:solidFill>
              </a:defRPr>
            </a:pPr>
            <a:r>
              <a:rPr sz="1500" b="1">
                <a:solidFill>
                  <a:srgbClr val="282523"/>
                </a:solidFill>
              </a:rPr>
              <a:t>补充内容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886C6F-099C-4E1C-ADC3-9C630BEF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7717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日期与工作内容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524DA1-8982-4187-AE71-13AC5BE9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147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E5A72F-C8B4-48D6-B426-81E4C3EB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71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ED954B-3279-42BA-BD56-ACFEB3E4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9567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2523"/>
                </a:solidFill>
              </a:defRPr>
            </a:pPr>
            <a:r>
              <a:rPr sz="1500" b="1">
                <a:solidFill>
                  <a:srgbClr val="282523"/>
                </a:solidFill>
              </a:rPr>
              <a:t>保存草稿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CB47D9-0962-46B0-A1FD-8B95F856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147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保留 ERP 原始业务字段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0D0517-BEF6-4CC1-948D-BFE4014F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57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21369C-57E0-4DC2-B99D-A3073F3F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3148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DA585F-19C9-4398-A981-BA24D7DA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3862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2523"/>
                </a:solidFill>
              </a:defRPr>
            </a:pPr>
            <a:r>
              <a:rPr sz="1500" b="1">
                <a:solidFill>
                  <a:srgbClr val="282523"/>
                </a:solidFill>
              </a:rPr>
              <a:t>生成预览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E08EE7-E233-4262-A28A-502877FE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2576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展示接收人、抄送人和自定义字段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5E96F4-56C4-45EF-85AE-62017CA0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00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36269F-DBD0-4739-9776-AFBF94F3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577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EA155A-BEBE-4F6B-8209-D5D01849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8157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确认提交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279B1E-CF88-46FA-A035-C8256F0A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0006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明确确认后才写入 ERP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FBB369-CF48-4F1A-9C55-9D1F0ED7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24525"/>
            <a:ext cx="10706100" cy="533400"/>
          </a:xfrm>
          <a:prstGeom xmlns:a="http://schemas.openxmlformats.org/drawingml/2006/main" prst="roundRect">
            <a:avLst>
              <a:gd name="adj" fmla="val 26786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0478">
            <a:solidFill>
              <a:srgbClr val="3E755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B4D098-6E42-4949-8852-475C1DCA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67400"/>
            <a:ext cx="1007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E7551"/>
                </a:solidFill>
              </a:defRPr>
            </a:pPr>
            <a:r>
              <a:rPr sz="1650" b="1">
                <a:solidFill>
                  <a:srgbClr val="3E7551"/>
                </a:solidFill>
              </a:rPr>
              <a:t>适合步骤明确、提交风险较高、需要持续恢复的业务流程</a:t>
            </a:r>
          </a:p>
        </p:txBody>
      </p:sp>
    </p:spTree>
    <p:extLst>
      <p:ext uri="{BB962C8B-B14F-4D97-AF65-F5344CB8AC3E}">
        <p14:creationId xmlns:p14="http://schemas.microsoft.com/office/powerpoint/2010/main" val="12746748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E4C4E8-4E94-4214-826B-2E6C6D3C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9CF99-BC7D-4DB6-B060-AA3886D6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自主日报助手：让 Agent 决定下一步做什么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09C01-6CCA-404B-9689-41178A77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DAILY REPORT CREATE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54F52-A7D6-4E7D-B5EA-B7CE59D5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FFE34-86D4-474D-BC85-AB2ABEDA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305300" cy="3648075"/>
          </a:xfrm>
          <a:prstGeom xmlns:a="http://schemas.openxmlformats.org/drawingml/2006/main" prst="roundRect">
            <a:avLst>
              <a:gd name="adj" fmla="val 7311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4288">
            <a:solidFill>
              <a:srgbClr val="BF73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54F11-109F-4429-9579-CFFB16CC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F7326"/>
                </a:solidFill>
              </a:defRPr>
            </a:pPr>
            <a:r>
              <a:rPr sz="1950" b="1">
                <a:solidFill>
                  <a:srgbClr val="BF7326"/>
                </a:solidFill>
              </a:rPr>
              <a:t>输入不再要求固定格式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5F16E-E96A-4781-A323-F120F60E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43175"/>
            <a:ext cx="3429000" cy="628650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F8F76-A122-425E-9CE0-2E0BEE11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860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把今天的客户跟进整理成日报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92141-6D38-4B5D-9A1A-DE60E5B2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F7326"/>
                </a:solidFill>
              </a:defRPr>
            </a:pPr>
            <a:r>
              <a:rPr sz="1650" b="1">
                <a:solidFill>
                  <a:srgbClr val="BF7326"/>
                </a:solidFill>
              </a:rPr>
              <a:t>Agent 自主判断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54E8F-52EF-4E44-9524-8C046B62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4ED27-E760-45B7-AC97-E985C995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924300"/>
            <a:ext cx="3114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先确认日期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B54FB-99CB-4042-AF4C-9A7435BC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52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154BEF-4357-4AD6-B066-01DD82F6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276725"/>
            <a:ext cx="3114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需要加载哪些 ERP 数据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D854C-C80F-40F0-942F-41584DE1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86E5A3-079C-4411-9F4C-649FDF40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629150"/>
            <a:ext cx="3114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是否继续追问内容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F91ECA-7E5F-44DD-8159-F01601D3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57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10CE12-8B1F-4344-A7F2-C77A105D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981575"/>
            <a:ext cx="3114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何时生成预览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2AAAA9-4023-4F72-B0A0-FC7C1651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057525"/>
            <a:ext cx="7048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4689BC-D572-4D9E-AE9C-3F9B1D36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81150"/>
            <a:ext cx="5219700" cy="3648075"/>
          </a:xfrm>
          <a:prstGeom xmlns:a="http://schemas.openxmlformats.org/drawingml/2006/main" prst="roundRect">
            <a:avLst>
              <a:gd name="adj" fmla="val 73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D61E8B-E1ED-4BED-BE6D-0B14169F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85950"/>
            <a:ext cx="171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E7551"/>
                </a:solidFill>
              </a:defRPr>
            </a:pPr>
            <a:r>
              <a:rPr sz="1950" b="1">
                <a:solidFill>
                  <a:srgbClr val="3E7551"/>
                </a:solidFill>
              </a:rPr>
              <a:t>能力提升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A56C81-163C-46A3-A4A5-5B54BC05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24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EB8DAF-2ADB-4858-AFFB-9BF20A22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447925"/>
            <a:ext cx="39909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适应更自然、更开放的用户表达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0F7A66-D278-4BCF-AB5C-C402E4D2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05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151AB4-C8AA-4AB6-AE28-5A7401DB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028950"/>
            <a:ext cx="39909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减少固定流程中的人工分支设计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0181B8-4988-42EF-BCB1-F190799B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86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68DFE8-3F1E-409D-AD39-E334860D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609975"/>
            <a:ext cx="39909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可按上下文自主调用日报工具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C7AF37-917B-49C9-A1D6-1501611A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95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4842"/>
                </a:solidFill>
              </a:defRPr>
            </a:pPr>
            <a:r>
              <a:rPr sz="1725" b="1">
                <a:solidFill>
                  <a:srgbClr val="B44842"/>
                </a:solidFill>
              </a:rPr>
              <a:t>仍需保留的边界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ADE37F-B19A-400C-B790-B373A39D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33900"/>
            <a:ext cx="421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4842"/>
                </a:solidFill>
              </a:defRPr>
            </a:pPr>
            <a:r>
              <a:rPr sz="1425" b="1">
                <a:solidFill>
                  <a:srgbClr val="B44842"/>
                </a:solidFill>
              </a:rPr>
              <a:t>不允许编造内容 · 不允许跳过预览 · 不允许自动提交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E0C0F3-65A6-4962-89E5-18705B9C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715000"/>
            <a:ext cx="10629900" cy="542925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0">
            <a:solidFill>
              <a:srgbClr val="E9DCC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0A3C09-F049-4FBA-A712-EBB3D794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57875"/>
            <a:ext cx="10039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D293B"/>
                </a:solidFill>
              </a:defRPr>
            </a:pPr>
            <a:r>
              <a:rPr sz="1575" b="1">
                <a:solidFill>
                  <a:srgbClr val="5D293B"/>
                </a:solidFill>
              </a:rPr>
              <a:t>适合作为能力探索：灵活性更高，但执行顺序与异常恢复更依赖约束</a:t>
            </a:r>
          </a:p>
        </p:txBody>
      </p:sp>
    </p:spTree>
    <p:extLst>
      <p:ext uri="{BB962C8B-B14F-4D97-AF65-F5344CB8AC3E}">
        <p14:creationId xmlns:p14="http://schemas.microsoft.com/office/powerpoint/2010/main" val="16862307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5B795C-6ED9-4618-8CAA-CAF9998D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7E117-2B97-4061-ACE8-09C03ED6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Agentic Workflow：把自主规划与流程闸门组合起来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9DF25-B35E-4351-8962-D6547D73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AGENTIC WORKFLOW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79239-8431-4BA4-9A63-2D2BF0F8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933AF-3731-4CA1-9A87-44CB4303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F7326"/>
                </a:solidFill>
              </a:defRPr>
            </a:pPr>
            <a:r>
              <a:rPr sz="1875" b="1">
                <a:solidFill>
                  <a:srgbClr val="BF7326"/>
                </a:solidFill>
              </a:rPr>
              <a:t>Agent 负责开放性工作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D3C93-2B7B-45FB-96E5-8BEA99B3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049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E7551"/>
                </a:solidFill>
              </a:defRPr>
            </a:pPr>
            <a:r>
              <a:rPr sz="1875" b="1">
                <a:solidFill>
                  <a:srgbClr val="3E7551"/>
                </a:solidFill>
              </a:rPr>
              <a:t>Workflow 负责确定性边界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A3F7D-9E6F-4F44-AB5F-7EB15676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171950" cy="781050"/>
          </a:xfrm>
          <a:prstGeom xmlns:a="http://schemas.openxmlformats.org/drawingml/2006/main" prst="roundRect">
            <a:avLst>
              <a:gd name="adj" fmla="val 23171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2383">
            <a:solidFill>
              <a:srgbClr val="BF73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379B6-F224-4434-8461-7EE89172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764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F7326"/>
                </a:solidFill>
              </a:defRPr>
            </a:pPr>
            <a:r>
              <a:rPr sz="1575" b="1">
                <a:solidFill>
                  <a:srgbClr val="BF7326"/>
                </a:solidFill>
              </a:rPr>
              <a:t>理解目标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805C1-6189-4B99-961C-8DC0DA55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2860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识别用户要写什么日报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C50F0-BAC6-410C-A2B8-289D5D0D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9925"/>
            <a:ext cx="4171950" cy="781050"/>
          </a:xfrm>
          <a:prstGeom xmlns:a="http://schemas.openxmlformats.org/drawingml/2006/main" prst="roundRect">
            <a:avLst>
              <a:gd name="adj" fmla="val 23171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2383">
            <a:solidFill>
              <a:srgbClr val="BF73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39F85F-0CB9-4201-8075-3648A712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F7326"/>
                </a:solidFill>
              </a:defRPr>
            </a:pPr>
            <a:r>
              <a:rPr sz="1575" b="1">
                <a:solidFill>
                  <a:srgbClr val="BF7326"/>
                </a:solidFill>
              </a:rPr>
              <a:t>制定计划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8D870D-714F-43D5-8335-00C931D0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432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明确需要哪些上下文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861958-FA40-4BD2-A0CA-75433E2B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4171950" cy="781050"/>
          </a:xfrm>
          <a:prstGeom xmlns:a="http://schemas.openxmlformats.org/drawingml/2006/main" prst="roundRect">
            <a:avLst>
              <a:gd name="adj" fmla="val 23171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2383">
            <a:solidFill>
              <a:srgbClr val="BF73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262D2E-9D17-4A20-A360-97EA52AF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910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F7326"/>
                </a:solidFill>
              </a:defRPr>
            </a:pPr>
            <a:r>
              <a:rPr sz="1575" b="1">
                <a:solidFill>
                  <a:srgbClr val="BF7326"/>
                </a:solidFill>
              </a:rPr>
              <a:t>整理内容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016368-7F63-4098-BC54-F4F1B797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00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结合用户输入生成正文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F4F4FE-0F3F-4AE2-97F1-94D8A1D7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209925"/>
            <a:ext cx="104775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DA4786-98A6-4695-89F4-6E6ACBC4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714750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66C6B"/>
                </a:solidFill>
              </a:defRPr>
            </a:pPr>
            <a:r>
              <a:rPr sz="1275" b="1">
                <a:solidFill>
                  <a:srgbClr val="A66C6B"/>
                </a:solidFill>
              </a:rPr>
              <a:t>建议下一步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435ED5-FE9C-4D4D-B7B9-5F00D832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57400"/>
            <a:ext cx="417195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2383">
            <a:solidFill>
              <a:srgbClr val="3E75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CDC30F-1451-4FA4-88A8-5047A727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15265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保存草稿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B101B1-0F75-4926-836C-01812F76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由流程执行写入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84FF3C-6103-49DA-8964-B9A86F69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24175"/>
            <a:ext cx="417195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2383">
            <a:solidFill>
              <a:srgbClr val="3E75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7A2947-2D2B-467B-AB0E-486B4F9C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019425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生成预览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664421-3E9E-4F99-B704-EEC39891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384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展示完整业务信息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09E06C-05CF-4B34-BC32-1D717091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90950"/>
            <a:ext cx="417195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2383">
            <a:solidFill>
              <a:srgbClr val="3E755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80A854-808C-4D33-9E2C-086602A5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88620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6BBBB9-6B16-4197-999D-9FD48007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052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暂停等待用户动作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DDB77E-01D0-4E14-832A-F8248510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57725"/>
            <a:ext cx="417195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3E7551"/>
          </a:solidFill>
          <a:ln xmlns:a="http://schemas.openxmlformats.org/drawingml/2006/main" w="12383">
            <a:solidFill>
              <a:srgbClr val="3E755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6C5EFC-04C5-4EF6-9B46-6927AC7B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752975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提交闸门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66ED4D-E207-4F14-8A34-331841BF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720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F0E8"/>
                </a:solidFill>
              </a:defRPr>
            </a:pPr>
            <a:r>
              <a:rPr sz="1275" b="0">
                <a:solidFill>
                  <a:srgbClr val="E5F0E8"/>
                </a:solidFill>
              </a:rPr>
              <a:t>确认后才允许执行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424A6C-56F0-4229-9F03-5B3080C1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9775"/>
            <a:ext cx="10429875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66C6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6DB941-9A5A-40A2-9467-D55BB7FD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934075"/>
            <a:ext cx="9820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核心思路：让 Agent 提供灵活性，让 Workflow 保证业务安全</a:t>
            </a:r>
          </a:p>
        </p:txBody>
      </p:sp>
    </p:spTree>
    <p:extLst>
      <p:ext uri="{BB962C8B-B14F-4D97-AF65-F5344CB8AC3E}">
        <p14:creationId xmlns:p14="http://schemas.microsoft.com/office/powerpoint/2010/main" val="11090833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D88C533-C84E-4825-A021-8241F767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BFED0-DC38-478F-9465-FD3D7265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四种方案不是替代关系，而是按任务选择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4EDDE-7CC4-4A7C-81F7-2B47B167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DD2F4-940D-410E-B74C-51F2F596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0F110-3012-4EC7-8952-AD3DC70D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90675"/>
            <a:ext cx="1857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2302C-396C-4E08-A5F9-2429F7CB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526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B0771-4030-47A4-BD66-35C58E0D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90675"/>
            <a:ext cx="2714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38A295-8B65-462B-B6F3-1255310C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5260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适合场景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FBCAB-0647-49DD-8D32-2FB9B9B6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9067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6D9D7-19B7-4159-801B-1B535CCB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52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可控性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D3538E-747E-4480-81DE-C01373DC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9067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FB1CCC-9E12-4DAB-B451-D5E9E7F3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52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灵活性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494435-0407-4C66-857E-436DCCA5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90675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EAF5CF-EBDE-4DBB-8711-6B262D39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52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当前定位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7B4DD7-EA55-49D3-A7A4-FF53FE3D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81225"/>
            <a:ext cx="18573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6D2D8A-F764-4EAF-B676-BA1CDAB3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09825"/>
            <a:ext cx="1628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审批助手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7CA75F-967B-4D32-A07E-BAE9B517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81225"/>
            <a:ext cx="2714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D85C65-7AF1-4C8D-8F39-DE006C11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09825"/>
            <a:ext cx="248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动态审批、真实提交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D278A2-1DB1-4958-8517-31E9812F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81225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218BBB-D326-4930-8F27-28B1AB18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4098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5D2A3F-D188-4C00-9E06-4D55B360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181225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E88D5F-60E5-4056-986B-24776C80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4098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A18F45-D460-47D4-987D-45E3662E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81225"/>
            <a:ext cx="2476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7F65C-4138-4BB9-B8C2-CC0F7AE0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409825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生产落地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357403-0AF2-4E5F-821E-CD7BC958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0"/>
            <a:ext cx="18573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0EEEC2-E487-49F5-BBF2-D08A035B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76600"/>
            <a:ext cx="1628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标准日报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D56B04-5476-4C44-AD81-CE71E652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48000"/>
            <a:ext cx="2714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82FA6E-B38A-4660-B3AB-1541A83F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76600"/>
            <a:ext cx="248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步骤明确、风险较高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FBBA3B-8BDA-4C7F-AD4A-6CD2D7AA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48000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BC9DA2-BB2E-4DC8-AEDF-4F0E0C06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2766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0F6AA9-5337-46FC-B232-8229DC62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48000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E534B2-3978-4398-BA35-B4BAADC3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2766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中低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9E76F7-835F-45F2-BEA6-436DFCAB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48000"/>
            <a:ext cx="2476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D93039-EF46-42EF-9F13-0F2CAC02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27660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生产落地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B4EC78-C299-4DD2-AD9B-6C9B066E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14775"/>
            <a:ext cx="18573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9A5E62-D821-487F-9484-E09CDF24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43375"/>
            <a:ext cx="1628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自主日报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6B9B5F-F209-4832-AA17-71C1CFDA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14775"/>
            <a:ext cx="2714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D2CF8C-2316-4470-9CE8-B5E07A98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43375"/>
            <a:ext cx="248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输入开放、路径不固定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0FE14C-E271-4D8B-9E72-36E86DD1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914775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B57497-BBC8-4FB2-98C2-ADB1E797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14337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中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36598C-BBEB-4292-AB6E-EC4CDC38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14775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FE27BA-D994-48A0-8EB3-96C3EC2B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14337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高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5EC3B7-7D73-4699-A134-99C13CF7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14775"/>
            <a:ext cx="2476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595172-5436-4F32-BF44-C71910AA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143375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能力探索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D85543-AE54-428D-82AC-D6D794EA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81550"/>
            <a:ext cx="18573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EB5144-3B38-4641-85FF-ACE1931D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10150"/>
            <a:ext cx="1628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Agentic Workflow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4DDA3D-48E1-4548-BF1A-C0F62203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81550"/>
            <a:ext cx="2714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EE163DC-CE44-4DD8-AE97-2F799E70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10150"/>
            <a:ext cx="248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复杂任务、需要安全闸门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38CF360-234C-4273-8E48-95CCA2CA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781550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67256A7-7079-4ABB-82EA-B3BFA7E9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01015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高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F8463F-B19E-462B-A07C-9C5B3B40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81550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3DED58C-6DA6-44B4-B6FD-E6F32313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01015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高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5FD09F6-C521-4ACE-AA60-7C0D0A1E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476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A1AE61C-0110-4C50-B6FD-E3BE31C5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01015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演进方向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A69C6CD-0FE9-4FBA-B97E-DD6A0D5A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962650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选择原则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7D3A970-860F-4752-AB10-4C6D21C7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43600"/>
            <a:ext cx="919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越接近写入和审批，越需要显式流程；越偏理解、规划与生成，越适合 Agent</a:t>
            </a:r>
          </a:p>
        </p:txBody>
      </p:sp>
    </p:spTree>
    <p:extLst>
      <p:ext uri="{BB962C8B-B14F-4D97-AF65-F5344CB8AC3E}">
        <p14:creationId xmlns:p14="http://schemas.microsoft.com/office/powerpoint/2010/main" val="14138743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5B4166-8070-4D9C-9AF9-BFEF1FE9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80F33-6EF1-425C-AFA3-C430E776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预期效果：聊天请假、聊天发日报，并且过程可控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B1290-DE8A-4CA1-822B-D70CF091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6DDCE-CC7E-4869-9CA4-A3C58EAB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292FF-9708-484D-8879-135AC615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5210175" cy="3371850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E755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B325B-E9AB-468B-A4AD-C9E20229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E7551"/>
                </a:solidFill>
              </a:defRPr>
            </a:pPr>
            <a:r>
              <a:rPr sz="2025" b="1">
                <a:solidFill>
                  <a:srgbClr val="3E7551"/>
                </a:solidFill>
              </a:rPr>
              <a:t>聊天请假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3807EA-B57D-4EF1-BC50-6D35444B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400300"/>
            <a:ext cx="3143250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72210E-BF8F-45B5-BA8E-FEB285F7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54317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我明天下午请假 2 小时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00023-6E37-4C99-8812-74E95105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248025"/>
            <a:ext cx="440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2523"/>
                </a:solidFill>
              </a:defRPr>
            </a:pPr>
            <a:r>
              <a:rPr sz="1575" b="1">
                <a:solidFill>
                  <a:srgbClr val="282523"/>
                </a:solidFill>
              </a:rPr>
              <a:t>识别模板 → 补充类型和时间 → 校验 → 预览 → 确认提交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97372-85AF-4232-9AF8-E9F1D1DB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8622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结果：用户无需寻找请假入口，也不必理解所有表单字段。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9F5F4-F098-4334-9058-E54EE3D8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533525"/>
            <a:ext cx="5210175" cy="3371850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F73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3A65C2-EC08-4CA7-B73B-603DABE2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8097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F7326"/>
                </a:solidFill>
              </a:defRPr>
            </a:pPr>
            <a:r>
              <a:rPr sz="2025" b="1">
                <a:solidFill>
                  <a:srgbClr val="BF7326"/>
                </a:solidFill>
              </a:rPr>
              <a:t>聊天发日报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D62237-0E0F-4492-8DB7-A85F2D4A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0300"/>
            <a:ext cx="3743325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9AA7B4-4703-4B37-B262-12C386CB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43175"/>
            <a:ext cx="3324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整理今天客户跟进情况，生成日报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9A54B-98DB-4FA6-8D99-934E85EA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48025"/>
            <a:ext cx="440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2523"/>
                </a:solidFill>
              </a:defRPr>
            </a:pPr>
            <a:r>
              <a:rPr sz="1575" b="1">
                <a:solidFill>
                  <a:srgbClr val="282523"/>
                </a:solidFill>
              </a:rPr>
              <a:t>加载 ERP 上下文 → 整理内容 → 保存草稿 → 预览 → 确认提交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EA32A0-A760-426D-824A-1CFA6A27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8622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结果：减少重复整理，同时保留接收人、自定义字段等业务信息。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4712AF-26A5-43D0-94C6-666C9258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2466975" cy="866775"/>
          </a:xfrm>
          <a:prstGeom xmlns:a="http://schemas.openxmlformats.org/drawingml/2006/main" prst="roundRect">
            <a:avLst>
              <a:gd name="adj" fmla="val 18681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10478">
            <a:solidFill>
              <a:srgbClr val="C9B7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471AED-ACA4-4FF8-B9F2-CC8969A9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2 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0F6B58-A19A-4D34-9ED9-053C80EC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486400"/>
            <a:ext cx="1362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核心业务场景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F5F1BF-F4EF-489B-A906-63B2DC6F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3882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635E"/>
                </a:solidFill>
              </a:defRPr>
            </a:pPr>
            <a:r>
              <a:rPr sz="1050" b="0">
                <a:solidFill>
                  <a:srgbClr val="6E635E"/>
                </a:solidFill>
              </a:rPr>
              <a:t>审批 + 日报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DE8F50-ABC4-48E4-924E-6B0E41CA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334000"/>
            <a:ext cx="2466975" cy="866775"/>
          </a:xfrm>
          <a:prstGeom xmlns:a="http://schemas.openxmlformats.org/drawingml/2006/main" prst="roundRect">
            <a:avLst>
              <a:gd name="adj" fmla="val 18681"/>
            </a:avLst>
          </a:prstGeom>
          <a:solidFill xmlns:a="http://schemas.openxmlformats.org/drawingml/2006/main">
            <a:srgbClr val="FCFAF6"/>
          </a:solidFill>
          <a:ln xmlns:a="http://schemas.openxmlformats.org/drawingml/2006/main" w="10478">
            <a:solidFill>
              <a:srgbClr val="C9B7A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8387CC-ACE5-4B87-A59F-BC2F63F6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29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4 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A963BA-BE41-4E78-A2F2-5DD00E7E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486400"/>
            <a:ext cx="1362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工作流方案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F60076-D855-4E57-BA28-212CB4D2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3882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635E"/>
                </a:solidFill>
              </a:defRPr>
            </a:pPr>
            <a:r>
              <a:rPr sz="1050" b="0">
                <a:solidFill>
                  <a:srgbClr val="6E635E"/>
                </a:solidFill>
              </a:rPr>
              <a:t>流程与 Agent 对比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2DEF7D-2DF9-4C7A-90E9-DF2387DC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34000"/>
            <a:ext cx="2466975" cy="866775"/>
          </a:xfrm>
          <a:prstGeom xmlns:a="http://schemas.openxmlformats.org/drawingml/2006/main" prst="roundRect">
            <a:avLst>
              <a:gd name="adj" fmla="val 18681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10478">
            <a:solidFill>
              <a:srgbClr val="C9B7A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C11B4B-A76B-4A28-BBDF-C158DF6C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29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2 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6D5AFB-2046-4028-8056-AE9F070B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486400"/>
            <a:ext cx="1362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写入确认闸门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79FF0D-B292-483C-9F65-B98BDD62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83882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635E"/>
                </a:solidFill>
              </a:defRPr>
            </a:pPr>
            <a:r>
              <a:rPr sz="1050" b="0">
                <a:solidFill>
                  <a:srgbClr val="6E635E"/>
                </a:solidFill>
              </a:rPr>
              <a:t>审批提交 + 日报提交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560517-15BA-43A9-9D64-9EDD973C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334000"/>
            <a:ext cx="2466975" cy="866775"/>
          </a:xfrm>
          <a:prstGeom xmlns:a="http://schemas.openxmlformats.org/drawingml/2006/main" prst="roundRect">
            <a:avLst>
              <a:gd name="adj" fmla="val 18681"/>
            </a:avLst>
          </a:prstGeom>
          <a:solidFill xmlns:a="http://schemas.openxmlformats.org/drawingml/2006/main">
            <a:srgbClr val="FCFAF6"/>
          </a:solidFill>
          <a:ln xmlns:a="http://schemas.openxmlformats.org/drawingml/2006/main" w="10478">
            <a:solidFill>
              <a:srgbClr val="C9B7A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979A8F-4561-48D8-BE73-F0F031C6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429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8 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74CD3F-6F7D-4E3B-9E38-A5708526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486400"/>
            <a:ext cx="1362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后续量化指标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A78A51-1218-4485-B72E-254FC54C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83882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E635E"/>
                </a:solidFill>
              </a:defRPr>
            </a:pPr>
            <a:r>
              <a:rPr sz="1050" b="0">
                <a:solidFill>
                  <a:srgbClr val="6E635E"/>
                </a:solidFill>
              </a:rPr>
              <a:t>准确率、轮次、成功率、耗时</a:t>
            </a:r>
          </a:p>
        </p:txBody>
      </p:sp>
    </p:spTree>
    <p:extLst>
      <p:ext uri="{BB962C8B-B14F-4D97-AF65-F5344CB8AC3E}">
        <p14:creationId xmlns:p14="http://schemas.microsoft.com/office/powerpoint/2010/main" val="6609983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0E3F9B-5190-4539-89A0-CAE9D7D3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0270D-3793-4E6E-A113-B374E1F0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遇到的问题：动态配置与流程状态叠加后迅速变复杂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4907E-4099-40B7-8638-916887BF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A614A-642A-4C97-949F-598ECBB3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D57F4-33B3-49E9-9F74-9B86B528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3324225" cy="13620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335">
            <a:solidFill>
              <a:srgbClr val="7436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C22963-5889-4C84-BB65-3D472AEB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724025"/>
            <a:ext cx="8477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74364A"/>
                </a:solidFill>
              </a:defRPr>
            </a:pPr>
            <a:r>
              <a:rPr sz="3150" b="1">
                <a:solidFill>
                  <a:srgbClr val="74364A"/>
                </a:solidFill>
              </a:rPr>
              <a:t>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8DAE53-F9BD-43F9-8A3A-34A75E41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809750"/>
            <a:ext cx="1857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注册节点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00BD3-C74E-4C6D-B069-19599DBE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52675"/>
            <a:ext cx="2847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顶层 9 + 审批 14 + 标准日报 10 + Agentic 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93AC7-C22E-4635-A379-6D14D19D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71625"/>
            <a:ext cx="3324225" cy="13620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3335">
            <a:solidFill>
              <a:srgbClr val="B448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9DDD4-E2E6-4A7D-9FF3-00916CB5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724025"/>
            <a:ext cx="8477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44842"/>
                </a:solidFill>
              </a:defRPr>
            </a:pPr>
            <a:r>
              <a:rPr sz="3150" b="1">
                <a:solidFill>
                  <a:srgbClr val="B44842"/>
                </a:solidFill>
              </a:rPr>
              <a:t>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8D8548-8326-4B0E-B783-E3E5C681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809750"/>
            <a:ext cx="1857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4842"/>
                </a:solidFill>
              </a:defRPr>
            </a:pPr>
            <a:r>
              <a:rPr sz="1650" b="1">
                <a:solidFill>
                  <a:srgbClr val="B44842"/>
                </a:solidFill>
              </a:rPr>
              <a:t>审批复核路由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8A6B8D-C2E0-4BDF-9232-901E51ED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52675"/>
            <a:ext cx="2847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decision_review 需要处理 9 类分支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E48765-1FBF-432D-820A-FBE7C704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71625"/>
            <a:ext cx="3324225" cy="13620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3335">
            <a:solidFill>
              <a:srgbClr val="BF73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C0036F-ABE6-4053-89A2-36033671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724025"/>
            <a:ext cx="8477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F7326"/>
                </a:solidFill>
              </a:defRPr>
            </a:pPr>
            <a:r>
              <a:rPr sz="3150" b="1">
                <a:solidFill>
                  <a:srgbClr val="BF7326"/>
                </a:solidFill>
              </a:rPr>
              <a:t>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DED25C-9F0A-49F7-811A-D361D462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809750"/>
            <a:ext cx="1857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F7326"/>
                </a:solidFill>
              </a:defRPr>
            </a:pPr>
            <a:r>
              <a:rPr sz="1650" b="1">
                <a:solidFill>
                  <a:srgbClr val="BF7326"/>
                </a:solidFill>
              </a:rPr>
              <a:t>日报恢复路线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2A632A-E64B-451C-BE64-EA9B2FB6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352675"/>
            <a:ext cx="2847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interrupt_daily_report resume 后有 7 类去向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DBBC9F-375E-48F1-9566-0B301FF9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5172075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1430">
            <a:solidFill>
              <a:srgbClr val="3E75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724FB2-6578-4CF2-A14A-0E5E0FF9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09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E7551"/>
                </a:solidFill>
              </a:defRPr>
            </a:pPr>
            <a:r>
              <a:rPr sz="1575" b="1">
                <a:solidFill>
                  <a:srgbClr val="3E7551"/>
                </a:solidFill>
              </a:rPr>
              <a:t>审批组件太多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77FC04-8DEF-4EBF-98D9-3C12C351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09950"/>
            <a:ext cx="2819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字段、选项和审批规则都可能按公司动态配置。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9F9337-5897-41FD-9EB3-9B76B3ED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48025"/>
            <a:ext cx="5172075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1430">
            <a:solidFill>
              <a:srgbClr val="B4484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9FA38B-A19B-4658-936D-9A169EA5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09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4842"/>
                </a:solidFill>
              </a:defRPr>
            </a:pPr>
            <a:r>
              <a:rPr sz="1575" b="1">
                <a:solidFill>
                  <a:srgbClr val="B44842"/>
                </a:solidFill>
              </a:rPr>
              <a:t>if-else 持续增长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3DE4CD-8293-4CC0-BC9B-38C12888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409950"/>
            <a:ext cx="2819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新建、继续、修改、取消、确认与字段缺失都要分流。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9FAD32-FD37-4D06-BE4D-BF5342F0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81525"/>
            <a:ext cx="5172075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1430">
            <a:solidFill>
              <a:srgbClr val="BF73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4BA4D4-9523-49AE-8BD6-63E8B87A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743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F7326"/>
                </a:solidFill>
              </a:defRPr>
            </a:pPr>
            <a:r>
              <a:rPr sz="1575" b="1">
                <a:solidFill>
                  <a:srgbClr val="BF7326"/>
                </a:solidFill>
              </a:rPr>
              <a:t>状态相互影响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1C7955-7E61-416C-BF6E-9875FF8A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743450"/>
            <a:ext cx="2819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多轮对话、人工中断、恢复和重复提交需要协同。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F78B6B-4B13-41BF-91FA-3AC7313E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581525"/>
            <a:ext cx="5172075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0B495A-82F7-42D6-B52E-6B0C67D8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43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故障定位困难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BFE70E-FD22-4B74-9E0A-D6822A80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743450"/>
            <a:ext cx="2819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需要区分模型、路由、状态恢复与 ERP 接口问题。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815781-8959-48E1-A4CA-912E7E2F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10668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A354C4-1B48-40AA-AE57-1FD0E890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105525"/>
            <a:ext cx="1021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根本原因：动态配置 × 多轮对话 × 状态流转 × ERP 写入风险同时叠加</a:t>
            </a:r>
          </a:p>
        </p:txBody>
      </p:sp>
    </p:spTree>
    <p:extLst>
      <p:ext uri="{BB962C8B-B14F-4D97-AF65-F5344CB8AC3E}">
        <p14:creationId xmlns:p14="http://schemas.microsoft.com/office/powerpoint/2010/main" val="46012974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6CD5C3-7DC7-49CF-8A7F-D6ECB9A2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EBABC-9AA7-4452-A646-250B8409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问题排查：需要从“看结果”升级为“看完整链路”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7CC6E2-88C8-44FD-B8C9-DEABB431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F20CD-D800-4BC6-99D0-9F66D0DA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1C5B2-4EA3-4430-8A62-612A395F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5049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一次请求可能同时经过四类环节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0ABAF-C4F9-41BE-8B37-650665C1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771775"/>
            <a:ext cx="619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FE5A8-B627-4DC8-91C0-BE758A1D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71775"/>
            <a:ext cx="619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FEDC6-283B-4E75-AD4C-40D8C2CD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771775"/>
            <a:ext cx="619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E602BD-97F9-4A9C-A9B3-1C28E8CA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190750" cy="1666875"/>
          </a:xfrm>
          <a:prstGeom xmlns:a="http://schemas.openxmlformats.org/drawingml/2006/main" prst="roundRect">
            <a:avLst>
              <a:gd name="adj" fmla="val 12571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3335">
            <a:solidFill>
              <a:srgbClr val="BF73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3765D-D900-4E47-A1C6-3675A3B5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F7326"/>
                </a:solidFill>
              </a:defRPr>
            </a:pPr>
            <a:r>
              <a:rPr sz="1650" b="1">
                <a:solidFill>
                  <a:srgbClr val="BF7326"/>
                </a:solidFill>
              </a:rPr>
              <a:t>模型理解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3B6B44-C97F-45E7-ADFB-E2FCADDF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意图是否识别正确？</a:t>
            </a:r>
          </a:p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字段是否提取完整？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8F5E7-5EAC-4D90-9D3C-391BE4D4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2190750" cy="1666875"/>
          </a:xfrm>
          <a:prstGeom xmlns:a="http://schemas.openxmlformats.org/drawingml/2006/main" prst="roundRect">
            <a:avLst>
              <a:gd name="adj" fmla="val 12571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335">
            <a:solidFill>
              <a:srgbClr val="7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BCADBA-0132-42B8-92D7-49282975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81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流程路由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2890-5179-4F78-9276-D8330B1B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2417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进入了哪个节点？</a:t>
            </a:r>
          </a:p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为什么选择这个分支？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C837F7-4A1D-4194-AB13-62E13D4B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2190750" cy="1666875"/>
          </a:xfrm>
          <a:prstGeom xmlns:a="http://schemas.openxmlformats.org/drawingml/2006/main" prst="roundRect">
            <a:avLst>
              <a:gd name="adj" fmla="val 12571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3335">
            <a:solidFill>
              <a:srgbClr val="3E75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02FC8C-B566-4C99-BF49-B9E11991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E7551"/>
                </a:solidFill>
              </a:defRPr>
            </a:pPr>
            <a:r>
              <a:rPr sz="1650" b="1">
                <a:solidFill>
                  <a:srgbClr val="3E7551"/>
                </a:solidFill>
              </a:rPr>
              <a:t>状态变化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4E325F-BD8C-461F-A8B1-2B1F61D4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2417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当前等待什么？</a:t>
            </a:r>
          </a:p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中断恢复是否正确？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DE938B-D738-44D8-918F-4EFBEFDA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43125"/>
            <a:ext cx="2190750" cy="1666875"/>
          </a:xfrm>
          <a:prstGeom xmlns:a="http://schemas.openxmlformats.org/drawingml/2006/main" prst="roundRect">
            <a:avLst>
              <a:gd name="adj" fmla="val 12571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3335">
            <a:solidFill>
              <a:srgbClr val="B448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8780D0-CABD-4C92-B50F-FFCB098B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81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44842"/>
                </a:solidFill>
              </a:defRPr>
            </a:pPr>
            <a:r>
              <a:rPr sz="1650" b="1">
                <a:solidFill>
                  <a:srgbClr val="B44842"/>
                </a:solidFill>
              </a:rPr>
              <a:t>ERP 工具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023F54-122F-4343-9C79-591B876A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2417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调用了哪个接口？</a:t>
            </a:r>
          </a:p>
          <a:p xmlns:a="http://schemas.openxmlformats.org/drawingml/2006/main"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入参与返回是否正确？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E4E50E-5FE1-4D65-AC2B-00D7AA43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10706100" cy="1714500"/>
          </a:xfrm>
          <a:prstGeom xmlns:a="http://schemas.openxmlformats.org/drawingml/2006/main" prst="roundRect">
            <a:avLst>
              <a:gd name="adj" fmla="val 1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6C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6EE68B-3A91-44B7-9E86-C1AF58E2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4958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4364A"/>
                </a:solidFill>
              </a:defRPr>
            </a:pPr>
            <a:r>
              <a:rPr sz="1800" b="1">
                <a:solidFill>
                  <a:srgbClr val="74364A"/>
                </a:solidFill>
              </a:rPr>
              <a:t>LangSmith / Trace 需要重点观察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C6D6B6-E355-46C1-B09D-3F928132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9D49C1-1FE4-4EF7-8EFD-DD1BB1A2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33950"/>
            <a:ext cx="9591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节点执行顺序与路由原因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3ABCDA-3B3C-470B-BA84-D85AA25B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67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2A98CF-F605-4970-8A3E-E9FF69C5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91125"/>
            <a:ext cx="9591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模型输入输出与字段抽取结果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B94B98-E0FA-4553-8CCB-4F6A1005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A9E462-AB6C-488E-95BC-FE7B5476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448300"/>
            <a:ext cx="9591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Tool 调用参数、返回和耗时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74CA80-5C5E-44A4-867F-5573AF2C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81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7D3FF9-688F-4126-9095-91686BB6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705475"/>
            <a:ext cx="9591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中断前后的状态差异与失败位置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52228F-1E5F-49DD-B2C3-6388002C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191250"/>
            <a:ext cx="10496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D293B"/>
                </a:solidFill>
              </a:defRPr>
            </a:pPr>
            <a:r>
              <a:rPr sz="1350" b="1">
                <a:solidFill>
                  <a:srgbClr val="5D293B"/>
                </a:solidFill>
              </a:rPr>
              <a:t>建议截图：审批完整 Trace + 日报 interrupt/resume + Agentic Workflow 计划与闸门</a:t>
            </a:r>
          </a:p>
        </p:txBody>
      </p:sp>
    </p:spTree>
    <p:extLst>
      <p:ext uri="{BB962C8B-B14F-4D97-AF65-F5344CB8AC3E}">
        <p14:creationId xmlns:p14="http://schemas.microsoft.com/office/powerpoint/2010/main" val="4760241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4D5381-03DB-46D8-9F57-5679AB1D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B5938-44BA-4D0C-98BB-741EDE41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优化方向：稳定流程标准化，开放判断 Agent 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4E4CD-79EF-402E-8AA8-89EDBAA7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71189-E3D9-48FE-A2BB-A9AE534D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7BD24-2986-4926-8123-1C0CB677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33525"/>
            <a:ext cx="5010150" cy="32575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4288">
            <a:solidFill>
              <a:srgbClr val="3E755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D156A-3533-4AF5-BFE6-4F9F6AC5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192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E7551"/>
                </a:solidFill>
              </a:defRPr>
            </a:pPr>
            <a:r>
              <a:rPr sz="1950" b="1">
                <a:solidFill>
                  <a:srgbClr val="3E7551"/>
                </a:solidFill>
              </a:rPr>
              <a:t>适合保留在流程中的内容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CB825-59BE-4A97-ADF9-FBE8F598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24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13D1CC-1902-48BA-ADA8-FAF6371C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4479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字段是否完整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236FF7-16B0-46F8-87C2-3CC04459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81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F3C0A-1F98-432C-B42D-3348A630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9051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业务校验是否通过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3365F-70A0-4415-BD68-00B0A7C5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38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94530D-C7C9-4798-AEF9-BB7A4FFF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623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是否已经生成预览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64C24-1917-4186-A970-BE981CC8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95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C8F40B-761F-440D-ADAD-5F230A73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8195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用户是否明确确认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1DF187-BFB2-421F-A80B-0EC364E1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52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20D823-693B-453C-A515-96FCB8D2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2767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写入是否幂等、可审计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1E5476-2505-4B4B-9601-37FFA0CF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533525"/>
            <a:ext cx="5010150" cy="32575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4288">
            <a:solidFill>
              <a:srgbClr val="BF73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A8D689-056D-448A-A975-8AC44DD5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8192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F7326"/>
                </a:solidFill>
              </a:defRPr>
            </a:pPr>
            <a:r>
              <a:rPr sz="1950" b="1">
                <a:solidFill>
                  <a:srgbClr val="BF7326"/>
                </a:solidFill>
              </a:rPr>
              <a:t>适合交给 Agent 的内容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38B06C-1851-437F-BD7A-9AC1D993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24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CB300B-C5C4-441D-92D5-AB7308BF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4479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理解用户真实目标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D57AF5-0C1B-43E5-BF18-219E61CA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81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D803BB-7602-497B-AE68-31AA31A3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9051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从自然语言提取信息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00CDF1-A3B5-45DD-82EE-2A287E32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38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E90B56-6418-4A31-988D-7C631F17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3623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决定需要查询哪些上下文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D8FA8A-9942-488C-9EB1-B5A7B0E0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95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F36BC8-930B-4073-A4B5-449939C0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8195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组织日报和业务摘要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3828CB-14D2-47EC-BEAF-3D06E145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52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605B10-621B-46FD-8E9E-0AA2CAEF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2767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面对开放任务制定下一步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F0AF93-E43F-40B8-AC94-D3271777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配套改进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12B3AF-E5B6-4C82-BD30-1F2B305A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24765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2BB06B-C340-4BC8-B583-8521DD38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388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规则配置化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CD6A03-0D00-43D6-95E7-73B6E456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657850"/>
            <a:ext cx="24765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9B430D-E37F-4E8D-9B50-4714F532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8388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节点单一职责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FE7B9F-69D2-4C8D-A666-7EB6EE63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657850"/>
            <a:ext cx="24765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FB859A-7728-4C90-824B-2BD83E94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8388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统一 ERP 工具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F459BF-FEAE-49D9-91D3-393ABAB1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657850"/>
            <a:ext cx="24765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498CBA-19F7-4401-89E8-429AF55E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8388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LangSmith 全链路观测</a:t>
            </a:r>
          </a:p>
        </p:txBody>
      </p:sp>
    </p:spTree>
    <p:extLst>
      <p:ext uri="{BB962C8B-B14F-4D97-AF65-F5344CB8AC3E}">
        <p14:creationId xmlns:p14="http://schemas.microsoft.com/office/powerpoint/2010/main" val="92405385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C9CD0F-828D-4747-AB48-7AB2C113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E9E60-62B1-4E97-81AB-185C52D7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八句话总结：AI 负责理解，ERP 负责可信执行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8AEDE-0124-4212-8755-715E48C1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CORE TAKEAWAYS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06FBD-564B-44AA-9D86-D3A9239D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256DB-68C9-4958-AAB8-EA823915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5276850" cy="895350"/>
          </a:xfrm>
          <a:prstGeom xmlns:a="http://schemas.openxmlformats.org/drawingml/2006/main" prst="roundRect">
            <a:avLst>
              <a:gd name="adj" fmla="val 20213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2383">
            <a:solidFill>
              <a:srgbClr val="7436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E922A-876C-44E1-ABA6-75C73E21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478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E4FCB2-6467-4F6A-803A-CC6DF533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AFEA6-1BCE-4EC6-BD4C-2D18EF61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628775"/>
            <a:ext cx="4105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AI不是替代ERP，而是给ERP增加自然语言入口。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F918CB-7808-4AA0-B900-45955AD5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5276850" cy="895350"/>
          </a:xfrm>
          <a:prstGeom xmlns:a="http://schemas.openxmlformats.org/drawingml/2006/main" prst="roundRect">
            <a:avLst>
              <a:gd name="adj" fmla="val 20213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2383">
            <a:solidFill>
              <a:srgbClr val="7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D7627-29B6-4993-ACCC-2FC9B7C7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AD888-46B0-44DF-8916-6A152494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41C61-5486-4F26-83D5-A5B91E31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686050"/>
            <a:ext cx="4105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首批选择审批和日报，因为高频、典型、容易验证闭环。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8507A-CCC9-4A34-996A-B2DBF56F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5276850" cy="895350"/>
          </a:xfrm>
          <a:prstGeom xmlns:a="http://schemas.openxmlformats.org/drawingml/2006/main" prst="roundRect">
            <a:avLst>
              <a:gd name="adj" fmla="val 20213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2383">
            <a:solidFill>
              <a:srgbClr val="3E75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9AAF01-B145-4158-94AC-DD9FB048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F3BE90-5D06-4276-9F90-0DE00949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766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FE224F-9EB2-4928-A816-1BBEA7B0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743325"/>
            <a:ext cx="4105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用户只说业务目标，AI负责理解和补充信息。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3F0911-0CA8-4FB1-B3F9-A0505B35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5276850" cy="895350"/>
          </a:xfrm>
          <a:prstGeom xmlns:a="http://schemas.openxmlformats.org/drawingml/2006/main" prst="roundRect">
            <a:avLst>
              <a:gd name="adj" fmla="val 20213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2383">
            <a:solidFill>
              <a:srgbClr val="3E75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9CE21E-200D-48C7-8B4D-7086B194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B888CB-6BFB-45DC-B99C-C52FF5EE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0A97E7-2369-4B11-9B32-A064459B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800600"/>
            <a:ext cx="4105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ERP继续负责权限、规则、字段和最终写入。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6B55CF-11EF-46C4-B583-100C7DB9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38275"/>
            <a:ext cx="5276850" cy="895350"/>
          </a:xfrm>
          <a:prstGeom xmlns:a="http://schemas.openxmlformats.org/drawingml/2006/main" prst="roundRect">
            <a:avLst>
              <a:gd name="adj" fmla="val 20213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2383">
            <a:solidFill>
              <a:srgbClr val="BF73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57753C-B29A-4C90-A9E0-E1F04812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478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9D47E7-F46E-4AD1-85C7-32B01826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62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5ABB2D-35C4-40E9-AAF7-D38E7A65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628775"/>
            <a:ext cx="4105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LangChain提供基础组件，LangGraph负责流程，Deep Agents探索自主规划。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52A76A-0C0C-4EA3-8623-A5913CDD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95550"/>
            <a:ext cx="5276850" cy="895350"/>
          </a:xfrm>
          <a:prstGeom xmlns:a="http://schemas.openxmlformats.org/drawingml/2006/main" prst="roundRect">
            <a:avLst>
              <a:gd name="adj" fmla="val 20213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2383">
            <a:solidFill>
              <a:srgbClr val="BF73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16A47D-87F7-4938-A642-6B1A1708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05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27C6FC-63C2-403D-AF73-F85AEFED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194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78BB6F-F3EE-4C85-BE30-9D490DC8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86050"/>
            <a:ext cx="4105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最终选择LangGraph，是因为ERP更需要可控、可恢复和可审计。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369FB5-88FC-427E-8943-ACA5AE98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52825"/>
            <a:ext cx="5276850" cy="895350"/>
          </a:xfrm>
          <a:prstGeom xmlns:a="http://schemas.openxmlformats.org/drawingml/2006/main" prst="roundRect">
            <a:avLst>
              <a:gd name="adj" fmla="val 20213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2383">
            <a:solidFill>
              <a:srgbClr val="B448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9DD9A8-20EA-44FC-9468-A95410FC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62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842"/>
          </a:solidFill>
          <a:ln xmlns:a="http://schemas.openxmlformats.org/drawingml/2006/main" w="0">
            <a:solidFill>
              <a:srgbClr val="B448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8AF276-657F-47B7-BE3B-02157D79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66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6566ED-5B4B-4C8C-B989-32D457F9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43325"/>
            <a:ext cx="4105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当前最大问题是动态字段、流程分支和状态复杂度。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F91816-A9BF-4575-9148-070C93B2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10100"/>
            <a:ext cx="5276850" cy="895350"/>
          </a:xfrm>
          <a:prstGeom xmlns:a="http://schemas.openxmlformats.org/drawingml/2006/main" prst="roundRect">
            <a:avLst>
              <a:gd name="adj" fmla="val 20213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2383">
            <a:solidFill>
              <a:srgbClr val="7436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689C32-BDE0-4FAC-8223-DB69A775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196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FF0543-2476-4CFA-92BB-E425F041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33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17434A-32F4-4E1C-AFAF-A6B41576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00600"/>
            <a:ext cx="4105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下一步要把试点沉淀为统一Schema、统一Tool和统一观测体系。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D796E8-0490-44F4-8305-12C07AAC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95975"/>
            <a:ext cx="10782300" cy="533400"/>
          </a:xfrm>
          <a:prstGeom xmlns:a="http://schemas.openxmlformats.org/drawingml/2006/main" prst="roundRect">
            <a:avLst>
              <a:gd name="adj" fmla="val 26786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297008-AE8D-418E-8945-F67B6391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38850"/>
            <a:ext cx="1024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一条主线：AI 降低用户操作门槛，ERP 保证业务执行可信</a:t>
            </a:r>
          </a:p>
        </p:txBody>
      </p:sp>
    </p:spTree>
    <p:extLst>
      <p:ext uri="{BB962C8B-B14F-4D97-AF65-F5344CB8AC3E}">
        <p14:creationId xmlns:p14="http://schemas.microsoft.com/office/powerpoint/2010/main" val="7577225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F2EC20-6434-48BB-B6FE-72BA1653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9B3E4-7B3D-41E8-98DD-727C199B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下一步：从两个场景沉淀 ERP 智能化底座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EFD91-3174-4036-9CEA-5FC8067C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06B71-F4B0-402A-A1A6-29DF46C1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64B58-10AF-42E0-A28B-2F78011B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124200"/>
            <a:ext cx="5524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93B36-00D9-4720-8E6E-60F9410C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124200"/>
            <a:ext cx="5524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58E137-1EAF-4588-9997-95A0D0F0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81175"/>
            <a:ext cx="3333750" cy="3257550"/>
          </a:xfrm>
          <a:prstGeom xmlns:a="http://schemas.openxmlformats.org/drawingml/2006/main" prst="roundRect">
            <a:avLst>
              <a:gd name="adj" fmla="val 8187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4288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07E821-8382-4B2D-A272-FDE67D56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0574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近期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86B73-2B83-4F45-8F2C-D3A8F55E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5146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2523"/>
                </a:solidFill>
              </a:defRPr>
            </a:pPr>
            <a:r>
              <a:rPr sz="2025" b="1">
                <a:solidFill>
                  <a:srgbClr val="282523"/>
                </a:solidFill>
              </a:rPr>
              <a:t>完善审批与日报闭环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9A6FA7-F4A6-46D0-98A7-5A0E66A0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552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5F5C2C-EDFE-46CC-B5A6-3FCF4A89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76625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动态字段适配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1A565-3AC9-4AD9-A410-8F5D2BDD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19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EED206-5143-4FE5-85F7-6919D08C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43350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确认与错误恢复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B4EFDC-5C9F-4D6E-A4FD-5989269B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486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A56E3D-26DC-4B2F-A929-615939ED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0075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链路观测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3D7674-DD82-4506-ADE1-EBD625DC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81175"/>
            <a:ext cx="3333750" cy="3257550"/>
          </a:xfrm>
          <a:prstGeom xmlns:a="http://schemas.openxmlformats.org/drawingml/2006/main" prst="roundRect">
            <a:avLst>
              <a:gd name="adj" fmla="val 8187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4288">
            <a:solidFill>
              <a:srgbClr val="BF73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AA7B8E-C755-4276-8EDE-08A52738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0574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F7326"/>
                </a:solidFill>
              </a:defRPr>
            </a:pPr>
            <a:r>
              <a:rPr sz="1500" b="1">
                <a:solidFill>
                  <a:srgbClr val="BF7326"/>
                </a:solidFill>
              </a:rPr>
              <a:t>中期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D4A0B3-31C3-490C-BA5D-BD039588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5146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2523"/>
                </a:solidFill>
              </a:defRPr>
            </a:pPr>
            <a:r>
              <a:rPr sz="2025" b="1">
                <a:solidFill>
                  <a:srgbClr val="282523"/>
                </a:solidFill>
              </a:rPr>
              <a:t>沉淀通用能力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75A7C8-81EE-4D8C-86EA-6C3EB993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552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159F89-9AB4-4DFC-AB88-5E326D1C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76625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统一业务 Schema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861C47-7671-456D-A8A3-888A7423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019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188F72-38D1-48CE-9911-DD62BB4C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43350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统一 ERP Tool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E2EBC8-4025-4F1F-AEEA-8F5321A0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486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D3ACFF-26D4-4793-8DE4-AAA78553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10075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公司级配置适配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9F9464-9BA3-40BE-A3B0-A1980DEB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81175"/>
            <a:ext cx="3333750" cy="3257550"/>
          </a:xfrm>
          <a:prstGeom xmlns:a="http://schemas.openxmlformats.org/drawingml/2006/main" prst="roundRect">
            <a:avLst>
              <a:gd name="adj" fmla="val 8187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4288">
            <a:solidFill>
              <a:srgbClr val="3E755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439754-EB04-4086-B51A-25F8B215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0574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长期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E0A545-1377-47F1-BB7F-D32941C4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146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2523"/>
                </a:solidFill>
              </a:defRPr>
            </a:pPr>
            <a:r>
              <a:rPr sz="2025" b="1">
                <a:solidFill>
                  <a:srgbClr val="282523"/>
                </a:solidFill>
              </a:rPr>
              <a:t>扩展更多 ERP 场景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75648A-B9D2-4CFF-9927-23A24FCD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552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4C7FEF-C884-46B1-94DC-48E8DDEC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76625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订单与库存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FCBB98-1950-46EC-AF03-80F3090D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019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9B4E07-6C00-4257-ADAD-0459A04A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43350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客户跟进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E2D844-4A8B-4111-A9DD-1DD851B3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486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1B98BD-07D3-4DB0-95A2-7A2256B9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10075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经营分析与任务执行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7F4A1C-BCBF-42A3-9AB8-10C64480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95925"/>
            <a:ext cx="10782300" cy="790575"/>
          </a:xfrm>
          <a:prstGeom xmlns:a="http://schemas.openxmlformats.org/drawingml/2006/main" prst="roundRect">
            <a:avLst>
              <a:gd name="adj" fmla="val 22892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FDA23E-7309-413C-BB2D-11A1623E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695950"/>
            <a:ext cx="1022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以 LangGraph 作为主框架：让 AI 理解任务，让 ERP 流程稳定、可控、可追踪</a:t>
            </a:r>
          </a:p>
        </p:txBody>
      </p:sp>
    </p:spTree>
    <p:extLst>
      <p:ext uri="{BB962C8B-B14F-4D97-AF65-F5344CB8AC3E}">
        <p14:creationId xmlns:p14="http://schemas.microsoft.com/office/powerpoint/2010/main" val="57482448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A242B0-6CA3-48A6-8669-058B8360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C01D50-BB9F-46D9-B02A-10807A14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附录：聊天助手顶层路由图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78D28-3BE0-4D96-9618-EFD403A0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LANGGRAPH STUDIO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01067-1E0E-4D90-9214-FF39C1CB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A7DCB-4FF7-48E4-8459-EBF2C0F1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90650"/>
            <a:ext cx="6667500" cy="4819650"/>
          </a:xfrm>
          <a:prstGeom xmlns:a="http://schemas.openxmlformats.org/drawingml/2006/main" prst="roundRect">
            <a:avLst>
              <a:gd name="adj" fmla="val 3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bb15fc3b314f6b"/>
          <a:stretch xmlns:a="http://schemas.openxmlformats.org/drawingml/2006/main"/>
        </p:blipFill>
        <p:spPr>
          <a:xfrm xmlns:a="http://schemas.openxmlformats.org/drawingml/2006/main">
            <a:off x="552450" y="2270459"/>
            <a:ext cx="6400800" cy="306003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675B5-DA73-40FD-A777-3C132FAE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314450"/>
            <a:ext cx="4457700" cy="4972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FC694-9CE2-453C-A688-05487DC3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2875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节点职责（与代码对应）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51A34-5A43-4440-BA7A-F33A623F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14500"/>
            <a:ext cx="14288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29A40-BC6C-4514-8D88-C2ED0622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6212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START / 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AD8DD-9A25-4FF8-B9AD-6143CADF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6212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进入主图 / 本轮处理结束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67D72-8411-4525-B8BC-11D977B5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6408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3C4853-866F-47DC-BE5D-21BEA38F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1170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memory_agent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434CF0-D257-4AE9-8924-2F6F7A89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1170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记录输入，补充短期记忆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A9ED65-A980-45A1-85C2-D935B406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1366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7FD449-99D2-4167-8209-EFCC4109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6128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intent_router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EDC367-561C-446C-9A79-CFE12E90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128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按意图与会话状态分配业务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FB710A-F8A6-4FB5-A2A1-CDF1270A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6324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2569E5-F466-42CD-AAE7-EDA96028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086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user_profile_agent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CA48D4-1684-4019-BD83-B2AE8236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1086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加载当前用户和直属上级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0D701C-2B71-4C14-A05F-B77DC9A7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1282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7A3A8-517F-4154-89A0-EED4D306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044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user_info_agent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A6DE69-78C6-4F4D-81C9-B24D2ED0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6044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回答用户、上级和部门问题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23A155-7C91-43FD-B55F-6145485D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6240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2939F6-A8BF-4723-A4CE-5F46ED07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1002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approval_creation_agent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E60B21-FB69-4AE0-8DB1-6FA81045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1002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进入审批发起子流程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0F1DA4-EA29-42E2-952F-AF4E4D28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1198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266485-388E-45E5-A9D4-8C260C34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5960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daily_report_agent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620F25-342A-42D1-8900-C58CE2EC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5960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进入标准日报子流程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498764-8030-4E4E-B157-66001159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6156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F4C349-CE43-460A-BDC8-BD2E677F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0918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daily_report_create_agent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45ABB6-0CA6-4857-9AB6-D744D781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0918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自主调用日报工具完成任务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454E70-4EFA-4817-BA6D-E54550EB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1114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6B0B4F-5834-4D03-9054-29D9E4CC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5876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daily_report_agentic_workflow_demo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C915F6-8E8B-45A6-8F2F-9A9254C7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5876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演示 Agent 规划与流程闸门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6C88D2-CC27-4F62-B6C1-2A400CE4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76072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9CA51D-9B2B-4203-9FF0-C33A6B12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0834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general_chat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0ACFD9-3C0D-442B-8EA7-225179A7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80834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处理闲聊并保留业务上下文</a:t>
            </a:r>
          </a:p>
        </p:txBody>
      </p:sp>
    </p:spTree>
    <p:extLst>
      <p:ext uri="{BB962C8B-B14F-4D97-AF65-F5344CB8AC3E}">
        <p14:creationId xmlns:p14="http://schemas.microsoft.com/office/powerpoint/2010/main" val="126506671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F3BE64-9A4F-42E3-8C55-A18A2120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28F9F-E821-426B-A437-CE051DC6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审批子图：入口、上下文与路由决策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1C6CF-EFB8-40ED-8783-B4E61894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APPROVAL CREATION AGENT · 1/2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7D088-1762-488C-96B3-8CB99EC3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2B65A-D404-495A-A145-5AD60F90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90650"/>
            <a:ext cx="6667500" cy="4819650"/>
          </a:xfrm>
          <a:prstGeom xmlns:a="http://schemas.openxmlformats.org/drawingml/2006/main" prst="roundRect">
            <a:avLst>
              <a:gd name="adj" fmla="val 3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2a6121b4a4ded"/>
          <a:stretch xmlns:a="http://schemas.openxmlformats.org/drawingml/2006/main"/>
        </p:blipFill>
        <p:spPr>
          <a:xfrm xmlns:a="http://schemas.openxmlformats.org/drawingml/2006/main">
            <a:off x="552450" y="2111938"/>
            <a:ext cx="6400800" cy="337707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63FD8-7AD4-44EA-ACEF-F653A4A6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314450"/>
            <a:ext cx="4457700" cy="4972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AC629-BB55-4DF4-81B3-89F7D396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2875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节点职责：入口与路由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9E620-A1E8-49E3-90C4-90289083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714500"/>
            <a:ext cx="14288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F86F4-7985-4141-AEEF-3181D280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6212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START / 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A5453-B061-46C3-9567-2C2A4C26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762125"/>
            <a:ext cx="1990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进入审批子图 / 本轮处理结束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DD9798-30C8-46F6-AC97-98B20E20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76475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D8B319-D5FE-4BC2-AD7D-98D25C62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241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approval_creation_entry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BB449B-9BD7-485C-9C2E-0E2907EE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324100"/>
            <a:ext cx="1990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标记进入审批发起流程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32DBA4-4A6A-41D0-A158-DEC43DEE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3845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6C1F00-3CEA-4A42-A513-0FA9C008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8607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load_context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6FED4D-F52F-4866-8D2A-0AB0A498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886075"/>
            <a:ext cx="1990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加载用户上下文和可用审批模板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A1710E-67C1-458B-B1D8-40D5FF7F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00425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F21C40-9890-4C5B-AFF2-2223DAE5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480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classify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468B8B-15C2-474A-BE50-151C934A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448050"/>
            <a:ext cx="1990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识别模板、会话状态和用户动作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72A22E-F745-4EC5-B47B-4356A296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6240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2283CC-28F4-4A41-9BDF-8BA5A521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1002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decision_review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86F4B4-5964-4C71-9293-C786976E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010025"/>
            <a:ext cx="1990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复核路由与提交条件，限制循环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421C4D-51FB-4399-8257-C7B6580B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24375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0159A5-8C05-4C19-84FD-BF5F2109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720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clarify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2D1B3B-EAA8-4205-AF70-7B3AC2C3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572000"/>
            <a:ext cx="1990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返回缺失、冲突或模板选择提示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C26856-746B-4561-9D3F-3D7308F2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8635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E8B85A-39AF-463A-A9BC-C6E8F69D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3397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general_chat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DAE9E8-07CB-4377-8CAB-5D60FF2D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133975"/>
            <a:ext cx="1990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处理非审批问题并保留审批上下文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692F27-20B9-4447-A59C-75ED60C1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648325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9FA6EA-B73E-4397-8FC8-E14129E1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6959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resume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F14981-7B3B-4ED5-B30E-2323D95B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695950"/>
            <a:ext cx="1990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提示当前等待项，帮助继续审批</a:t>
            </a:r>
          </a:p>
        </p:txBody>
      </p:sp>
    </p:spTree>
    <p:extLst>
      <p:ext uri="{BB962C8B-B14F-4D97-AF65-F5344CB8AC3E}">
        <p14:creationId xmlns:p14="http://schemas.microsoft.com/office/powerpoint/2010/main" val="195456953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CF268B-022E-4367-AE49-1BDA2171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EAC34-026E-4F61-931B-564CF488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审批子图：字段、审批人与安全提交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3532E-7B1F-4C0A-80F8-64955EC2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APPROVAL CREATION AGENT · 2/2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678D8-621C-4844-8880-5BB49D6F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3AE43-9100-4270-BC46-BEFF0748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90650"/>
            <a:ext cx="6667500" cy="4819650"/>
          </a:xfrm>
          <a:prstGeom xmlns:a="http://schemas.openxmlformats.org/drawingml/2006/main" prst="roundRect">
            <a:avLst>
              <a:gd name="adj" fmla="val 3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74c5b07e046f6"/>
          <a:stretch xmlns:a="http://schemas.openxmlformats.org/drawingml/2006/main"/>
        </p:blipFill>
        <p:spPr>
          <a:xfrm xmlns:a="http://schemas.openxmlformats.org/drawingml/2006/main">
            <a:off x="552450" y="2111938"/>
            <a:ext cx="6400800" cy="337707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80B046-C4CD-49F3-9239-C545AA03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314450"/>
            <a:ext cx="4457700" cy="4972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97D9E3-646A-4607-BAC2-3FE3B083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2875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节点职责：业务执行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721F3-7CEB-494B-B2D7-5A8F042C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714500"/>
            <a:ext cx="14288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6D4B9-5C14-473B-95AE-F7BBA8B9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62125"/>
            <a:ext cx="19526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collect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7E16EF-0654-4143-8BF3-2F56DA1F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762125"/>
            <a:ext cx="19907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收集动态字段，缺失时继续追问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AA7873-0675-4CCA-866D-E8910B32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56757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8C3B5D-9772-4841-B733-F50707A7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04382"/>
            <a:ext cx="19526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57D0F7-4AAF-4090-9D7C-5F28A417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404382"/>
            <a:ext cx="19907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按 ERP 或模板规则校验字段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C2101C-8C0A-4392-85A0-C114FC9C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9014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344A82-6F7E-4841-9656-0FA9166E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46639"/>
            <a:ext cx="19526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assignee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EF309A-0328-4D1F-A0AC-6E1CCC7E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046639"/>
            <a:ext cx="19907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获取审批节点，必要时选择审批人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2B44A9-F4FE-46D7-8E3A-0E7AD6BA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41271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030E32-16A4-4B1C-9619-A92BD678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88896"/>
            <a:ext cx="19526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preview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642B37-5283-43CD-B027-582352D6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688896"/>
            <a:ext cx="19907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生成完整预览，等待明确确认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9205E1-58C9-40D9-8371-C36F22E8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83529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31BC25-F38F-41B9-8B22-8DD43BBF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31154"/>
            <a:ext cx="19526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submit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5E0C20-0457-4C87-BCF7-7AEB8B49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331154"/>
            <a:ext cx="19907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确认守卫通过后正式提交 ERP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CB58E3-C2F7-48F2-B1CC-3ED39637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25786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6D7AF6-9E8C-4B1F-A337-CBDD9BEF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73411"/>
            <a:ext cx="19526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already_submitted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5D0A09-660B-441F-B89C-2EC987FA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73411"/>
            <a:ext cx="19907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返回原提交结果，防止重复提交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326EEF-AE4A-48F8-8E38-02010A37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568043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D092A5-7BC5-44A4-AFE9-86C0D584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615668"/>
            <a:ext cx="19526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cancel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3AED0B-8E52-42E6-8473-B8115CE0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615668"/>
            <a:ext cx="19907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取消申请并重置审批状态</a:t>
            </a:r>
          </a:p>
        </p:txBody>
      </p:sp>
    </p:spTree>
    <p:extLst>
      <p:ext uri="{BB962C8B-B14F-4D97-AF65-F5344CB8AC3E}">
        <p14:creationId xmlns:p14="http://schemas.microsoft.com/office/powerpoint/2010/main" val="207269978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582516-A50B-4A9D-B6C1-44D25A93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80638-4B80-4C08-916F-72BEFCF6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标准日报子图：准备上下文与收集信息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DE83E-1632-48CB-80C4-2C97D862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DAILY REPORT AGENT · 1/2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BE600-CB3F-456D-BC23-A3F7A2B4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58ED9-70F4-426D-99EE-75695667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90650"/>
            <a:ext cx="6667500" cy="4819650"/>
          </a:xfrm>
          <a:prstGeom xmlns:a="http://schemas.openxmlformats.org/drawingml/2006/main" prst="roundRect">
            <a:avLst>
              <a:gd name="adj" fmla="val 3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bf069ec5a84b2d"/>
          <a:stretch xmlns:a="http://schemas.openxmlformats.org/drawingml/2006/main"/>
        </p:blipFill>
        <p:spPr>
          <a:xfrm xmlns:a="http://schemas.openxmlformats.org/drawingml/2006/main">
            <a:off x="552450" y="1853840"/>
            <a:ext cx="6400800" cy="389327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6E583-0046-4C65-8CAE-31DED48F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314450"/>
            <a:ext cx="4457700" cy="4972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6E447-9BEF-41AF-A2FB-D9913DFD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2875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节点职责：准备与编辑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ADFC6-1798-46DC-A045-7F2BBA17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14500"/>
            <a:ext cx="14288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BF0D9-D98F-4628-8406-81D7D8B0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62125"/>
            <a:ext cx="209550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START / 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AE7548-D261-4428-9463-C8795778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762125"/>
            <a:ext cx="184785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进入日报子图 / 本轮处理结束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87D6F-3A48-451F-90B2-F5C28687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6380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FA5BFB-1ADD-46CD-B1C3-EB44C883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11425"/>
            <a:ext cx="209550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daily_report_entry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03AD93-285C-4DBE-A2EE-D88803C2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11425"/>
            <a:ext cx="184785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初始化标准日报模式和会话状态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D9BE76-2B3B-4B42-92B4-42045C1D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1310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EA9330-291C-40DE-BAEB-8453B170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60725"/>
            <a:ext cx="209550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daily_report_action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E785E-F78F-4C29-8203-8592F2D9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60725"/>
            <a:ext cx="184785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判断加载、补内容、改日期或提交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F85E53-F398-49B0-9DBC-40BF490F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6240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C94ACE-4C89-4ED6-9419-F1931EB4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10025"/>
            <a:ext cx="209550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load_daily_report_context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53FDB7-C17E-4353-89FD-CDA701C4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10025"/>
            <a:ext cx="184785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加载字段、配置、草稿和同步数据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3E3797-D5DE-4E90-9608-4D8B42C2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1170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1E18D-2849-496D-9854-5F9DCC5A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59325"/>
            <a:ext cx="209550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collect_daily_report_content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8EDC69-C4E4-4B0A-A040-4DA6D266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759325"/>
            <a:ext cx="184785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收集或修改日报工作内容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A98257-D569-4F85-9F6B-1DE0757A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46100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B72264-ED0A-4CB3-88E9-CC61D63D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508625"/>
            <a:ext cx="209550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collect_daily_report_date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E6381C-35C7-4E0D-96FC-464E7A5A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508625"/>
            <a:ext cx="184785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收集日期并重载当天上下文</a:t>
            </a:r>
          </a:p>
        </p:txBody>
      </p:sp>
    </p:spTree>
    <p:extLst>
      <p:ext uri="{BB962C8B-B14F-4D97-AF65-F5344CB8AC3E}">
        <p14:creationId xmlns:p14="http://schemas.microsoft.com/office/powerpoint/2010/main" val="115330447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1B98BA-3EAF-43FC-B255-3E4D3305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35237-5129-48B4-9506-4E71B3E7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标准日报子图：草稿、预览与提交恢复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EE98A-ECEE-48FC-A286-0C4EAF51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DAILY REPORT AGENT · 2/2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DE694-5830-49DC-B03B-266DED39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09818-84E5-48D3-B4F7-BB82D0BA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90650"/>
            <a:ext cx="6667500" cy="4819650"/>
          </a:xfrm>
          <a:prstGeom xmlns:a="http://schemas.openxmlformats.org/drawingml/2006/main" prst="roundRect">
            <a:avLst>
              <a:gd name="adj" fmla="val 3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f965b3d5245dd"/>
          <a:stretch xmlns:a="http://schemas.openxmlformats.org/drawingml/2006/main"/>
        </p:blipFill>
        <p:spPr>
          <a:xfrm xmlns:a="http://schemas.openxmlformats.org/drawingml/2006/main">
            <a:off x="552450" y="1853840"/>
            <a:ext cx="6400800" cy="389327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A34BE-2119-40E9-8621-F60B5D71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314450"/>
            <a:ext cx="4457700" cy="4972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96B33D-EB2C-456E-A905-27A2FEBB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2875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节点职责：写入与恢复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A3BE8D-FD74-46B7-9059-E36143D3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14500"/>
            <a:ext cx="14288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2AAA5-45ED-4E36-A7BB-C427CB92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62125"/>
            <a:ext cx="217170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save_daily_report_draft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DEF8F-4D82-4DAF-B478-1FB964AF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762125"/>
            <a:ext cx="177165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将完整 payload 保存为 ERP 草稿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8FF503-86FC-4FAA-91EC-B13D0A7D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1366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FCC937-B16E-4B24-9A97-B1DD1E35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61285"/>
            <a:ext cx="217170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preview_daily_report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B79B1-08AF-4468-BA56-8C9E4EED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61285"/>
            <a:ext cx="177165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生成预览以及确认、修改、取消动作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DA4B5A-C28C-4CDF-85B7-AF1F3653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1282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B9B4DE-E5F6-4283-B7F8-6D1C9487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0445"/>
            <a:ext cx="217170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submit_daily_report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87E823-9183-45AF-94D3-BC726B8E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60445"/>
            <a:ext cx="177165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明确确认后提交；失败时保留编辑态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67DEF5-1233-46D1-BDBC-8F530871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1198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1E6A38-315C-47F3-91B4-4CAB52A7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59605"/>
            <a:ext cx="217170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cancel_daily_report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1108DB-360E-4787-AA16-81C066E1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459605"/>
            <a:ext cx="177165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取消提交并回到日报内容编辑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8BCC73-A6D3-4C52-88F8-94C12F7C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1114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2B23E0-5AE9-426A-B4D9-55A91A9B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58765"/>
            <a:ext cx="217170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interrupt_daily_report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0B5025-11AF-4EE0-B790-89205383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358765"/>
            <a:ext cx="177165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暂停等待输入，resume 后继续路由</a:t>
            </a:r>
          </a:p>
        </p:txBody>
      </p:sp>
    </p:spTree>
    <p:extLst>
      <p:ext uri="{BB962C8B-B14F-4D97-AF65-F5344CB8AC3E}">
        <p14:creationId xmlns:p14="http://schemas.microsoft.com/office/powerpoint/2010/main" val="21336970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905252-6469-4D91-8BBB-F999A6B0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1737B-FB3D-4FD6-914C-F04BF8FD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附录：Agentic Workflow 子图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7A182-54E8-45BD-8A60-FCC6378B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AGENTIC WORKFLOW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22BB6-24DB-429E-AC5D-681EB0A8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C8520-2E75-490D-99BE-B6B2F12C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5143500" cy="4819650"/>
          </a:xfrm>
          <a:prstGeom xmlns:a="http://schemas.openxmlformats.org/drawingml/2006/main" prst="roundRect">
            <a:avLst>
              <a:gd name="adj" fmla="val 3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1a08c61ca4c42"/>
          <a:stretch xmlns:a="http://schemas.openxmlformats.org/drawingml/2006/main"/>
        </p:blipFill>
        <p:spPr>
          <a:xfrm xmlns:a="http://schemas.openxmlformats.org/drawingml/2006/main">
            <a:off x="792313" y="1524000"/>
            <a:ext cx="4587573" cy="4552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95C62-75F1-4195-8D3B-97B19126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352550"/>
            <a:ext cx="5867400" cy="4933950"/>
          </a:xfrm>
          <a:prstGeom xmlns:a="http://schemas.openxmlformats.org/drawingml/2006/main" prst="roundRect">
            <a:avLst>
              <a:gd name="adj" fmla="val 3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F5164-B63F-4D42-9324-D363320F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466850"/>
            <a:ext cx="556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节点职责（与代码对应）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E162B-84F6-4D0E-B78F-BD52C291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752600"/>
            <a:ext cx="14288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F2017-92A1-484F-836D-6B677135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00225"/>
            <a:ext cx="19526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START / 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336214-3FA8-4252-85BF-2E81CAFB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800225"/>
            <a:ext cx="34004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进入演示子图 / 本轮处理结束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5227D-7392-4A90-95C4-793FC627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09813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1CC47-98BD-48E1-B354-C425F46A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57438"/>
            <a:ext cx="19526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demo_agent_plan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D2CAEB-7FD4-4D39-B374-CCC262CC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357438"/>
            <a:ext cx="34004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理解目标、抽取日期与内容，提出下一步建议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939A28-1146-46EA-BED4-8FDB8BCD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670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A90C94-7BAB-4505-B142-6870EE0D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14650"/>
            <a:ext cx="19526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demo_confirm_date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C19066-729B-44BD-AB4C-2CE68D31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914650"/>
            <a:ext cx="34004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将相对日期转成 ERP 可用的明确日期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3C7F2A-5E30-4579-A8E9-B7B246AC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24238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2091B5-B869-4BFD-A65B-B42926A1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71863"/>
            <a:ext cx="19526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demo_load_context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6573F0-751A-4782-8E20-0CCF57C3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471863"/>
            <a:ext cx="34004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加载 ERP 默认 payload、草稿和同步数据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B45407-E9E5-4C9A-A323-6E12693D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81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3DD1A6-5151-46A9-B926-1281977A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29075"/>
            <a:ext cx="19526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demo_agent_compose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5D75E4-5A0B-4D79-AA9B-6B4D5EF8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029075"/>
            <a:ext cx="34004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根据计划与上下文生成正文，只修改内容字段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B34FAF-FEC5-44A5-AA13-884DC1A1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38663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589904-B5DE-4882-AC9A-C4CF6C8F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86288"/>
            <a:ext cx="19526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demo_save_draft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94B45F-964F-4EB2-99F3-838897E1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586288"/>
            <a:ext cx="34004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由 Workflow 执行草稿写入，不让 Agent 直写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A0F675-5FB9-4319-83D0-B6090A73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095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D9A1B6-5754-4F23-9DDF-3B30C223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143500"/>
            <a:ext cx="19526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demo_preview_gate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280B79-25F3-44F0-B7DE-6FBB9FBA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143500"/>
            <a:ext cx="34004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生成预览并暂停，等待用户确认或修改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7C1177-0C47-4AE7-A86A-B8FF97B8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653088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A87BD2-3703-4556-A374-3A84A186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700713"/>
            <a:ext cx="19526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demo_submit_gate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6DCD7D-51B9-499A-B30A-A3B5E6E6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700713"/>
            <a:ext cx="34004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校验预览状态与明确确认后才允许提交</a:t>
            </a:r>
          </a:p>
        </p:txBody>
      </p:sp>
    </p:spTree>
    <p:extLst>
      <p:ext uri="{BB962C8B-B14F-4D97-AF65-F5344CB8AC3E}">
        <p14:creationId xmlns:p14="http://schemas.microsoft.com/office/powerpoint/2010/main" val="143661548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B60815-07B7-4D6B-9291-45311B61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4E67B-CDEB-47D1-9611-68AF62DF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企业级 RAG：连接 ERP 知识、权限与业务上下文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E7D0D-AA21-4029-8DE7-0A352BC9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ENTERPRISE RAG · ARCHITECTURE 1/3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5190D-658B-4454-AA9E-365654EF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EC91A-19AD-4EDF-A13D-DF4076F1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438275"/>
            <a:ext cx="1080135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2859">
            <a:solidFill>
              <a:srgbClr val="7436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6DBB0-53E1-4438-876F-9CB90DF4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BDE5A-3ADA-454E-B2CF-FDF2C64A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71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43446-A1FF-4BE3-B046-1144ABC5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19250"/>
            <a:ext cx="1952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4364A"/>
                </a:solidFill>
              </a:defRPr>
            </a:pPr>
            <a:r>
              <a:rPr sz="1800" b="1">
                <a:solidFill>
                  <a:srgbClr val="74364A"/>
                </a:solidFill>
              </a:rPr>
              <a:t>知识源治理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70481-8253-452E-BCE8-23D69A63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59067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制度 · SOP · 操作手册 · FAQ · ERP 字段说明与审批规则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7020C-100E-4A92-B66A-3B67836E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971675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版本、更新时间、责任人、原文位置必须可追溯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DB66ED-C0DF-49D4-AD1C-6A3D57AF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28875"/>
            <a:ext cx="5238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4B90BE-63D7-4D04-8271-58A3F16C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19375"/>
            <a:ext cx="1080135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2859">
            <a:solidFill>
              <a:srgbClr val="BF73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394F5-2EE0-4C4E-BDCF-D3B526F5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2E2154-1B14-4652-BB98-FE7A6D78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810131-7A3B-4985-BE7E-5B09F8A6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00350"/>
            <a:ext cx="1952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F7326"/>
                </a:solidFill>
              </a:defRPr>
            </a:pPr>
            <a:r>
              <a:rPr sz="1800" b="1">
                <a:solidFill>
                  <a:srgbClr val="BF7326"/>
                </a:solidFill>
              </a:rPr>
              <a:t>检索与安全底座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B2AA1B-3D25-415C-99AA-737F292B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77177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Milvus Dense + BM25 混合检索 · RRF / Weighted 融合 · Reranker 精排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52FF50-A604-4618-873E-93450580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152775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tenant / company / department / ACL 在检索服务层强制过滤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B9B565-9608-4F22-B8DF-5798C4CE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09975"/>
            <a:ext cx="5238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49B007-5D94-48AD-8A02-8FEEFE3D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00475"/>
            <a:ext cx="1080135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2859">
            <a:solidFill>
              <a:srgbClr val="3E755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732531-C1D3-489C-9375-9C257177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7A7AE1-0844-4B60-8034-987F87CA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9C4C0A-F9DD-4096-98B0-385E6B73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81450"/>
            <a:ext cx="1952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E7551"/>
                </a:solidFill>
              </a:defRPr>
            </a:pPr>
            <a:r>
              <a:rPr sz="1800" b="1">
                <a:solidFill>
                  <a:srgbClr val="3E7551"/>
                </a:solidFill>
              </a:rPr>
              <a:t>ERP 业务协同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81EB1D-6478-4BEB-B345-4E1F9FA1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95287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RAG 回答规则 · ERP Tool 查询实时数据 · LangGraph 控制下一步动作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29FFB0-1428-4D10-A7D7-8D06FD61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333875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预览、人工确认、正式提交和审计仍由业务流程负责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68E7EC-B74E-4C01-967B-7DE8CB81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7823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8F085F-C2E1-4013-88CD-DD0058BD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10200"/>
            <a:ext cx="1019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企业级 RAG 的核心不是“模型知道更多”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63C15D-EF10-455D-81E2-D991EC5C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81675"/>
            <a:ext cx="1019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2E7EA"/>
                </a:solidFill>
              </a:defRPr>
            </a:pPr>
            <a:r>
              <a:rPr sz="1500" b="0">
                <a:solidFill>
                  <a:srgbClr val="F2E7EA"/>
                </a:solidFill>
              </a:rPr>
              <a:t>而是知识有治理、检索有权限、回答有证据、执行有边界</a:t>
            </a:r>
          </a:p>
        </p:txBody>
      </p:sp>
    </p:spTree>
    <p:extLst>
      <p:ext uri="{BB962C8B-B14F-4D97-AF65-F5344CB8AC3E}">
        <p14:creationId xmlns:p14="http://schemas.microsoft.com/office/powerpoint/2010/main" val="156388736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0D4F042-1538-440A-A8C4-BA520954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C6DE9-CE94-4775-8942-54C9F00A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Milvus：承载企业级混合检索与多租户隔离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F19F7-F8E0-40DA-8FBA-3557C053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ENTERPRISE RAG · MILVUS 2/3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3461A-407B-44D0-AEA2-3AA44724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7BDE4-7E0F-4487-9F7D-57875211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4133850" cy="3762375"/>
          </a:xfrm>
          <a:prstGeom xmlns:a="http://schemas.openxmlformats.org/drawingml/2006/main" prst="roundRect">
            <a:avLst>
              <a:gd name="adj" fmla="val 5823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335">
            <a:solidFill>
              <a:srgbClr val="7436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B071F-47B8-44C6-AE99-81F4BC18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6764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Collection 数据结构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EE8DC-A38C-4EF4-A008-253C031F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1526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4364A"/>
                </a:solidFill>
              </a:defRPr>
            </a:pPr>
            <a:r>
              <a:rPr sz="1200" b="1">
                <a:solidFill>
                  <a:srgbClr val="74364A"/>
                </a:solidFill>
              </a:rPr>
              <a:t>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E4AC9-15E4-4E39-BEDC-7CF1B8F8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52650"/>
            <a:ext cx="1885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Chunk 原文，支持引用与 BM25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CC8BCD-2A35-4C0C-B6FB-D2251154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24125"/>
            <a:ext cx="347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BDEBC-FC3B-4068-B4C1-F82706F6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6098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4364A"/>
                </a:solidFill>
              </a:defRPr>
            </a:pPr>
            <a:r>
              <a:rPr sz="1200" b="1">
                <a:solidFill>
                  <a:srgbClr val="74364A"/>
                </a:solidFill>
              </a:rPr>
              <a:t>dense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F9FAC4-A2ED-42AB-9C74-89A77AB7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09850"/>
            <a:ext cx="1885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语义向量：同义表达与自然语言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20144-543D-45ED-BA79-FF9110BF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347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C92F43-25CE-463F-81E8-752F7C95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670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4364A"/>
                </a:solidFill>
              </a:defRPr>
            </a:pPr>
            <a:r>
              <a:rPr sz="1200" b="1">
                <a:solidFill>
                  <a:srgbClr val="74364A"/>
                </a:solidFill>
              </a:rPr>
              <a:t>sparse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BC648F-581C-4D48-B46E-4DE3E05E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67050"/>
            <a:ext cx="1885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BM25：制度号、单据号、产品编码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598820-EA8C-4B39-B0DB-DCBD1EF0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38525"/>
            <a:ext cx="347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542F53-82AF-4B73-B457-893E1861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5242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F7326"/>
                </a:solidFill>
              </a:defRPr>
            </a:pPr>
            <a:r>
              <a:rPr sz="1200" b="1">
                <a:solidFill>
                  <a:srgbClr val="BF7326"/>
                </a:solidFill>
              </a:rPr>
              <a:t>来源 / 页码 / 标题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341AA-594A-469C-92EA-632DAE57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524250"/>
            <a:ext cx="1885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原文来源、页码与标题路径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E7ADB4-9524-4C64-9EA9-042EF48C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95725"/>
            <a:ext cx="347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8B268A-B817-497C-8DEA-DD19F3A6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9814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F7326"/>
                </a:solidFill>
              </a:defRPr>
            </a:pPr>
            <a:r>
              <a:rPr sz="1200" b="1">
                <a:solidFill>
                  <a:srgbClr val="BF7326"/>
                </a:solidFill>
              </a:rPr>
              <a:t>租户 / 公司 / 部门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74EA7A-0B92-485A-BAE9-740AEC88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981450"/>
            <a:ext cx="1885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多租户和组织权限隔离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3122CA-B210-4242-B05F-D3819D4E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52925"/>
            <a:ext cx="347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EF9872-804F-46A6-B50A-506EB2CD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386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F7326"/>
                </a:solidFill>
              </a:defRPr>
            </a:pPr>
            <a:r>
              <a:rPr sz="1200" b="1">
                <a:solidFill>
                  <a:srgbClr val="BF7326"/>
                </a:solidFill>
              </a:rPr>
              <a:t>ACL / 版本 / 更新时间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BF8B9E-5650-4D78-A2F4-1FB46544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38650"/>
            <a:ext cx="1885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权限、版本与增量更新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0395D4-C0C6-49BF-AF8C-323A95EF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382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E7551"/>
                </a:solidFill>
              </a:defRPr>
            </a:pPr>
            <a:r>
              <a:rPr sz="1875" b="1">
                <a:solidFill>
                  <a:srgbClr val="3E7551"/>
                </a:solidFill>
              </a:rPr>
              <a:t>在线查询链路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69BBFA-9B28-4DB9-9AB3-1024C150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343150"/>
            <a:ext cx="4191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AFA528-8D6B-4F4C-A496-DD7F1B22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95475"/>
            <a:ext cx="6286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0954">
            <a:solidFill>
              <a:srgbClr val="7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C195FC-A975-4E45-BBD2-A8F6C9C0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00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用户问题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9B816E-BE5A-4950-8A7A-0D94AB20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0250"/>
            <a:ext cx="3838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意图、关键词与当前身份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F00771-ED5A-4D04-B816-641F087B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886075"/>
            <a:ext cx="4191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D0FF98-57ED-4635-A627-20C8BF07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38400"/>
            <a:ext cx="6286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0954">
            <a:solidFill>
              <a:srgbClr val="B448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A358E9-A8BB-4C5A-A980-45741493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431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4842"/>
                </a:solidFill>
              </a:defRPr>
            </a:pPr>
            <a:r>
              <a:rPr sz="1350" b="1">
                <a:solidFill>
                  <a:srgbClr val="B44842"/>
                </a:solidFill>
              </a:rPr>
              <a:t>强制权限过滤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D7349D-8EE9-4760-9C73-F9D21314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43175"/>
            <a:ext cx="3838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tenant + company + department + ACL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2381EE-B002-458C-8F08-2060EB64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29000"/>
            <a:ext cx="4191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F26225-5CAB-45D0-B555-CFC500D2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81325"/>
            <a:ext cx="6286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0954">
            <a:solidFill>
              <a:srgbClr val="BF732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717AAA-C1AA-44ED-9736-F554E176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861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Dense + BM25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C1B6FF-4D03-4F72-8661-58FF9F2C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86100"/>
            <a:ext cx="3838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语义召回与精确召回并行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0A4330-0B9D-4292-A873-FFDC9BC6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971925"/>
            <a:ext cx="4191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894894-13BD-4F37-9F25-AC085AF7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24250"/>
            <a:ext cx="6286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0954">
            <a:solidFill>
              <a:srgbClr val="7436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60446D-4A6C-4EC5-A897-76352F87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290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RRF / Weighted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E3E26B-FB21-4B35-AA28-2CF40D63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29025"/>
            <a:ext cx="3838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融合不同检索结果的排名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341F18-6360-48C3-981B-C8191DA4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514850"/>
            <a:ext cx="4191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81E810-C96A-42C1-AB1B-1B884DEB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67175"/>
            <a:ext cx="6286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0954">
            <a:solidFill>
              <a:srgbClr val="3E755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3A23CF-6AA5-411C-BC31-150849F5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719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Reranker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3EFBF7-1275-417D-8418-F6B7A810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71950"/>
            <a:ext cx="3838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精排 Top-K，过滤高相似噪声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EE6D8B-2B0C-4887-8FE5-251B0704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10100"/>
            <a:ext cx="6286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0954">
            <a:solidFill>
              <a:srgbClr val="3E755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E333C2-5029-4B06-9A0F-297D474C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714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来源证据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6E2520-CA66-441C-A4DB-5EA93AED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714875"/>
            <a:ext cx="3838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返回文档、章节、版本与原文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FD4643-D730-48BB-83CE-81E0D06F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81625"/>
            <a:ext cx="10801350" cy="866775"/>
          </a:xfrm>
          <a:prstGeom xmlns:a="http://schemas.openxmlformats.org/drawingml/2006/main" prst="roundRect">
            <a:avLst>
              <a:gd name="adj" fmla="val 17582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1430">
            <a:solidFill>
              <a:srgbClr val="BF732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51B389-47F1-47C4-A8CC-5A7E49EC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562600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F7326"/>
                </a:solidFill>
              </a:defRPr>
            </a:pPr>
            <a:r>
              <a:rPr sz="1500" b="1">
                <a:solidFill>
                  <a:srgbClr val="BF7326"/>
                </a:solidFill>
              </a:rPr>
              <a:t>部署选择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2250395-5E6A-4DDB-B618-D5B3DB99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562600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Lite：学习 / Demo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C95D4CA-BE6B-4E41-83C0-5F2DA289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562600"/>
            <a:ext cx="2333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Standalone：单机试点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781CC72-AB3F-4E66-9175-8E587351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4229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Distributed / Cloud：规模化、高可用、并发与弹性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F88A85F-CDEA-4853-A188-8DBA0A25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905500"/>
            <a:ext cx="10163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ERP 同时存在语义问题与精确编号：Dense + BM25 比单路向量检索更合适</a:t>
            </a:r>
          </a:p>
        </p:txBody>
      </p:sp>
    </p:spTree>
    <p:extLst>
      <p:ext uri="{BB962C8B-B14F-4D97-AF65-F5344CB8AC3E}">
        <p14:creationId xmlns:p14="http://schemas.microsoft.com/office/powerpoint/2010/main" val="65782255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F39034B-BF11-410F-989F-A456D0DE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D025A-D0D1-4FA6-9EBF-18C8252F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企业选型：先建立 Milvus RAG 基线，再验证图检索增益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7C4A5-B0B2-4DE6-8FD3-1D1528EA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ENTERPRISE RAG · SELECTION 3/3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8F93E4-ABE8-4E6C-BCB3-E54F71E8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ABFC6-8FFA-4062-8DAD-664BF6CD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3352800" cy="34671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3811">
            <a:solidFill>
              <a:srgbClr val="3E755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4B633F-7173-4E13-8930-F02B4656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240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E7551"/>
                </a:solidFill>
              </a:defRPr>
            </a:pPr>
            <a:r>
              <a:rPr sz="1875" b="1">
                <a:solidFill>
                  <a:srgbClr val="3E7551"/>
                </a:solidFill>
              </a:rPr>
              <a:t>Milvus 混合 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D8250-CCAC-4323-A1F3-649CCE10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526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ERP 第一阶段首选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917A7-B45E-4E07-A76C-E61F6A31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62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F9C114-4A0E-489D-8BA0-C279FA41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86050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适合：制度、FAQ、字段说明、操作手册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65FBA-A099-4598-B20B-5CEBD7E0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286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B16ABF-EE24-48DE-A39F-6C39E35F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9925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优势：稳定、成本可控、增量更新简单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AD7AE-4312-40F6-847E-EE4564AE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81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075764-8710-4575-BB1D-B8DF2EDA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局限：不显式建模跨文档复杂关系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E446FF-6E1E-4DEC-BC80-6C919563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33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F65C4-BFA2-47F3-85CE-16AEE603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57675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重点：权限、混合检索、来源与评测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263A6F-D9BA-41F8-A14D-741EE554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66850"/>
            <a:ext cx="3352800" cy="34671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811">
            <a:solidFill>
              <a:srgbClr val="7436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FF6452-D123-4312-BD22-B0C1FF99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7240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Microsoft GraphRAG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206C72-10AC-4C0A-AE5B-54384030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复杂关系专项验证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BAEEB-BCE6-45C3-B75F-EA44CF26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762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8FB394-D695-4F96-AA92-DB50ABE1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86050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适合：跨文档多跳、全局主题与风险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28EA60-F28F-4EEB-99E2-7DE92AA9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286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5CC4C5-C572-4B1B-B947-66CB67DF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09925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优势：实体关系、社区发现、全局检索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9A3A00-3768-4D7F-BD38-D59FF2A0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81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AC061F-4170-4499-88D4-850DCE05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33800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代价：索引成本高，实体消歧与更新复杂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AAC591-619D-400E-8583-07B09692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333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4155AA-6554-449A-8A40-0CEEA9FD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57675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风险：权限需传播到实体、关系和社区报告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D8AC53-B53A-4043-940F-9F4FA2EC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466850"/>
            <a:ext cx="3352800" cy="34671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3811">
            <a:solidFill>
              <a:srgbClr val="BF73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8E25D6-7C53-4764-B85C-38D1455B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7240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F7326"/>
                </a:solidFill>
              </a:defRPr>
            </a:pPr>
            <a:r>
              <a:rPr sz="1875" b="1">
                <a:solidFill>
                  <a:srgbClr val="BF7326"/>
                </a:solidFill>
              </a:rPr>
              <a:t>LightRAG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D4AF39-E5A3-4A31-96A9-17159721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1526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第二阶段轻量试验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0543EF-02B6-43D1-96CB-D9C5D1AE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62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EBEFF1-7611-4976-B416-246E238F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86050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适合：图关系能力与持续增量知识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83CA3B-FDA9-4156-90D6-B47E4503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86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0D14B1-77EA-4155-BF92-89E99FE3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09925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优势：图召回与向量召回融合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43D153-CC6A-4D17-B415-125EC6FD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754233-AE9E-4C8A-8633-CAEC4D9E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33800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代价：仍需实体抽取、消歧和图存储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F256C0-A4F2-4054-B857-47CB115C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33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E70805-D276-4552-8999-1BAFE08C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57675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原则：Light 不代表没有索引成本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DCC2EC-D314-40D6-AE0B-2B7571FA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340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E578BE-3D71-48A4-8B5F-D92CC196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3528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1430">
            <a:solidFill>
              <a:srgbClr val="3E755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1EC427-949D-4CAD-BFC6-10989BEB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381625"/>
            <a:ext cx="809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阶段 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AEE795-C46A-4D8E-8E72-B51D2A0F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05475"/>
            <a:ext cx="2990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Milvus 混合 RAG + 权限 + 固定评测集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5E0D68-4930-4B20-8954-3A53EE7A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5340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186324-1B14-4C08-ABF2-DE759334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19700"/>
            <a:ext cx="33528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6EC1D8-4A25-45A2-8F50-1075E560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381625"/>
            <a:ext cx="809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阶段 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17CD162-C730-46EA-AAE2-14661E4B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705475"/>
            <a:ext cx="2990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选择多跳 / 全局问题验证图 RAG 价值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92A55B-6804-4CEA-8398-F90B5925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19700"/>
            <a:ext cx="33528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1430">
            <a:solidFill>
              <a:srgbClr val="BF732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BD9D5A-3410-4500-BAA1-34CBC73F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381625"/>
            <a:ext cx="809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阶段 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F9F87E-1FD7-4132-85AC-40FF99FB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705475"/>
            <a:ext cx="2990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同数据同模型比较质量、成本、P95 与增量更新</a:t>
            </a:r>
          </a:p>
        </p:txBody>
      </p:sp>
    </p:spTree>
    <p:extLst>
      <p:ext uri="{BB962C8B-B14F-4D97-AF65-F5344CB8AC3E}">
        <p14:creationId xmlns:p14="http://schemas.microsoft.com/office/powerpoint/2010/main" val="18553457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2026-08-13T10:26:31.3260000Z</dcterms:created>
  <dcterms:modified xsi:type="dcterms:W3CDTF">2026-08-13T10:26:31.3260000Z</dcterms:modified>
</coreProperties>
</file>