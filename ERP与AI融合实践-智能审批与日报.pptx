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57" r:id="rId7"/>
    <p:sldId id="262" r:id="rId8"/>
    <p:sldId id="263" r:id="rId9"/>
    <p:sldId id="258" r:id="rId10"/>
    <p:sldId id="259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【只记一句】ERP 和 AI 的结合，目标不是做一个会聊天的机器人，而是让用户用自然语言完成真实业务动作。</a:t>
            </a:r>
          </a:p>
          <a:p/>
          <a:p>
            <a:r>
              <a:t>【可直接照读】今天分享的是 ERP 与 AI 的结合实践，重点放在两个具体动作：聊天发起审批、聊天填写日报。我们验证了 approval_creation_agent、daily_report_agent、daily_report_create_agent 和 daily_report_agentic_workflow_demo 四类实现，最后把 LangGraph 作为 ERP 主流程框架。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Visual style references supplied by the user: C:/Users/EDY/Pictures/1.jpg–16.jpg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 接入已经普及，但规模化产生价值仍然困难。</a:t>
            </a:r>
          </a:p>
          <a:p/>
          <a:p>
            <a:r>
              <a:t>【可直接照读】麦肯锡 2025 年调研显示，88% 的组织已经常态化使用 AI，但接近三分之二还没有开始企业级规模化。62% 正在试验或使用 AI Agent，只有 39% 报告了企业级 EBIT 影响。核心差距不在模型，而在能否嵌入真实流程。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McKinsey, The state of AI in 2025: Agents, innovation, and transformation (survey of 1,993 participants across 105 nations): https://www.mckinsey.com/capabilities/quantumblack/our-insights/the-state-of-ai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【只记一句】企业在持续投入 AI，但大多数还没有同时获得增收和降本。</a:t>
            </a:r>
          </a:p>
          <a:p/>
          <a:p>
            <a:r>
              <a:t>【可直接照读】PwC 2026 全球 CEO 调研显示，30% 表示 AI 带来收入增长，26% 表示成本下降，但 56% 既未增收也未降本，只有 12% 同时实现两种收益。这说明孤立功能不等于业务价值，需要流程、数据与责任边界共同落地。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PwC, 29th Global CEO Survey: Leading through uncertainty in the age of AI (4,454 CEOs across 95 countries and territories): https://www.pwc.com/gx/en/issues/c-suite-insights/ceo-survey.html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【只记一句】今天只回答四个问题：场景、路径、效果、问题。</a:t>
            </a:r>
          </a:p>
          <a:p/>
          <a:p>
            <a:r>
              <a:t>【可直接照读】整场分享围绕四个问题展开。第一，AI 为什么要进入 ERP；第二，如何通过聊天助手落地；第三，目前已经实现了哪些可用能力；第四，为什么看起来只是请假和日报，最后却出现了很多节点和分支。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【只记一句】实施路径是先选场景，再接数据，再封装工具，最后用 LangGraph 编排和观测。</a:t>
            </a:r>
          </a:p>
          <a:p/>
          <a:p>
            <a:r>
              <a:t>【可直接照读】我们没有从“大而全的企业助手”开始，而是先选择审批和日报两个高频动作。接着接入用户权限、审批模板、动态字段和日报配置，再把查询、校验、保存、预览、提交封装成统一 Tool。LangGraph 管理状态和流程，LangSmith帮助定位问题，形成从试点到复用的路径。</a:t>
            </a:r>
          </a:p>
          <a:p/>
          <a:p>
            <a:r>
              <a:t>【时间建议】约 60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【只记一句】三者是分层组合，最终主流程选 LangGraph。</a:t>
            </a:r>
          </a:p>
          <a:p/>
          <a:p>
            <a:r>
              <a:t>【可直接照读】LangChain提供模型和 Tool 等基础构件；LangGraph负责状态、分支和人工中断；Deep Agents提供更高层的自主规划。ERP 涉及真实写入，所以先保证流程可控。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D:/PythonProject/LearnOne/ai_approval_assistant/pyproject.toml</a:t>
            </a:r>
          </a:p>
          <a:p>
            <a:r>
              <a:t>- D:/PythonProject/LearnOne/ai_approval_assistant/docs/architecture.md</a:t>
            </a:r>
          </a:p>
          <a:p>
            <a:r>
              <a:t>- C:/Users/EDY/Pictures/16.jpg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【只记一句】首批场景选审批和日报，是因为频率高、规则清晰、容易验证闭环。</a:t>
            </a:r>
          </a:p>
          <a:p/>
          <a:p>
            <a:r>
              <a:t>【可直接照读】用户不需要先找到 ERP 菜单，也不需要记住表单字段，只要表达业务目标。审批场景验证动态字段与确认提交，日报场景验证上下文加载、草稿、预览和提交。四种方案分别对应显式流程、稳定执行、Agent 决策和自主加闸门。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【只记一句】现场用两条对话证明：AI 不只是回答，而是真的走完 ERP 业务闭环。</a:t>
            </a:r>
          </a:p>
          <a:p/>
          <a:p>
            <a:r>
              <a:t>【演示前准备】提前启动 ai_approval_assistant，优先打开现有聊天页面；没有聊天前端时打开 http://127.0.0.1:8010/docs。测试或 mock 环境可以确认提交，生产环境只演示到预览。每条演示使用新的 session_id，避免继承上一次状态。</a:t>
            </a:r>
          </a:p>
          <a:p/>
          <a:p>
            <a:r>
              <a:t>【可直接照读】下面我不讲代码，直接看实际效果。第一条输入“我要请假”，系统会按真实配置追问请假类型和时间，字段完整后生成审批预览，明确确认后才提交。第二条输入“写今天日报：完成审批助手开发和接口联调”，系统加载当天上下文、生成草稿和预览，再等待确认。大家重点看三个点：自然语言入口、动态补充信息、提交前人工确认。</a:t>
            </a:r>
          </a:p>
          <a:p/>
          <a:p>
            <a:r>
              <a:t>【异常备用】如果接口或网络临时异常，立刻停止刷新，直接用后面的 LangGraph Studio 截图说明同一条路径，并明确说明“现场环境异常，不影响已经完成的流程验证”。</a:t>
            </a:r>
          </a:p>
          <a:p/>
          <a:p>
            <a:r>
              <a:t>【时间建议】约 2 分 30 秒</a:t>
            </a:r>
          </a:p>
          <a:p/>
          <a:p>
            <a:r>
              <a:t>[Sources]</a:t>
            </a:r>
          </a:p>
          <a:p>
            <a:r>
              <a:t>- D:/PythonProject/LearnOne/ai_approval_assistant/演示.md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D:/PythonProject/LearnOne/ai_approval_assistant/app/api/chat.py</a:t>
            </a:r>
          </a:p>
          <a:p>
            <a:r>
              <a:t>- FastAPI Swagger demo entry: http://127.0.0.1:8010/docs</a:t>
            </a:r>
          </a:p>
          <a:p>
            <a:r>
              <a:t>- Deep Agents demo entry: http://127.0.0.1:8020/docs</a:t>
            </a:r>
          </a:p>
          <a:p>
            <a:r>
              <a:t>- Backup plan: if live service is unavailable, use the prepared LangGraph Studio screenshots and explain the same input → preview → confirmation path.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【只记一句】ERP 场景更看重可控执行，而不是代码看起来更少。</a:t>
            </a:r>
          </a:p>
          <a:p/>
          <a:p>
            <a:r>
              <a:t>【可直接照读】LangChain适合简单调用，LangGraph适合有状态和人工确认的流程，Deep Agents适合开放长任务。审批和日报需要暂停、恢复和安全写入，因此 LangGraph 更贴合主流程。</a:t>
            </a:r>
          </a:p>
          <a:p/>
          <a:p>
            <a:r>
              <a:t>【时间建议】约 35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D:/PythonProject/LearnOne/ai_deep_agents_assistant/app/agents/approval_agent.py</a:t>
            </a:r>
          </a:p>
          <a:p>
            <a:r>
              <a:t>- C:/Users/EDY/Pictures/5.jpg</a:t>
            </a:r>
          </a:p>
          <a:p>
            <a:r>
              <a:t>- C:/Users/EDY/Pictures/7.jpg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【只记一句】最终分工是 LangChain 做基础，LangGraph做主流程，Deep Agents做探索。</a:t>
            </a:r>
          </a:p>
          <a:p/>
          <a:p>
            <a:r>
              <a:t>【可直接照读】选择 LangGraph 是因为流程清晰、状态可持久化、路径便于排查，并且能把 ERP 校验和提交做成明确闸门。</a:t>
            </a:r>
          </a:p>
          <a:p/>
          <a:p>
            <a:r>
              <a:t>【时间建议】约 40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D:/PythonProject/LearnOne/ai_approval_assistant/docs/architecture.md</a:t>
            </a:r>
          </a:p>
          <a:p>
            <a:r>
              <a:t>- C:/Users/EDY/Pictures/1.jpg</a:t>
            </a:r>
          </a:p>
          <a:p>
            <a:r>
              <a:t>- C:/Users/EDY/Pictures/13.jpg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【只记一句】聊天发起审批的关键是动态适配，而不是把请假话术写死。</a:t>
            </a:r>
          </a:p>
          <a:p/>
          <a:p>
            <a:r>
              <a:t>【可直接照读】用户说“我明天下午请假两小时”，助手先识别审批模板，再根据公司配置追问缺失字段，校验后生成预览，只有用户明确确认才写入 ERP。用户看到的是一句话入口，系统内部仍然遵守原来的字段、审批人和权限规则。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【只记一句】同一个请假动作，在不同公司可能对应不同表单。</a:t>
            </a:r>
          </a:p>
          <a:p/>
          <a:p>
            <a:r>
              <a:t>【可直接照读】审批最难的地方是组件多、字段不一样，而且每家公司还能配置不同规则。解决方法不是为每家公司增加一组 if-else，而是让 ERP 定义模板和字段，AI负责理解表达，聊天助手根据配置动态追问、校验和预览。这样新增组件主要是增加配置和适配，而不是重写主流程。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D:/PythonProject/LearnOne/ai_approval_assistant/app/services/crm_service.py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【只记一句】标准日报优先用固定流程，先保证稳定和可恢复。</a:t>
            </a:r>
          </a:p>
          <a:p/>
          <a:p>
            <a:r>
              <a:t>【可直接照读】用户说“帮我写今天日报”，系统加载当天配置、已有草稿和同步数据，收集工作内容，保存草稿，生成预览，确认后提交。这个场景步骤比较明确，所以把流程显式化，便于控制风险，也便于出现中断后继续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【只记一句】自主日报让 Agent 决定下一步，但写入边界仍然固定。</a:t>
            </a:r>
          </a:p>
          <a:p/>
          <a:p>
            <a:r>
              <a:t>【可直接照读】当用户只说“把今天客户跟进整理成日报”时，输入并不完整，Agent需要判断是否先确认日期、加载哪些 ERP 数据、是否继续追问以及何时生成预览。它提升了自然表达的适应性，但不能编造内容、跳过预览或自动提交。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D:/PythonProject/LearnOne/ai_approval_assistant/app/agents/daily_report_create_agent.py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【只记一句】开放性工作交给 Agent，确定性写入交给 Workflow。</a:t>
            </a:r>
          </a:p>
          <a:p/>
          <a:p>
            <a:r>
              <a:t>【可直接照读】Agent可以理解目标、制定计划和组织正文；Workflow负责保存草稿、生成预览、等待确认和执行提交。这个 Agentic Workflow demo 体现的是一种折中：让模型有灵活性，但把高风险动作放在明确的流程闸门之后。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D:/PythonProject/LearnOne/ai_approval_assistant/app/agents/daily_report_agentic_workflow_demo.py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【只记一句】四种方案是按风险和开放程度选择，不是互相替代。</a:t>
            </a:r>
          </a:p>
          <a:p/>
          <a:p>
            <a:r>
              <a:t>【可直接照读】审批和标准日报已经具备生产落地的特征，因为流程和提交边界清晰；自主日报更适合能力探索，灵活性高但需要更多约束；Agentic Workflow是演进方向，用自主规划处理开放任务，再用流程闸门保证安全。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【只记一句】现场演示证明“能用”，预期效果页说明“如何衡量”。</a:t>
            </a:r>
          </a:p>
          <a:p/>
          <a:p>
            <a:r>
              <a:t>【可直接照读】刚才已经看到两条真实业务路径。当前已实现的是聊天请假、动态字段收集、审批预览和确认提交，以及聊天写日报、草稿、预览和 interrupt/resume 恢复。下一步用模板识别准确率、平均对话轮次、必填字段完成率、预览到提交成功率、恢复成功率和 ERP Tool P95 延迟衡量规模化效果。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【只记一句】复杂度来自配置、状态和安全边界叠加。</a:t>
            </a:r>
          </a:p>
          <a:p/>
          <a:p>
            <a:r>
              <a:t>【可直接照读】审批组件太多，每个组件字段不同；LangGraph中 if-else 持续增加；多轮对话、人工中断和恢复让节点状态相互影响；出现问题时还要区分模型、路由、状态和 ERP 接口。当前四类工作流一共注册了约 40 个节点：顶层 9 个、审批子图 14 个、标准日报 10 个、Agentic Workflow 7 个。这个数字能直观说明，聊天入口很简单，业务执行并不简单。</a:t>
            </a:r>
          </a:p>
          <a:p/>
          <a:p>
            <a:r>
              <a:t>【时间建议】约 75 秒</a:t>
            </a:r>
          </a:p>
          <a:p/>
          <a:p>
            <a:r>
              <a:t>[Sources]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【只记一句】排查问题要看完整 Trace，而不是只看最终回答。</a:t>
            </a:r>
          </a:p>
          <a:p/>
          <a:p>
            <a:r>
              <a:t>【可直接照读】一次请求可能同时经过模型理解、流程路由、状态变化和 ERP 工具四类环节。LangSmith需要重点观察节点顺序、分支原因、模型字段抽取、Tool参数与耗时，以及 interrupt前后的状态差异。这样才能快速判断问题发生在哪一层，而不是凭感觉修改代码。</a:t>
            </a:r>
          </a:p>
          <a:p/>
          <a:p>
            <a:r>
              <a:t>【时间建议】约 60 秒</a:t>
            </a:r>
          </a:p>
          <a:p/>
          <a:p>
            <a:r>
              <a:t>[Sources]</a:t>
            </a:r>
          </a:p>
          <a:p>
            <a:r>
              <a:t>- D:/PythonProject/LearnOne/ai_approval_assistant/docs/studio_debug.md</a:t>
            </a:r>
          </a:p>
          <a:p>
            <a:r>
              <a:t>- D:/PythonProject/LearnOne/ai_approval_assistant/app/graph/workflow.py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【只记一句】优化原则是把稳定规则流程化，把开放判断 Agent 化。</a:t>
            </a:r>
          </a:p>
          <a:p/>
          <a:p>
            <a:r>
              <a:t>【可直接照读】字段完整性、业务校验、预览确认、幂等和审计必须留在 Workflow 中；理解目标、提取信息、选择上下文和组织内容可以交给 Agent。配套动作包括规则配置化、节点单一职责、统一 ERP Tool 和全链路观测。</a:t>
            </a:r>
          </a:p>
          <a:p/>
          <a:p>
            <a:r>
              <a:t>【时间建议】约 55 秒</a:t>
            </a:r>
          </a:p>
          <a:p/>
          <a:p>
            <a:r>
              <a:t>[Sources]</a:t>
            </a:r>
          </a:p>
          <a:p>
            <a:r>
              <a:t>- D:/PythonProject/LearnOne/ai_approval_assistant/docs/architecture.md</a:t>
            </a:r>
          </a:p>
          <a:p>
            <a:r>
              <a:t>- D:/PythonProject/LearnOne/ai_approval_assistant/docs/studio_debug.md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【只记一句】AI 负责理解和交互，ERP 负责规则和可信执行。</a:t>
            </a:r>
          </a:p>
          <a:p/>
          <a:p>
            <a:r>
              <a:t>【可直接照读】最后用八句话总结这次实践。AI 不是替代 ERP，而是增加自然语言入口；审批和日报是第一批高频、典型、容易验证闭环的场景。用户负责表达目标，AI 负责理解和补充信息，ERP 继续负责权限、规则、字段和最终写入。技术上，LangChain 提供基础组件，LangGraph 负责主流程，Deep Agents 探索自主规划；最终选择 LangGraph，是因为 ERP 更需要可控、可恢复和可审计。当前最大的挑战是动态字段、流程分支和状态复杂度，下一步要沉淀统一 Schema、统一 Tool 和统一观测体系。</a:t>
            </a:r>
          </a:p>
          <a:p/>
          <a:p>
            <a:r>
              <a:t>【时间建议】约 50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【只记一句】下一步是把两个试点沉淀成可复用底座。</a:t>
            </a:r>
          </a:p>
          <a:p/>
          <a:p>
            <a:r>
              <a:t>【可直接照读】近期完善审批与日报的动态字段、错误恢复和链路观测；中期沉淀统一业务 Schema、ERP Tool和公司级配置适配；长期扩展订单、库存、客户跟进和经营分析。最终目标是让 AI 理解任务，让 ERP 流程稳定、可控、可追踪。</a:t>
            </a:r>
          </a:p>
          <a:p/>
          <a:p>
            <a:r>
              <a:t>【时间建议】约 45 秒</a:t>
            </a:r>
          </a:p>
          <a:p/>
          <a:p>
            <a:r>
              <a:t>[Sources]</a:t>
            </a:r>
          </a:p>
          <a:p>
            <a:r>
              <a:t>- D:/PythonProject/LearnOne/ai_approval_assistant/README.md</a:t>
            </a:r>
          </a:p>
          <a:p>
            <a:r>
              <a:t>- D:/PythonProject/LearnOne/ai_approval_assistant/docs/architecture.md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C:/Users/EDY/AppData/Local/Temp/codex-clipboard-a168231d-4563-4e49-8319-92fa1617d4ed.png</a:t>
            </a:r>
          </a:p>
          <a:p>
            <a:r>
              <a:t>- D:/PythonProject/LearnOne/ai_approval_assistant/app/graph/workflow.py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- D:/PythonProject/LearnOne/ai_approval_assistant/app/agents/daily_report_create_agent.py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C:/Users/EDY/AppData/Local/Temp/codex-clipboard-39e93d19-0368-48e9-9041-d15d064c8b2e.png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C:/Users/EDY/AppData/Local/Temp/codex-clipboard-39e93d19-0368-48e9-9041-d15d064c8b2e.png</a:t>
            </a:r>
          </a:p>
          <a:p>
            <a:r>
              <a:t>- D:/PythonProject/LearnOne/ai_approval_assistant/app/graph/approval_workflow.py</a:t>
            </a:r>
          </a:p>
          <a:p>
            <a:r>
              <a:t>- D:/PythonProject/LearnOne/ai_approval_assistant/app/agents/approval_agent.py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C:/Users/EDY/AppData/Local/Temp/codex-clipboard-05e8c312-0ae2-40a4-b844-9af537fa1dea.png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C:/Users/EDY/AppData/Local/Temp/codex-clipboard-05e8c312-0ae2-40a4-b844-9af537fa1dea.png</a:t>
            </a:r>
          </a:p>
          <a:p>
            <a:r>
              <a:t>- D:/PythonProject/LearnOne/ai_approval_assistant/app/graph/daily_report_workflow.py</a:t>
            </a:r>
          </a:p>
          <a:p>
            <a:r>
              <a:t>- D:/PythonProject/LearnOne/ai_approval_assistant/app/agents/daily_report_chat_agent.py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【使用建议】这一页作为问答备用，不主动展开。</a:t>
            </a:r>
          </a:p>
          <a:p/>
          <a:p>
            <a:r>
              <a:t>[Sources]</a:t>
            </a:r>
          </a:p>
          <a:p>
            <a:r>
              <a:t>- User-provided LangGraph Studio screenshot: C:/Users/EDY/AppData/Local/Temp/codex-clipboard-b08edd2a-092c-42e0-b5a8-e9c7d58a5c65.png</a:t>
            </a:r>
          </a:p>
          <a:p>
            <a:r>
              <a:t>- D:/PythonProject/LearnOne/ai_approval_assistant/app/graph/daily_report_agentic_workflow_demo.py</a:t>
            </a:r>
          </a:p>
          <a:p>
            <a:r>
              <a:t>- D:/PythonProject/LearnOne/ai_approval_assistant/app/agents/daily_report_agentic_workflow_demo.py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E8"/>
          </a:solidFill>
          <a:ln w="0">
            <a:solidFill>
              <a:srgbClr val="F6F1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207645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42950" y="533400"/>
            <a:ext cx="857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ERP 与 AI 融合实践</a:t>
            </a:r>
            <a:endParaRPr sz="405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304925"/>
            <a:ext cx="7810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ECDDE1"/>
                </a:solidFill>
              </a:defRPr>
            </a:pPr>
            <a:r>
              <a:rPr sz="2025" b="0">
                <a:solidFill>
                  <a:srgbClr val="ECDDE1"/>
                </a:solidFill>
              </a:rPr>
              <a:t>从聊天发起审批，到聊天填写日报</a:t>
            </a:r>
            <a:endParaRPr sz="2025" b="0">
              <a:solidFill>
                <a:srgbClr val="ECDDE1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2705100"/>
            <a:ext cx="7810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282523"/>
                </a:solidFill>
              </a:defRPr>
            </a:pPr>
            <a:r>
              <a:rPr sz="2325" b="1">
                <a:solidFill>
                  <a:srgbClr val="282523"/>
                </a:solidFill>
              </a:rPr>
              <a:t>让用户直接表达业务目标，让 AI 在 ERP 规则内协助完成操作</a:t>
            </a:r>
            <a:endParaRPr sz="2325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105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5250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智能审批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2392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approval_creation_agent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50520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67665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标准日报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64807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22935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E9DCC9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40080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自主日报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37222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daily_report_create_agent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8953500" y="4238625"/>
            <a:ext cx="2400300" cy="1104900"/>
          </a:xfrm>
          <a:prstGeom prst="roundRect">
            <a:avLst>
              <a:gd name="adj" fmla="val 18966"/>
            </a:avLst>
          </a:prstGeom>
          <a:solidFill>
            <a:srgbClr val="E9DCC9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9124950" y="4467225"/>
            <a:ext cx="2057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Agentic Workflow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096375" y="4914900"/>
            <a:ext cx="21145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0">
                <a:solidFill>
                  <a:srgbClr val="6E635E"/>
                </a:solidFill>
              </a:defRPr>
            </a:pPr>
            <a:r>
              <a:rPr sz="975" b="0">
                <a:solidFill>
                  <a:srgbClr val="6E635E"/>
                </a:solidFill>
              </a:rPr>
              <a:t>daily_report_agentic_workflow_demo</a:t>
            </a:r>
            <a:endParaRPr sz="97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81050" y="61531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66C6B"/>
                </a:solidFill>
              </a:defRPr>
            </a:pPr>
            <a:endParaRPr sz="1050" b="1">
              <a:solidFill>
                <a:srgbClr val="A66C6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行业现状：AI 使用率很高，规模化价值仍有明显断层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GLOBAL AI ADOPTION · 2025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05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85900"/>
            <a:ext cx="200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74364A"/>
                </a:solidFill>
              </a:defRPr>
            </a:pPr>
            <a:r>
              <a:rPr sz="4350" b="1">
                <a:solidFill>
                  <a:srgbClr val="74364A"/>
                </a:solidFill>
              </a:rPr>
              <a:t>88%</a:t>
            </a:r>
            <a:endParaRPr sz="4350" b="1">
              <a:solidFill>
                <a:srgbClr val="74364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2181225"/>
            <a:ext cx="32194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至少一个业务职能常态化使用 AI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1050" y="2705100"/>
            <a:ext cx="3714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2024 年为 78%，一年提升 10 个百分点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81050" y="3209925"/>
            <a:ext cx="4857750" cy="495300"/>
          </a:xfrm>
          <a:prstGeom prst="roundRect">
            <a:avLst>
              <a:gd name="adj" fmla="val 19231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81050" y="3209925"/>
            <a:ext cx="4276725" cy="495300"/>
          </a:xfrm>
          <a:prstGeom prst="roundRect">
            <a:avLst>
              <a:gd name="adj" fmla="val 1923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933450" y="3324225"/>
            <a:ext cx="1619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88% 已使用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414337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但规模化仍是少数</a:t>
            </a:r>
            <a:endParaRPr sz="1875" b="1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" y="4657725"/>
            <a:ext cx="4857750" cy="447675"/>
          </a:xfrm>
          <a:prstGeom prst="roundRect">
            <a:avLst>
              <a:gd name="adj" fmla="val 19149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781050" y="4657725"/>
            <a:ext cx="1619250" cy="447675"/>
          </a:xfrm>
          <a:prstGeom prst="roundRect">
            <a:avLst>
              <a:gd name="adj" fmla="val 19149"/>
            </a:avLst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33450" y="4752975"/>
            <a:ext cx="19526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约 1/3 已规模化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924175" y="476250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近 2/3 尚未开始企业级扩展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191250" y="15906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400800" y="18002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62%</a:t>
            </a:r>
            <a:endParaRPr sz="3225" b="1">
              <a:solidFill>
                <a:srgbClr val="BF73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00800" y="24574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试验或使用 AI Agent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81750" y="29527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23% 已扩展 · 39% 试验中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8829675" y="15906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39225" y="18002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39%</a:t>
            </a:r>
            <a:endParaRPr sz="3225" b="1">
              <a:solidFill>
                <a:srgbClr val="3E7551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39225" y="24574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报告企业级 EBIT 影响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020175" y="29527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价值影响仍未成为多数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6191250" y="37242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400800" y="39338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51%</a:t>
            </a:r>
            <a:endParaRPr sz="3225" b="1">
              <a:solidFill>
                <a:srgbClr val="B4484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00800" y="45910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遇到至少一种负面后果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81750" y="50863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近三分之一提到 AI 不准确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829675" y="3724275"/>
            <a:ext cx="2428875" cy="1809750"/>
          </a:xfrm>
          <a:prstGeom prst="roundRect">
            <a:avLst>
              <a:gd name="adj" fmla="val 1210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039225" y="3933825"/>
            <a:ext cx="2009775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6%</a:t>
            </a:r>
            <a:endParaRPr sz="3225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039225" y="4591050"/>
            <a:ext cx="20097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被归为 AI 高绩效组织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020175" y="50863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更重视流程重构与规模化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762000" y="5791200"/>
            <a:ext cx="10668000" cy="485775"/>
          </a:xfrm>
          <a:prstGeom prst="roundRect">
            <a:avLst>
              <a:gd name="adj" fmla="val 27451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1009650" y="5915025"/>
            <a:ext cx="101727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结论：真正的竞争点不是“接入模型”，而是把 AI 嵌入业务流程并形成可控执行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81050" y="6334125"/>
            <a:ext cx="10382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35E"/>
                </a:solidFill>
              </a:defRPr>
            </a:pPr>
            <a:r>
              <a:rPr sz="900" b="0">
                <a:solidFill>
                  <a:srgbClr val="6E635E"/>
                </a:solidFill>
              </a:rPr>
              <a:t>数据来源：McKinsey《The state of AI in 2025》（2025，n=1,993，覆盖 105 个国家）</a:t>
            </a:r>
            <a:endParaRPr sz="9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矩形 4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价值现状：企业持续投入，但 AI 回报尚未普遍兑现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PWC GLOBAL CEO SURVEY · 2026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06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1525" y="1438275"/>
            <a:ext cx="609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4,454 位 CEO · 95 个国家和地区</a:t>
            </a:r>
            <a:endParaRPr sz="1875" b="1">
              <a:solidFill>
                <a:srgbClr val="28252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71525" y="1819275"/>
            <a:ext cx="4953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调研时间：2025 年 9 月 30 日—11 月 10 日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742950" y="2305050"/>
            <a:ext cx="2457450" cy="1381125"/>
          </a:xfrm>
          <a:prstGeom prst="roundRect">
            <a:avLst>
              <a:gd name="adj" fmla="val 15172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476500"/>
            <a:ext cx="2114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3E7551"/>
                </a:solidFill>
              </a:defRPr>
            </a:pPr>
            <a:r>
              <a:rPr sz="3225" b="1">
                <a:solidFill>
                  <a:srgbClr val="3E7551"/>
                </a:solidFill>
              </a:rPr>
              <a:t>30%</a:t>
            </a:r>
            <a:endParaRPr sz="3225" b="1">
              <a:solidFill>
                <a:srgbClr val="3E7551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133725"/>
            <a:ext cx="2114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带来收入增长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476625" y="2305050"/>
            <a:ext cx="2457450" cy="1381125"/>
          </a:xfrm>
          <a:prstGeom prst="roundRect">
            <a:avLst>
              <a:gd name="adj" fmla="val 15172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48075" y="2476500"/>
            <a:ext cx="2114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BF7326"/>
                </a:solidFill>
              </a:defRPr>
            </a:pPr>
            <a:r>
              <a:rPr sz="3225" b="1">
                <a:solidFill>
                  <a:srgbClr val="BF7326"/>
                </a:solidFill>
              </a:rPr>
              <a:t>26%</a:t>
            </a:r>
            <a:endParaRPr sz="3225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48075" y="3133725"/>
            <a:ext cx="2114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 带来成本下降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210300" y="2305050"/>
            <a:ext cx="2457450" cy="1381125"/>
          </a:xfrm>
          <a:prstGeom prst="roundRect">
            <a:avLst>
              <a:gd name="adj" fmla="val 15172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0" y="2476500"/>
            <a:ext cx="2114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B44842"/>
                </a:solidFill>
              </a:defRPr>
            </a:pPr>
            <a:r>
              <a:rPr sz="3225" b="1">
                <a:solidFill>
                  <a:srgbClr val="B44842"/>
                </a:solidFill>
              </a:rPr>
              <a:t>56%</a:t>
            </a:r>
            <a:endParaRPr sz="3225" b="1">
              <a:solidFill>
                <a:srgbClr val="B4484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81750" y="3133725"/>
            <a:ext cx="2114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既未增收也未降本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943975" y="2305050"/>
            <a:ext cx="2457450" cy="1381125"/>
          </a:xfrm>
          <a:prstGeom prst="roundRect">
            <a:avLst>
              <a:gd name="adj" fmla="val 15172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9115425" y="2476500"/>
            <a:ext cx="21145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225" b="1">
                <a:solidFill>
                  <a:srgbClr val="74364A"/>
                </a:solidFill>
              </a:defRPr>
            </a:pPr>
            <a:r>
              <a:rPr sz="3225" b="1">
                <a:solidFill>
                  <a:srgbClr val="74364A"/>
                </a:solidFill>
              </a:rPr>
              <a:t>12%</a:t>
            </a:r>
            <a:endParaRPr sz="3225" b="1">
              <a:solidFill>
                <a:srgbClr val="7436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15425" y="3133725"/>
            <a:ext cx="2114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同时实现增收与降本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067175"/>
            <a:ext cx="742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AI 在业务领域“大范围应用”的比例仍然不高</a:t>
            </a:r>
            <a:endParaRPr sz="1800" b="1">
              <a:solidFill>
                <a:srgbClr val="74364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1050" y="44767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获客 / 需求生成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2667000" y="4505325"/>
            <a:ext cx="6667500" cy="171450"/>
          </a:xfrm>
          <a:prstGeom prst="roundRect">
            <a:avLst>
              <a:gd name="adj" fmla="val 27778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2667000" y="4505325"/>
            <a:ext cx="5867400" cy="171450"/>
          </a:xfrm>
          <a:prstGeom prst="roundRect">
            <a:avLst>
              <a:gd name="adj" fmla="val 27778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505950" y="44672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22%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81050" y="47434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支持服务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2667000" y="4772025"/>
            <a:ext cx="6667500" cy="171450"/>
          </a:xfrm>
          <a:prstGeom prst="roundRect">
            <a:avLst>
              <a:gd name="adj" fmla="val 27778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2667000" y="4772025"/>
            <a:ext cx="5334000" cy="171450"/>
          </a:xfrm>
          <a:prstGeom prst="roundRect">
            <a:avLst>
              <a:gd name="adj" fmla="val 27778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505950" y="47339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20%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" y="50101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产品、服务与体验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2667000" y="5038725"/>
            <a:ext cx="6667500" cy="171450"/>
          </a:xfrm>
          <a:prstGeom prst="roundRect">
            <a:avLst>
              <a:gd name="adj" fmla="val 27778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2667000" y="5038725"/>
            <a:ext cx="5067300" cy="171450"/>
          </a:xfrm>
          <a:prstGeom prst="roundRect">
            <a:avLst>
              <a:gd name="adj" fmla="val 27778"/>
            </a:avLst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05950" y="50006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19%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81050" y="52768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战略决策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2667000" y="5305425"/>
            <a:ext cx="6667500" cy="171450"/>
          </a:xfrm>
          <a:prstGeom prst="roundRect">
            <a:avLst>
              <a:gd name="adj" fmla="val 27778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2667000" y="5305425"/>
            <a:ext cx="4000500" cy="171450"/>
          </a:xfrm>
          <a:prstGeom prst="roundRect">
            <a:avLst>
              <a:gd name="adj" fmla="val 27778"/>
            </a:avLst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505950" y="52673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15%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81050" y="554355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需求履约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2667000" y="5572125"/>
            <a:ext cx="6667500" cy="171450"/>
          </a:xfrm>
          <a:prstGeom prst="roundRect">
            <a:avLst>
              <a:gd name="adj" fmla="val 27778"/>
            </a:avLst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2667000" y="5572125"/>
            <a:ext cx="3467100" cy="171450"/>
          </a:xfrm>
          <a:prstGeom prst="roundRect">
            <a:avLst>
              <a:gd name="adj" fmla="val 27778"/>
            </a:avLst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505950" y="5534025"/>
            <a:ext cx="666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13%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781050" y="5943600"/>
            <a:ext cx="10572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孤立功能难以产生可衡量价值：需要业务流程、数据基础、风险机制和组织采用共同推进</a:t>
            </a:r>
            <a:endParaRPr sz="1350" b="1">
              <a:solidFill>
                <a:srgbClr val="5D293B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81050" y="6286500"/>
            <a:ext cx="10477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E635E"/>
                </a:solidFill>
              </a:defRPr>
            </a:pPr>
            <a:r>
              <a:rPr sz="825" b="0">
                <a:solidFill>
                  <a:srgbClr val="6E635E"/>
                </a:solidFill>
              </a:rPr>
              <a:t>数据来源：PwC《29th Global CEO Survey: Leading through uncertainty in the age of AI》（2026，n=4,454，覆盖 95 个国家和地区）</a:t>
            </a:r>
            <a:endParaRPr sz="82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本次分享围绕四个核心问题展开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657350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3E8E5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895475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74364A"/>
                </a:solidFill>
              </a:defRPr>
            </a:pPr>
            <a:r>
              <a:rPr sz="2250" b="1">
                <a:solidFill>
                  <a:srgbClr val="74364A"/>
                </a:solidFill>
              </a:rPr>
              <a:t>01</a:t>
            </a:r>
            <a:endParaRPr sz="225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800225" y="1905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应用场景</a:t>
            </a:r>
            <a:endParaRPr sz="2025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19175" y="24669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AI 与 ERP 如何结合？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19175" y="2867025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聊天发起审批、聊天填写日报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86500" y="1657350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6572250" y="1895475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BF7326"/>
                </a:solidFill>
              </a:defRPr>
            </a:pPr>
            <a:r>
              <a:rPr sz="2250" b="1">
                <a:solidFill>
                  <a:srgbClr val="BF7326"/>
                </a:solidFill>
              </a:rPr>
              <a:t>02</a:t>
            </a:r>
            <a:endParaRPr sz="2250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362825" y="1905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实施路径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81775" y="24669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如何把想法做成可用能力？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81775" y="2867025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开发聊天助手，接入 ERP，并用 LangGraph 编排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723900" y="3876675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1009650" y="4114800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E7551"/>
                </a:solidFill>
              </a:defRPr>
            </a:pPr>
            <a:r>
              <a:rPr sz="2250" b="1">
                <a:solidFill>
                  <a:srgbClr val="3E7551"/>
                </a:solidFill>
              </a:rPr>
              <a:t>03</a:t>
            </a:r>
            <a:endParaRPr sz="2250" b="1">
              <a:solidFill>
                <a:srgbClr val="3E755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00225" y="4124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预期效果</a:t>
            </a:r>
            <a:endParaRPr sz="2025" b="1">
              <a:solidFill>
                <a:srgbClr val="3E755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19175" y="4686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最终希望实现什么？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19175" y="50863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聊天请假、聊天发日报，形成可确认的业务闭环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86500" y="3876675"/>
            <a:ext cx="5181600" cy="1847850"/>
          </a:xfrm>
          <a:prstGeom prst="roundRect">
            <a:avLst>
              <a:gd name="adj" fmla="val 12887"/>
            </a:avLst>
          </a:prstGeom>
          <a:solidFill>
            <a:srgbClr val="F9E9E7"/>
          </a:solidFill>
          <a:ln w="14288">
            <a:solidFill>
              <a:srgbClr val="B44842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1" name="矩形 20"/>
          <p:cNvSpPr>
            <a:spLocks noGrp="1"/>
          </p:cNvSpPr>
          <p:nvPr/>
        </p:nvSpPr>
        <p:spPr>
          <a:xfrm>
            <a:off x="6572250" y="4114800"/>
            <a:ext cx="666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B44842"/>
                </a:solidFill>
              </a:defRPr>
            </a:pPr>
            <a:r>
              <a:rPr sz="2250" b="1">
                <a:solidFill>
                  <a:srgbClr val="B44842"/>
                </a:solidFill>
              </a:rPr>
              <a:t>04</a:t>
            </a:r>
            <a:endParaRPr sz="2250" b="1">
              <a:solidFill>
                <a:srgbClr val="B4484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362825" y="4124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B44842"/>
                </a:solidFill>
              </a:defRPr>
            </a:pPr>
            <a:r>
              <a:rPr sz="2025" b="1">
                <a:solidFill>
                  <a:srgbClr val="B44842"/>
                </a:solidFill>
              </a:rPr>
              <a:t>遇到的问题</a:t>
            </a:r>
            <a:endParaRPr sz="2025" b="1">
              <a:solidFill>
                <a:srgbClr val="B4484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581775" y="4686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282523"/>
                </a:solidFill>
              </a:defRPr>
            </a:pPr>
            <a:r>
              <a:rPr sz="1425" b="1">
                <a:solidFill>
                  <a:srgbClr val="282523"/>
                </a:solidFill>
              </a:rPr>
              <a:t>实际开发为什么变复杂？</a:t>
            </a:r>
            <a:endParaRPr sz="1425" b="1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81775" y="50863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动态组件、if-else 增长、节点复杂、排查困难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" y="6067425"/>
            <a:ext cx="1057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核心目标：让用户直接表达业务目标，让 AI 在 ERP 的数据、规则和权限边界内协助执行</a:t>
            </a:r>
            <a:endParaRPr sz="1575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" name="矩形 2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实施路径：从业务试点到可复用聊天助手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638300"/>
            <a:ext cx="3295650" cy="1743075"/>
          </a:xfrm>
          <a:prstGeom prst="roundRect">
            <a:avLst>
              <a:gd name="adj" fmla="val 1311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923925" y="18478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01</a:t>
            </a:r>
            <a:endParaRPr sz="2025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52575" y="18478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选择试点场景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419350"/>
            <a:ext cx="2762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先做审批与日报，验证查询、补充信息和写入闭环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448175" y="1638300"/>
            <a:ext cx="3295650" cy="1743075"/>
          </a:xfrm>
          <a:prstGeom prst="roundRect">
            <a:avLst>
              <a:gd name="adj" fmla="val 1311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4686300" y="18478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02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314950" y="18478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接入 ERP 上下文</a:t>
            </a:r>
            <a:endParaRPr sz="1725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14875" y="2419350"/>
            <a:ext cx="2762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打通用户权限、审批模板、动态字段、日报配置与草稿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210550" y="1638300"/>
            <a:ext cx="3295650" cy="1743075"/>
          </a:xfrm>
          <a:prstGeom prst="roundRect">
            <a:avLst>
              <a:gd name="adj" fmla="val 13115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8448675" y="18478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03</a:t>
            </a:r>
            <a:endParaRPr sz="2025" b="1">
              <a:solidFill>
                <a:srgbClr val="3E7551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77325" y="18478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3E7551"/>
                </a:solidFill>
              </a:defRPr>
            </a:pPr>
            <a:r>
              <a:rPr sz="1725" b="1">
                <a:solidFill>
                  <a:srgbClr val="3E7551"/>
                </a:solidFill>
              </a:rPr>
              <a:t>封装业务能力</a:t>
            </a:r>
            <a:endParaRPr sz="1725" b="1">
              <a:solidFill>
                <a:srgbClr val="3E755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477250" y="2419350"/>
            <a:ext cx="2762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将查询、校验、保存、预览和提交封装为统一 Tool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2581275" y="4038600"/>
            <a:ext cx="3295650" cy="1743075"/>
          </a:xfrm>
          <a:prstGeom prst="roundRect">
            <a:avLst>
              <a:gd name="adj" fmla="val 1311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2819400" y="42481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74364A"/>
                </a:solidFill>
              </a:defRPr>
            </a:pPr>
            <a:r>
              <a:rPr sz="2025" b="1">
                <a:solidFill>
                  <a:srgbClr val="74364A"/>
                </a:solidFill>
              </a:rPr>
              <a:t>04</a:t>
            </a:r>
            <a:endParaRPr sz="2025" b="1">
              <a:solidFill>
                <a:srgbClr val="7436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448050" y="42481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使用 LangGraph 编排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47975" y="4819650"/>
            <a:ext cx="2762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管理多轮状态、流程节点、人工确认、暂停与恢复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343650" y="4038600"/>
            <a:ext cx="3295650" cy="1743075"/>
          </a:xfrm>
          <a:prstGeom prst="roundRect">
            <a:avLst>
              <a:gd name="adj" fmla="val 1311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2" name="矩形 21"/>
          <p:cNvSpPr>
            <a:spLocks noGrp="1"/>
          </p:cNvSpPr>
          <p:nvPr/>
        </p:nvSpPr>
        <p:spPr>
          <a:xfrm>
            <a:off x="6581775" y="4248150"/>
            <a:ext cx="590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05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10425" y="4248150"/>
            <a:ext cx="2143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BF7326"/>
                </a:solidFill>
              </a:defRPr>
            </a:pPr>
            <a:r>
              <a:rPr sz="1725" b="1">
                <a:solidFill>
                  <a:srgbClr val="BF7326"/>
                </a:solidFill>
              </a:rPr>
              <a:t>观测与迭代</a:t>
            </a:r>
            <a:endParaRPr sz="1725" b="1">
              <a:solidFill>
                <a:srgbClr val="BF7326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610350" y="4819650"/>
            <a:ext cx="276225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通过 LangSmith 定位模型、路由、状态与 ERP 接口问题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19150" y="6115050"/>
            <a:ext cx="10553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D293B"/>
                </a:solidFill>
              </a:defRPr>
            </a:pPr>
            <a:r>
              <a:rPr sz="1500" b="1">
                <a:solidFill>
                  <a:srgbClr val="5D293B"/>
                </a:solidFill>
              </a:rPr>
              <a:t>实施原则：AI 负责理解与组织，LangGraph 负责状态与流程，ERP 负责真实规则与最终执行</a:t>
            </a:r>
            <a:endParaRPr sz="150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三层关系：基础组件、运行时与 Agent 套件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495425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282523"/>
                </a:solidFill>
              </a:defRPr>
            </a:pPr>
            <a:r>
              <a:rPr sz="1875" b="1">
                <a:solidFill>
                  <a:srgbClr val="282523"/>
                </a:solidFill>
              </a:rPr>
              <a:t>不是三套互相替代的框架，而是不同层级的能力组合</a:t>
            </a:r>
            <a:endParaRPr sz="1875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2095500" y="2085975"/>
            <a:ext cx="8001000" cy="838200"/>
          </a:xfrm>
          <a:prstGeom prst="roundRect">
            <a:avLst>
              <a:gd name="adj" fmla="val 22727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2428875" y="234315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Deep Agents  ·  应用层 / Agent Harness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714625" y="269557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F2E5E8"/>
                </a:solidFill>
              </a:defRPr>
            </a:pPr>
            <a:r>
              <a:rPr sz="1200" b="0">
                <a:solidFill>
                  <a:srgbClr val="F2E5E8"/>
                </a:solidFill>
              </a:rPr>
              <a:t>提供任务规划、子智能体、文件与长任务等高级能力</a:t>
            </a:r>
            <a:endParaRPr sz="1200" b="0">
              <a:solidFill>
                <a:srgbClr val="F2E5E8"/>
              </a:solidFill>
            </a:endParaRPr>
          </a:p>
        </p:txBody>
      </p:sp>
      <p:sp>
        <p:nvSpPr>
          <p:cNvPr id="9" name="下箭头 8"/>
          <p:cNvSpPr>
            <a:spLocks noGrp="1"/>
          </p:cNvSpPr>
          <p:nvPr/>
        </p:nvSpPr>
        <p:spPr>
          <a:xfrm>
            <a:off x="5867400" y="3009900"/>
            <a:ext cx="457200" cy="361950"/>
          </a:xfrm>
          <a:prstGeom prst="down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619750" y="33528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  <a:endParaRPr sz="1200" b="0">
              <a:solidFill>
                <a:srgbClr val="A66C6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095500" y="3705225"/>
            <a:ext cx="8001000" cy="838200"/>
          </a:xfrm>
          <a:prstGeom prst="roundRect">
            <a:avLst>
              <a:gd name="adj" fmla="val 22727"/>
            </a:avLst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2428875" y="396240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LangGraph  ·  运行时 / Agent Runtime</a:t>
            </a:r>
            <a:endParaRPr sz="187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714625" y="431482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F8EDEE"/>
                </a:solidFill>
              </a:defRPr>
            </a:pPr>
            <a:r>
              <a:rPr sz="1200" b="0">
                <a:solidFill>
                  <a:srgbClr val="F8EDEE"/>
                </a:solidFill>
              </a:rPr>
              <a:t>负责状态管理、持久化执行、循环分支与人工中断</a:t>
            </a:r>
            <a:endParaRPr sz="1200" b="0">
              <a:solidFill>
                <a:srgbClr val="F8EDEE"/>
              </a:solidFill>
            </a:endParaRPr>
          </a:p>
        </p:txBody>
      </p:sp>
      <p:sp>
        <p:nvSpPr>
          <p:cNvPr id="14" name="下箭头 13"/>
          <p:cNvSpPr>
            <a:spLocks noGrp="1"/>
          </p:cNvSpPr>
          <p:nvPr/>
        </p:nvSpPr>
        <p:spPr>
          <a:xfrm>
            <a:off x="5867400" y="4629150"/>
            <a:ext cx="457200" cy="361950"/>
          </a:xfrm>
          <a:prstGeom prst="down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619750" y="49720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A66C6B"/>
                </a:solidFill>
              </a:defRPr>
            </a:pPr>
            <a:r>
              <a:rPr sz="1200" b="0">
                <a:solidFill>
                  <a:srgbClr val="A66C6B"/>
                </a:solidFill>
              </a:rPr>
              <a:t>构建在</a:t>
            </a:r>
            <a:endParaRPr sz="1200" b="0">
              <a:solidFill>
                <a:srgbClr val="A66C6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095500" y="5324475"/>
            <a:ext cx="8001000" cy="838200"/>
          </a:xfrm>
          <a:prstGeom prst="roundRect">
            <a:avLst>
              <a:gd name="adj" fmla="val 22727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2428875" y="5581650"/>
            <a:ext cx="7334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5D293B"/>
                </a:solidFill>
              </a:defRPr>
            </a:pPr>
            <a:r>
              <a:rPr sz="1875" b="1">
                <a:solidFill>
                  <a:srgbClr val="5D293B"/>
                </a:solidFill>
              </a:rPr>
              <a:t>LangChain  ·  基础层 / Agent Framework</a:t>
            </a:r>
            <a:endParaRPr sz="1875" b="1">
              <a:solidFill>
                <a:srgbClr val="5D293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714625" y="5934075"/>
            <a:ext cx="676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提供模型适配、Prompt、Tool、消息与链式调用等基础构件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首批场景聚焦两个高频动作：审批与日报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533525"/>
            <a:ext cx="5048250" cy="3190875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4288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8383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聊天发起审批</a:t>
            </a:r>
            <a:endParaRPr sz="210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276475"/>
            <a:ext cx="419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一句话表达需求，助手根据真实审批配置逐步引导</a:t>
            </a:r>
            <a:endParaRPr sz="1500" b="0">
              <a:solidFill>
                <a:srgbClr val="6E63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76325" y="3000375"/>
            <a:ext cx="3067050" cy="590550"/>
          </a:xfrm>
          <a:prstGeom prst="roundRect">
            <a:avLst>
              <a:gd name="adj" fmla="val 32258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285875" y="3143250"/>
            <a:ext cx="2647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076450" y="3781425"/>
            <a:ext cx="3295650" cy="590550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2286000" y="392430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请选择请假类型，并确认开始时间。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400800" y="1533525"/>
            <a:ext cx="5048250" cy="3190875"/>
          </a:xfrm>
          <a:prstGeom prst="roundRect">
            <a:avLst>
              <a:gd name="adj" fmla="val 7761"/>
            </a:avLst>
          </a:prstGeom>
          <a:solidFill>
            <a:srgbClr val="FFFFFF"/>
          </a:solidFill>
          <a:ln w="14288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6724650" y="183832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4364A"/>
                </a:solidFill>
              </a:defRPr>
            </a:pPr>
            <a:r>
              <a:rPr sz="2100" b="1">
                <a:solidFill>
                  <a:srgbClr val="74364A"/>
                </a:solidFill>
              </a:rPr>
              <a:t>聊天填写日报</a:t>
            </a:r>
            <a:endParaRPr sz="2100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724650" y="2276475"/>
            <a:ext cx="4191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E635E"/>
                </a:solidFill>
              </a:defRPr>
            </a:pPr>
            <a:r>
              <a:rPr sz="1500" b="0">
                <a:solidFill>
                  <a:srgbClr val="6E635E"/>
                </a:solidFill>
              </a:rPr>
              <a:t>用自然语言描述工作，助手加载 ERP 上下文并形成预览</a:t>
            </a:r>
            <a:endParaRPr sz="1500" b="0">
              <a:solidFill>
                <a:srgbClr val="6E635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724650" y="3000375"/>
            <a:ext cx="4067175" cy="647700"/>
          </a:xfrm>
          <a:prstGeom prst="roundRect">
            <a:avLst>
              <a:gd name="adj" fmla="val 29412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6" name="矩形 15"/>
          <p:cNvSpPr>
            <a:spLocks noGrp="1"/>
          </p:cNvSpPr>
          <p:nvPr/>
        </p:nvSpPr>
        <p:spPr>
          <a:xfrm>
            <a:off x="6934200" y="3143250"/>
            <a:ext cx="36480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677150" y="3848100"/>
            <a:ext cx="3333750" cy="55245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7886700" y="3990975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日报草稿已生成，确认后提交。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90575" y="5143500"/>
            <a:ext cx="809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282523"/>
                </a:solidFill>
              </a:defRPr>
            </a:pPr>
            <a:r>
              <a:rPr sz="1725" b="1">
                <a:solidFill>
                  <a:srgbClr val="282523"/>
                </a:solidFill>
              </a:rPr>
              <a:t>当前项目用四种方案验证不同业务复杂度下的 AI 编排方式</a:t>
            </a:r>
            <a:endParaRPr sz="1725" b="1">
              <a:solidFill>
                <a:srgbClr val="2825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90575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33450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显式流程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3562350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705225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标准日报</a:t>
            </a:r>
            <a:endParaRPr sz="1350" b="1">
              <a:solidFill>
                <a:srgbClr val="A66C6B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705225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稳定执行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334125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77000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自主日报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477000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Agent 决策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9105900" y="5676900"/>
            <a:ext cx="2505075" cy="666750"/>
          </a:xfrm>
          <a:prstGeom prst="roundRect">
            <a:avLst>
              <a:gd name="adj" fmla="val 24286"/>
            </a:avLst>
          </a:prstGeom>
          <a:solidFill>
            <a:srgbClr val="FFFFFF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248775" y="5772150"/>
            <a:ext cx="2219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Agentic Workflow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248775" y="6048375"/>
            <a:ext cx="22193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 + 闸门</a:t>
            </a:r>
            <a:endParaRPr sz="112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现场演示：用两条对话证明业务闭环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LIVE DEMO · 2–3 MIN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66850"/>
            <a:ext cx="5124450" cy="383857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752600"/>
            <a:ext cx="295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演示一：聊天请假</a:t>
            </a:r>
            <a:endParaRPr sz="195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09650" y="2352675"/>
            <a:ext cx="1285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  <a:endParaRPr sz="1425" b="1">
              <a:solidFill>
                <a:srgbClr val="6E635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009650" y="2676525"/>
            <a:ext cx="2190750" cy="533400"/>
          </a:xfrm>
          <a:prstGeom prst="roundRect">
            <a:avLst>
              <a:gd name="adj" fmla="val 35714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219200" y="281940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lang="zh-CN" altLang="en-US" sz="1425" b="1">
                <a:solidFill>
                  <a:srgbClr val="FFFFFF"/>
                </a:solidFill>
              </a:rPr>
              <a:t>请假</a:t>
            </a:r>
            <a:endParaRPr lang="zh-CN" altLang="en-US" sz="1425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09650" y="33909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继续补充：请假类型、开始时间、结束时间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09650" y="3914775"/>
            <a:ext cx="1285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E635E"/>
                </a:solidFill>
              </a:defRPr>
            </a:pPr>
            <a:endParaRPr sz="1425" b="1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09650" y="4276725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E7551"/>
                </a:solidFill>
              </a:defRPr>
            </a:pPr>
            <a:endParaRPr sz="1425" b="1">
              <a:solidFill>
                <a:srgbClr val="3E7551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09650" y="4895850"/>
            <a:ext cx="419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381750" y="1466850"/>
            <a:ext cx="5124450" cy="3838575"/>
          </a:xfrm>
          <a:prstGeom prst="roundRect">
            <a:avLst>
              <a:gd name="adj" fmla="val 6452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5" name="矩形 14"/>
          <p:cNvSpPr>
            <a:spLocks noGrp="1"/>
          </p:cNvSpPr>
          <p:nvPr/>
        </p:nvSpPr>
        <p:spPr>
          <a:xfrm>
            <a:off x="6705600" y="1752600"/>
            <a:ext cx="3190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演示二：聊天发日报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05600" y="2352675"/>
            <a:ext cx="1285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E635E"/>
                </a:solidFill>
              </a:defRPr>
            </a:pPr>
            <a:r>
              <a:rPr sz="1425" b="1">
                <a:solidFill>
                  <a:srgbClr val="6E635E"/>
                </a:solidFill>
              </a:rPr>
              <a:t>现场输入</a:t>
            </a:r>
            <a:endParaRPr sz="1425" b="1">
              <a:solidFill>
                <a:srgbClr val="6E63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705600" y="2676525"/>
            <a:ext cx="4208145" cy="1675130"/>
          </a:xfrm>
          <a:prstGeom prst="roundRect">
            <a:avLst>
              <a:gd name="adj" fmla="val 31250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8" name="矩形 17"/>
          <p:cNvSpPr>
            <a:spLocks noGrp="1"/>
          </p:cNvSpPr>
          <p:nvPr/>
        </p:nvSpPr>
        <p:spPr>
          <a:xfrm>
            <a:off x="6915150" y="2819400"/>
            <a:ext cx="37528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写今天日报：完成审批助手开发和接口联调</a:t>
            </a:r>
            <a:endParaRPr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endParaRPr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r>
              <a:rPr lang="zh-CN" altLang="en-US" sz="1425" b="1">
                <a:solidFill>
                  <a:srgbClr val="FFFFFF"/>
                </a:solidFill>
              </a:rPr>
              <a:t>自主</a:t>
            </a:r>
            <a:r>
              <a:rPr lang="en-US" altLang="zh-CN" sz="1425" b="1">
                <a:solidFill>
                  <a:srgbClr val="FFFFFF"/>
                </a:solidFill>
              </a:rPr>
              <a:t>agent</a:t>
            </a:r>
            <a:r>
              <a:rPr lang="zh-CN" altLang="en-US" sz="1425" b="1">
                <a:solidFill>
                  <a:srgbClr val="FFFFFF"/>
                </a:solidFill>
              </a:rPr>
              <a:t>写日报：今天完成审批助手开发2</a:t>
            </a:r>
            <a:endParaRPr lang="zh-CN" altLang="en-US"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endParaRPr lang="zh-CN" altLang="en-US"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r>
              <a:rPr lang="en-US" altLang="zh-CN" sz="1425" b="1">
                <a:solidFill>
                  <a:srgbClr val="FFFFFF"/>
                </a:solidFill>
              </a:rPr>
              <a:t>agentic workflow</a:t>
            </a:r>
            <a:r>
              <a:rPr lang="zh-CN" altLang="en-US" sz="1425" b="1">
                <a:solidFill>
                  <a:srgbClr val="FFFFFF"/>
                </a:solidFill>
              </a:rPr>
              <a:t>写日报：今天完成审批助手开发3</a:t>
            </a:r>
            <a:endParaRPr lang="zh-CN" altLang="en-US"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endParaRPr lang="zh-CN" altLang="en-US" sz="1425" b="1">
              <a:solidFill>
                <a:srgbClr val="FFFFFF"/>
              </a:solidFill>
            </a:endParaRPr>
          </a:p>
          <a:p>
            <a:pPr algn="l">
              <a:defRPr sz="1425" b="1">
                <a:solidFill>
                  <a:srgbClr val="FFFFFF"/>
                </a:solidFill>
              </a:defRPr>
            </a:pPr>
            <a:endParaRPr lang="zh-CN" altLang="en-US" sz="142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705600" y="3609975"/>
            <a:ext cx="12858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6E635E"/>
                </a:solidFill>
              </a:defRPr>
            </a:pPr>
            <a:endParaRPr sz="1425" b="1">
              <a:solidFill>
                <a:srgbClr val="6E635E"/>
              </a:solidFill>
            </a:endParaRPr>
          </a:p>
          <a:p>
            <a:pPr algn="l">
              <a:defRPr sz="1425" b="1">
                <a:solidFill>
                  <a:srgbClr val="6E635E"/>
                </a:solidFill>
              </a:defRPr>
            </a:pPr>
            <a:endParaRPr sz="1425" b="1">
              <a:solidFill>
                <a:srgbClr val="6E635E"/>
              </a:solidFill>
            </a:endParaRPr>
          </a:p>
          <a:p>
            <a:pPr algn="l">
              <a:defRPr sz="1425" b="1">
                <a:solidFill>
                  <a:srgbClr val="6E635E"/>
                </a:solidFill>
              </a:defRPr>
            </a:pPr>
            <a:endParaRPr sz="1425" b="1">
              <a:solidFill>
                <a:srgbClr val="6E635E"/>
              </a:solidFill>
            </a:endParaRPr>
          </a:p>
          <a:p>
            <a:pPr algn="l">
              <a:defRPr sz="1425" b="1">
                <a:solidFill>
                  <a:srgbClr val="6E635E"/>
                </a:solidFill>
              </a:defRPr>
            </a:pPr>
            <a:endParaRPr sz="1425" b="1">
              <a:solidFill>
                <a:srgbClr val="6E635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705600" y="3971925"/>
            <a:ext cx="4191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3E7551"/>
                </a:solidFill>
              </a:defRPr>
            </a:pPr>
            <a:endParaRPr sz="1425" b="1">
              <a:solidFill>
                <a:srgbClr val="3E755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705600" y="4591050"/>
            <a:ext cx="4191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71525" y="5676900"/>
            <a:ext cx="10658475" cy="542925"/>
          </a:xfrm>
          <a:prstGeom prst="roundRect">
            <a:avLst>
              <a:gd name="adj" fmla="val 26316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028700" y="5829300"/>
            <a:ext cx="1014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演示原则：先展示输入与结果，再解释背后的 Agent、Workflow 和 ERP Tool</a:t>
            </a:r>
            <a:endParaRPr sz="15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" name="矩形 54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核心对比：ERP 场景更看重可控执行与状态管理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09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1581150"/>
            <a:ext cx="20002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73355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维度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52412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61937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LangChain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9587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LangGraph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67625" y="1581150"/>
            <a:ext cx="2571750" cy="57150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62875" y="17335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Deep Agents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3875" y="21526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38175" y="23431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定位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2412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263842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基础开发框架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9587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21017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状态图运行时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21526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781925" y="23431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高级 Agent 套件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3875" y="2895600"/>
            <a:ext cx="2000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38175" y="308610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控制流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52412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263842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链式调用为主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09587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521017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显式状态图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667625" y="28956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781925" y="30861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自主规划 + 工具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23875" y="36385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38175" y="38290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持久化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52412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63842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需自行组合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09587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521017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原生支持检查点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667625" y="36385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7781925" y="38290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构建在 LangGraph 上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23875" y="4381500"/>
            <a:ext cx="2000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38175" y="457200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人工干预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2412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263842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需自行实现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09587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21017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interrupt / resume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7667625" y="4381500"/>
            <a:ext cx="2571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7781925" y="457200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支持危险工具中断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23875" y="5124450"/>
            <a:ext cx="20002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38175" y="5314950"/>
            <a:ext cx="1771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适合任务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52412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63842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简单问答、原型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09587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21017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74364A"/>
                </a:solidFill>
              </a:defRPr>
            </a:pPr>
            <a:r>
              <a:rPr sz="1275" b="1">
                <a:solidFill>
                  <a:srgbClr val="74364A"/>
                </a:solidFill>
              </a:rPr>
              <a:t>审批、业务流程</a:t>
            </a:r>
            <a:endParaRPr sz="1275" b="1">
              <a:solidFill>
                <a:srgbClr val="74364A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7667625" y="5124450"/>
            <a:ext cx="2571750" cy="742950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7781925" y="5314950"/>
            <a:ext cx="2343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BF7326"/>
                </a:solidFill>
              </a:defRPr>
            </a:pPr>
            <a:r>
              <a:rPr sz="1275" b="0">
                <a:solidFill>
                  <a:srgbClr val="BF7326"/>
                </a:solidFill>
              </a:rPr>
              <a:t>长任务、复杂研究</a:t>
            </a:r>
            <a:endParaRPr sz="1275" b="0">
              <a:solidFill>
                <a:srgbClr val="BF7326"/>
              </a:solidFill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781050" y="6019800"/>
            <a:ext cx="10629900" cy="400050"/>
          </a:xfrm>
          <a:prstGeom prst="roundRect">
            <a:avLst>
              <a:gd name="adj" fmla="val 28571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1038225" y="6115050"/>
            <a:ext cx="10115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对 ERP 审批和日报而言，状态可追踪、流程可暂停、写操作可拦截，比“代码更少”更重要</a:t>
            </a:r>
            <a:endParaRPr sz="13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最终选型：ERP 主流程采用 LangGraph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10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514475"/>
            <a:ext cx="5810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74364A"/>
                </a:solidFill>
              </a:defRPr>
            </a:pPr>
            <a:r>
              <a:rPr sz="1950" b="1">
                <a:solidFill>
                  <a:srgbClr val="74364A"/>
                </a:solidFill>
              </a:rPr>
              <a:t>为什么选择 LangGraph 作为主框架？</a:t>
            </a:r>
            <a:endParaRPr sz="1950" b="1">
              <a:solidFill>
                <a:srgbClr val="74364A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857250" y="21145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21717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750" y="215265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流程清晰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215265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审批、日报都需要明确的业务阶段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857250" y="28289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8860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28750" y="2867025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状态可控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2867025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支持多轮对话、暂停、恢复和人工确认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857250" y="35433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57250" y="36004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28750" y="358140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便于排查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3581400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可以观察节点路径、状态变化和失败位置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857250" y="425767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" y="4314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428750" y="4295775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适配 ERP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295775"/>
            <a:ext cx="3352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更容易承载动态字段、校验和提交闸门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7172325" y="1857375"/>
            <a:ext cx="4124325" cy="3324225"/>
          </a:xfrm>
          <a:prstGeom prst="roundRect">
            <a:avLst>
              <a:gd name="adj" fmla="val 7736"/>
            </a:avLst>
          </a:prstGeom>
          <a:solidFill>
            <a:srgbClr val="EAF3EC"/>
          </a:solidFill>
          <a:ln w="15240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3" name="矩形 22"/>
          <p:cNvSpPr>
            <a:spLocks noGrp="1"/>
          </p:cNvSpPr>
          <p:nvPr/>
        </p:nvSpPr>
        <p:spPr>
          <a:xfrm>
            <a:off x="7477125" y="21526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最终分工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86650" y="276225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LangChain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72550" y="2762250"/>
            <a:ext cx="2047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基础组件：模型、Prompt、Tool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86650" y="3400425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LangGraph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972550" y="3400425"/>
            <a:ext cx="2047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3E7551"/>
                </a:solidFill>
              </a:defRPr>
            </a:pPr>
            <a:r>
              <a:rPr sz="1275" b="1">
                <a:solidFill>
                  <a:srgbClr val="3E7551"/>
                </a:solidFill>
              </a:rPr>
              <a:t>主框架：ERP 流程、状态、人工确认</a:t>
            </a:r>
            <a:endParaRPr sz="1275" b="1">
              <a:solidFill>
                <a:srgbClr val="3E7551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486650" y="4114800"/>
            <a:ext cx="138112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Deep Agents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972550" y="4114800"/>
            <a:ext cx="204787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探索方向：自主规划、复杂任务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71525" y="5743575"/>
            <a:ext cx="10658475" cy="514350"/>
          </a:xfrm>
          <a:prstGeom prst="roundRect">
            <a:avLst>
              <a:gd name="adj" fmla="val 27778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66800" y="5876925"/>
            <a:ext cx="1004887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结论：不是放弃 Agent，而是先用 LangGraph 把 ERP 业务底座做稳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聊天发起审批：用户只描述需求，助手完成流程引导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11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14859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用户体验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19150" y="2057400"/>
            <a:ext cx="3619500" cy="609600"/>
          </a:xfrm>
          <a:prstGeom prst="roundRect">
            <a:avLst>
              <a:gd name="adj" fmla="val 31250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2200275"/>
            <a:ext cx="320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657350" y="2895600"/>
            <a:ext cx="2895600" cy="552450"/>
          </a:xfrm>
          <a:prstGeom prst="roundRect">
            <a:avLst>
              <a:gd name="adj" fmla="val 3448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9" name="矩形 8"/>
          <p:cNvSpPr>
            <a:spLocks noGrp="1"/>
          </p:cNvSpPr>
          <p:nvPr/>
        </p:nvSpPr>
        <p:spPr>
          <a:xfrm>
            <a:off x="1866900" y="30384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请选择请假类型。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19150" y="3695700"/>
            <a:ext cx="1771650" cy="533400"/>
          </a:xfrm>
          <a:prstGeom prst="roundRect">
            <a:avLst>
              <a:gd name="adj" fmla="val 35714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3838575"/>
            <a:ext cx="1352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调休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571625" y="4457700"/>
            <a:ext cx="3333750" cy="628650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3" name="矩形 12"/>
          <p:cNvSpPr>
            <a:spLocks noGrp="1"/>
          </p:cNvSpPr>
          <p:nvPr/>
        </p:nvSpPr>
        <p:spPr>
          <a:xfrm>
            <a:off x="1781175" y="4600575"/>
            <a:ext cx="2914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审批预览已生成，确认后提交。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886450" y="1485900"/>
            <a:ext cx="3810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助手完成的四件事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905500" y="20955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905500" y="21526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57950" y="208597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识别审批模板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457950" y="239077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结合用户身份和当前公司配置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5905500" y="29527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905500" y="30099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457950" y="294322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动态补充信息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57950" y="324802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按实际表单追问日期、时长、原因等字段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5905500" y="381000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905500" y="386715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457950" y="380047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应用 ERP 流程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457950" y="410527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校验字段，并获取真实审批节点与办理人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5905500" y="4667250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905500" y="4724400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457950" y="4657725"/>
            <a:ext cx="430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预览后提交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457950" y="4962525"/>
            <a:ext cx="4305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用户明确确认，才执行最终写入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762000" y="5724525"/>
            <a:ext cx="10620375" cy="533400"/>
          </a:xfrm>
          <a:prstGeom prst="roundRect">
            <a:avLst>
              <a:gd name="adj" fmla="val 26786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057275" y="5867400"/>
            <a:ext cx="10029825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5D293B"/>
                </a:solidFill>
              </a:defRPr>
            </a:pPr>
            <a:r>
              <a:rPr sz="1650" b="1">
                <a:solidFill>
                  <a:srgbClr val="5D293B"/>
                </a:solidFill>
              </a:rPr>
              <a:t>核心价值：用户不必先理解 ERP 表单，系统仍然遵守原有审批规则</a:t>
            </a:r>
            <a:endParaRPr sz="16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审批最难的不是聊天，而是适配动态配置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81050" y="1504950"/>
            <a:ext cx="6667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82523"/>
                </a:solidFill>
              </a:defRPr>
            </a:pPr>
            <a:r>
              <a:rPr sz="1950" b="1">
                <a:solidFill>
                  <a:srgbClr val="282523"/>
                </a:solidFill>
              </a:rPr>
              <a:t>同一个“请假”，不同公司可能完全不同</a:t>
            </a:r>
            <a:endParaRPr sz="1950" b="1">
              <a:solidFill>
                <a:srgbClr val="282523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2085975"/>
            <a:ext cx="4286250" cy="2667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4288">
            <a:solidFill>
              <a:srgbClr val="3E7551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333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公司 A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104900" y="293370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23975" y="285750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请假类型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33623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328612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开始 / 结束时间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37909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371475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请假事由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2195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414337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审批人自动匹配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7124700" y="2085975"/>
            <a:ext cx="4286250" cy="26670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410450" y="2333625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公司 B</a:t>
            </a:r>
            <a:endParaRPr sz="1875" b="1">
              <a:solidFill>
                <a:srgbClr val="BF7326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7448550" y="29337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667625" y="285750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假期余额规则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448550" y="33623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667625" y="328612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日期时间 + 时长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7448550" y="37909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667625" y="3714750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交接人员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7448550" y="42195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67625" y="4143375"/>
            <a:ext cx="33051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发起人选择审批人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6" name="右箭头 25"/>
          <p:cNvSpPr>
            <a:spLocks noGrp="1"/>
          </p:cNvSpPr>
          <p:nvPr/>
        </p:nvSpPr>
        <p:spPr>
          <a:xfrm>
            <a:off x="5429250" y="3133725"/>
            <a:ext cx="1333500" cy="419100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467350" y="36385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A66C6B"/>
                </a:solidFill>
              </a:defRPr>
            </a:pPr>
            <a:r>
              <a:rPr sz="1350" b="1">
                <a:solidFill>
                  <a:srgbClr val="A66C6B"/>
                </a:solidFill>
              </a:rPr>
              <a:t>不能写死</a:t>
            </a:r>
            <a:endParaRPr sz="1350" b="1">
              <a:solidFill>
                <a:srgbClr val="A66C6B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781050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62025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ERP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971675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定义模板、字段和审批流程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352925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E9DCC9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4533900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AI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543550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理解用户表达并提取信息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924800" y="5238750"/>
            <a:ext cx="3257550" cy="8572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105775" y="541020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74364A"/>
                </a:solidFill>
              </a:defRPr>
            </a:pPr>
            <a:r>
              <a:rPr sz="1425" b="1">
                <a:solidFill>
                  <a:srgbClr val="74364A"/>
                </a:solidFill>
              </a:rPr>
              <a:t>聊天助手</a:t>
            </a:r>
            <a:endParaRPr sz="1425" b="1">
              <a:solidFill>
                <a:srgbClr val="74364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115425" y="5400675"/>
            <a:ext cx="1857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动态追问、校验、预览</a:t>
            </a:r>
            <a:endParaRPr sz="127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标准日报助手：固定流程优先保证稳定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04850" y="1504950"/>
            <a:ext cx="4048125" cy="3905250"/>
          </a:xfrm>
          <a:prstGeom prst="roundRect">
            <a:avLst>
              <a:gd name="adj" fmla="val 6341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790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典型对话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28700" y="2343150"/>
            <a:ext cx="3276600" cy="857250"/>
          </a:xfrm>
          <a:prstGeom prst="roundRect">
            <a:avLst>
              <a:gd name="adj" fmla="val 22222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486025"/>
            <a:ext cx="28575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帮我写今天日报：完成客户拜访和报价整理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466850" y="3467100"/>
            <a:ext cx="2933700" cy="5715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0" name="矩形 9"/>
          <p:cNvSpPr>
            <a:spLocks noGrp="1"/>
          </p:cNvSpPr>
          <p:nvPr/>
        </p:nvSpPr>
        <p:spPr>
          <a:xfrm>
            <a:off x="1676400" y="3609975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已加载今天的日报配置和草稿。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1466850" y="4286250"/>
            <a:ext cx="2933700" cy="5715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1676400" y="4429125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预览已生成，请确认提交。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486400" y="1504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稳定执行链路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5562600" y="20288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62600" y="20859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15050" y="20097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加载上下文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029575" y="20288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字段、配置、草稿、同步数据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8" name="椭圆 17"/>
          <p:cNvSpPr>
            <a:spLocks noGrp="1"/>
          </p:cNvSpPr>
          <p:nvPr/>
        </p:nvSpPr>
        <p:spPr>
          <a:xfrm>
            <a:off x="5562600" y="277177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562600" y="28289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15050" y="275272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补充内容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29575" y="27717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日期与工作内容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2" name="椭圆 21"/>
          <p:cNvSpPr>
            <a:spLocks noGrp="1"/>
          </p:cNvSpPr>
          <p:nvPr/>
        </p:nvSpPr>
        <p:spPr>
          <a:xfrm>
            <a:off x="5562600" y="351472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562600" y="35718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115050" y="34956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保存草稿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029575" y="35147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保留 ERP 原始业务字段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5562600" y="4257675"/>
            <a:ext cx="400050" cy="4000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5562600" y="431482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15050" y="423862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282523"/>
                </a:solidFill>
              </a:defRPr>
            </a:pPr>
            <a:r>
              <a:rPr sz="1500" b="1">
                <a:solidFill>
                  <a:srgbClr val="282523"/>
                </a:solidFill>
              </a:rPr>
              <a:t>生成预览</a:t>
            </a:r>
            <a:endParaRPr sz="1500" b="1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29575" y="425767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展示接收人、抄送人和自定义字段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5562600" y="5000625"/>
            <a:ext cx="400050" cy="4000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5562600" y="5057775"/>
            <a:ext cx="400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115050" y="4981575"/>
            <a:ext cx="2000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确认提交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29575" y="5000625"/>
            <a:ext cx="3333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明确确认后才写入 ERP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04850" y="5724525"/>
            <a:ext cx="10706100" cy="533400"/>
          </a:xfrm>
          <a:prstGeom prst="roundRect">
            <a:avLst>
              <a:gd name="adj" fmla="val 26786"/>
            </a:avLst>
          </a:prstGeom>
          <a:solidFill>
            <a:srgbClr val="EAF3EC"/>
          </a:solidFill>
          <a:ln w="10478">
            <a:solidFill>
              <a:srgbClr val="3E7551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19175" y="5867400"/>
            <a:ext cx="1007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适合步骤明确、提交风险较高、需要持续恢复的业务流程</a:t>
            </a:r>
            <a:endParaRPr sz="1650" b="1">
              <a:solidFill>
                <a:srgbClr val="3E755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自主日报助手：让 Agent 决定下一步做什么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CREATE AGENT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581150"/>
            <a:ext cx="4305300" cy="3648075"/>
          </a:xfrm>
          <a:prstGeom prst="roundRect">
            <a:avLst>
              <a:gd name="adj" fmla="val 7311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1885950"/>
            <a:ext cx="3619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输入不再要求固定格式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2543175"/>
            <a:ext cx="3429000" cy="628650"/>
          </a:xfrm>
          <a:prstGeom prst="roundRect">
            <a:avLst>
              <a:gd name="adj" fmla="val 3030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76350" y="2686050"/>
            <a:ext cx="300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把今天的客户跟进整理成日报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358140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Agent 自主判断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104900" y="400050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323975" y="392430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先确认日期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323975" y="4276725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需要加载哪些 ERP 数据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104900" y="47053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323975" y="4629150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是否继续追问内容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1104900" y="50577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323975" y="4981575"/>
            <a:ext cx="31146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何时生成预览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8" name="右箭头 17"/>
          <p:cNvSpPr>
            <a:spLocks noGrp="1"/>
          </p:cNvSpPr>
          <p:nvPr/>
        </p:nvSpPr>
        <p:spPr>
          <a:xfrm>
            <a:off x="5324475" y="3057525"/>
            <a:ext cx="704850" cy="400050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29350" y="1581150"/>
            <a:ext cx="5219700" cy="3648075"/>
          </a:xfrm>
          <a:prstGeom prst="roundRect">
            <a:avLst>
              <a:gd name="adj" fmla="val 7311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0" name="矩形 19"/>
          <p:cNvSpPr>
            <a:spLocks noGrp="1"/>
          </p:cNvSpPr>
          <p:nvPr/>
        </p:nvSpPr>
        <p:spPr>
          <a:xfrm>
            <a:off x="6591300" y="1885950"/>
            <a:ext cx="1714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能力提升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64845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867525" y="244792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适应更自然、更开放的用户表达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648450" y="31051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867525" y="3028950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减少固定流程中的人工分支设计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648450" y="36861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67525" y="3609975"/>
            <a:ext cx="399097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可按上下文自主调用日报工具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91300" y="40957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B44842"/>
                </a:solidFill>
              </a:defRPr>
            </a:pPr>
            <a:r>
              <a:rPr sz="1725" b="1">
                <a:solidFill>
                  <a:srgbClr val="B44842"/>
                </a:solidFill>
              </a:rPr>
              <a:t>仍需保留的边界</a:t>
            </a:r>
            <a:endParaRPr sz="1725" b="1">
              <a:solidFill>
                <a:srgbClr val="B44842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38925" y="4533900"/>
            <a:ext cx="421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B44842"/>
                </a:solidFill>
              </a:defRPr>
            </a:pPr>
            <a:r>
              <a:rPr sz="1425" b="1">
                <a:solidFill>
                  <a:srgbClr val="B44842"/>
                </a:solidFill>
              </a:rPr>
              <a:t>不允许编造内容 · 不允许跳过预览 · 不允许自动提交</a:t>
            </a:r>
            <a:endParaRPr sz="1425" b="1">
              <a:solidFill>
                <a:srgbClr val="B44842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52475" y="5715000"/>
            <a:ext cx="10629900" cy="542925"/>
          </a:xfrm>
          <a:prstGeom prst="roundRect">
            <a:avLst>
              <a:gd name="adj" fmla="val 26316"/>
            </a:avLst>
          </a:prstGeom>
          <a:solidFill>
            <a:srgbClr val="E9DCC9"/>
          </a:solidFill>
          <a:ln w="0">
            <a:solidFill>
              <a:srgbClr val="E9DCC9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047750" y="5857875"/>
            <a:ext cx="100393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5D293B"/>
                </a:solidFill>
              </a:defRPr>
            </a:pPr>
            <a:r>
              <a:rPr sz="1575" b="1">
                <a:solidFill>
                  <a:srgbClr val="5D293B"/>
                </a:solidFill>
              </a:rPr>
              <a:t>适合作为能力探索：灵活性更高，但执行顺序与异常恢复更依赖约束</a:t>
            </a:r>
            <a:endParaRPr sz="1575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Agentic Workflow：把自主规划与流程闸门组合起来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15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150495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BF7326"/>
                </a:solidFill>
              </a:defRPr>
            </a:pPr>
            <a:r>
              <a:rPr sz="1875" b="1">
                <a:solidFill>
                  <a:srgbClr val="BF7326"/>
                </a:solidFill>
              </a:rPr>
              <a:t>Agent 负责开放性工作</a:t>
            </a:r>
            <a:endParaRPr sz="1875" b="1">
              <a:solidFill>
                <a:srgbClr val="BF7326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0" y="1504950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3E7551"/>
                </a:solidFill>
              </a:defRPr>
            </a:pPr>
            <a:r>
              <a:rPr sz="1875" b="1">
                <a:solidFill>
                  <a:srgbClr val="3E7551"/>
                </a:solidFill>
              </a:rPr>
              <a:t>Workflow 负责确定性边界</a:t>
            </a:r>
            <a:endParaRPr sz="1875" b="1">
              <a:solidFill>
                <a:srgbClr val="3E755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876300" y="2152650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123950" y="227647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理解目标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33625" y="228600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识别用户要写什么日报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876300" y="3209925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123950" y="333375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制定计划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333625" y="3343275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明确需要哪些上下文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876300" y="4267200"/>
            <a:ext cx="4171950" cy="781050"/>
          </a:xfrm>
          <a:prstGeom prst="roundRect">
            <a:avLst>
              <a:gd name="adj" fmla="val 23171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123950" y="439102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整理内容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33625" y="44005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结合用户输入生成正文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6" name="右箭头 15"/>
          <p:cNvSpPr>
            <a:spLocks noGrp="1"/>
          </p:cNvSpPr>
          <p:nvPr/>
        </p:nvSpPr>
        <p:spPr>
          <a:xfrm>
            <a:off x="5457825" y="3209925"/>
            <a:ext cx="1047750" cy="428625"/>
          </a:xfrm>
          <a:prstGeom prst="rightArrow">
            <a:avLst/>
          </a:prstGeom>
          <a:solidFill>
            <a:srgbClr val="A66C6B"/>
          </a:solidFill>
          <a:ln w="0">
            <a:solidFill>
              <a:srgbClr val="A66C6B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400675" y="3714750"/>
            <a:ext cx="1143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A66C6B"/>
                </a:solidFill>
              </a:defRPr>
            </a:pPr>
            <a:r>
              <a:rPr sz="1275" b="1">
                <a:solidFill>
                  <a:srgbClr val="A66C6B"/>
                </a:solidFill>
              </a:rPr>
              <a:t>建议下一步</a:t>
            </a:r>
            <a:endParaRPr sz="1275" b="1">
              <a:solidFill>
                <a:srgbClr val="A66C6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162800" y="2057400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00925" y="2152650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保存草稿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667750" y="217170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由流程执行写入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162800" y="2924175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00925" y="3019425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生成预览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67750" y="303847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展示完整业务信息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7162800" y="3790950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00925" y="3886200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人工确认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667750" y="390525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暂停等待用户动作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162800" y="4657725"/>
            <a:ext cx="4171950" cy="647700"/>
          </a:xfrm>
          <a:prstGeom prst="roundRect">
            <a:avLst>
              <a:gd name="adj" fmla="val 26471"/>
            </a:avLst>
          </a:prstGeom>
          <a:solidFill>
            <a:srgbClr val="3E7551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00925" y="4752975"/>
            <a:ext cx="1200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提交闸门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4772025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F0E8"/>
                </a:solidFill>
              </a:defRPr>
            </a:pPr>
            <a:r>
              <a:rPr sz="1275" b="0">
                <a:solidFill>
                  <a:srgbClr val="E5F0E8"/>
                </a:solidFill>
              </a:rPr>
              <a:t>确认后才允许执行</a:t>
            </a:r>
            <a:endParaRPr sz="1275" b="0">
              <a:solidFill>
                <a:srgbClr val="E5F0E8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895350" y="5819775"/>
            <a:ext cx="10429875" cy="457200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1430">
            <a:solidFill>
              <a:srgbClr val="A66C6B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200150" y="5934075"/>
            <a:ext cx="98202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核心思路：让 Agent 提供灵活性，让 Workflow 保证业务安全</a:t>
            </a:r>
            <a:endParaRPr sz="1650" b="1">
              <a:solidFill>
                <a:srgbClr val="74364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7" name="矩形 5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四种方案不是替代关系，而是按任务选择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16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23875" y="1590675"/>
            <a:ext cx="1857375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19125" y="1752600"/>
            <a:ext cx="1666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方案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81250" y="1590675"/>
            <a:ext cx="2714625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476500" y="1752600"/>
            <a:ext cx="2524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适合场景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095875" y="1590675"/>
            <a:ext cx="1714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5191125" y="1752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可控性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10375" y="1590675"/>
            <a:ext cx="1714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905625" y="17526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灵活性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524875" y="1590675"/>
            <a:ext cx="2476500" cy="590550"/>
          </a:xfrm>
          <a:prstGeom prst="rect">
            <a:avLst/>
          </a:prstGeom>
          <a:solidFill>
            <a:srgbClr val="74364A"/>
          </a:solidFill>
          <a:ln w="9525">
            <a:solidFill>
              <a:srgbClr val="F6F1E8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620125" y="17526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当前定位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23875" y="2181225"/>
            <a:ext cx="185737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8175" y="2409825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审批助手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381250" y="2181225"/>
            <a:ext cx="271462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2495550" y="2409825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动态审批、真实提交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95875" y="218122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210175" y="240982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810375" y="218122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924675" y="240982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24875" y="2181225"/>
            <a:ext cx="2476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639175" y="2409825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23875" y="3048000"/>
            <a:ext cx="18573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38175" y="3276600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标准日报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2381250" y="3048000"/>
            <a:ext cx="271462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2495550" y="3276600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步骤明确、风险较高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095875" y="304800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210175" y="327660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810375" y="304800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924675" y="327660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中低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524875" y="3048000"/>
            <a:ext cx="2476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639175" y="3276600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3E7551"/>
                </a:solidFill>
              </a:defRPr>
            </a:pPr>
            <a:r>
              <a:rPr sz="1350" b="1">
                <a:solidFill>
                  <a:srgbClr val="3E7551"/>
                </a:solidFill>
              </a:rPr>
              <a:t>生产落地</a:t>
            </a:r>
            <a:endParaRPr sz="1350" b="1">
              <a:solidFill>
                <a:srgbClr val="3E7551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23875" y="3914775"/>
            <a:ext cx="185737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638175" y="4143375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自主日报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2381250" y="3914775"/>
            <a:ext cx="2714625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495550" y="4143375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输入开放、路径不固定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5095875" y="391477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5210175" y="414337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中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810375" y="3914775"/>
            <a:ext cx="1714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924675" y="4143375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524875" y="3914775"/>
            <a:ext cx="2476500" cy="866775"/>
          </a:xfrm>
          <a:prstGeom prst="rect">
            <a:avLst/>
          </a:prstGeom>
          <a:solidFill>
            <a:srgbClr val="FCFAF6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8639175" y="4143375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能力探索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23875" y="4781550"/>
            <a:ext cx="18573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38175" y="5010150"/>
            <a:ext cx="16287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Agentic Workflow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381250" y="4781550"/>
            <a:ext cx="271462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2495550" y="5010150"/>
            <a:ext cx="24860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复杂任务、需要安全闸门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5095875" y="478155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5210175" y="501015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810375" y="4781550"/>
            <a:ext cx="1714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6924675" y="5010150"/>
            <a:ext cx="1485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282523"/>
                </a:solidFill>
              </a:defRPr>
            </a:pPr>
            <a:r>
              <a:rPr sz="1350" b="0">
                <a:solidFill>
                  <a:srgbClr val="282523"/>
                </a:solidFill>
              </a:rPr>
              <a:t>高</a:t>
            </a:r>
            <a:endParaRPr sz="1350" b="0">
              <a:solidFill>
                <a:srgbClr val="282523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524875" y="4781550"/>
            <a:ext cx="247650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C9B7AE"/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639175" y="5010150"/>
            <a:ext cx="2247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BF7326"/>
                </a:solidFill>
              </a:defRPr>
            </a:pPr>
            <a:r>
              <a:rPr sz="1350" b="1">
                <a:solidFill>
                  <a:srgbClr val="BF7326"/>
                </a:solidFill>
              </a:rPr>
              <a:t>演进方向</a:t>
            </a:r>
            <a:endParaRPr sz="1350" b="1">
              <a:solidFill>
                <a:srgbClr val="BF7326"/>
              </a:solidFill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71525" y="5962650"/>
            <a:ext cx="1238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选择原则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943100" y="5943600"/>
            <a:ext cx="91916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越接近写入和审批，越需要显式流程；越偏理解、规划与生成，越适合 Agent</a:t>
            </a:r>
            <a:endParaRPr sz="1500" b="0">
              <a:solidFill>
                <a:srgbClr val="28252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预期效果：聊天请假、聊天发日报，并且过程可控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04850" y="1533525"/>
            <a:ext cx="5210175" cy="337185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" name="矩形 5"/>
          <p:cNvSpPr>
            <a:spLocks noGrp="1"/>
          </p:cNvSpPr>
          <p:nvPr/>
        </p:nvSpPr>
        <p:spPr>
          <a:xfrm>
            <a:off x="1009650" y="18097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3E7551"/>
                </a:solidFill>
              </a:defRPr>
            </a:pPr>
            <a:r>
              <a:rPr sz="2025" b="1">
                <a:solidFill>
                  <a:srgbClr val="3E7551"/>
                </a:solidFill>
              </a:rPr>
              <a:t>聊天请假</a:t>
            </a:r>
            <a:endParaRPr sz="2025" b="1">
              <a:solidFill>
                <a:srgbClr val="3E7551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19175" y="2400300"/>
            <a:ext cx="3143250" cy="552450"/>
          </a:xfrm>
          <a:prstGeom prst="roundRect">
            <a:avLst>
              <a:gd name="adj" fmla="val 3448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1228725" y="2543175"/>
            <a:ext cx="2724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我明天下午请假 2 小时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19175" y="3248025"/>
            <a:ext cx="4400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识别模板 → 补充类型和时间 → 校验 → 预览 → 确认提交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19175" y="4086225"/>
            <a:ext cx="4400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结果：用户无需寻找请假入口，也不必理解所有表单字段。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296025" y="1533525"/>
            <a:ext cx="5210175" cy="337185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2" name="矩形 11"/>
          <p:cNvSpPr>
            <a:spLocks noGrp="1"/>
          </p:cNvSpPr>
          <p:nvPr/>
        </p:nvSpPr>
        <p:spPr>
          <a:xfrm>
            <a:off x="6600825" y="180975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BF7326"/>
                </a:solidFill>
              </a:defRPr>
            </a:pPr>
            <a:r>
              <a:rPr sz="2025" b="1">
                <a:solidFill>
                  <a:srgbClr val="BF7326"/>
                </a:solidFill>
              </a:rPr>
              <a:t>聊天发日报</a:t>
            </a:r>
            <a:endParaRPr sz="2025" b="1">
              <a:solidFill>
                <a:srgbClr val="BF7326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10350" y="2400300"/>
            <a:ext cx="3743325" cy="552450"/>
          </a:xfrm>
          <a:prstGeom prst="roundRect">
            <a:avLst>
              <a:gd name="adj" fmla="val 34483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4" name="矩形 13"/>
          <p:cNvSpPr>
            <a:spLocks noGrp="1"/>
          </p:cNvSpPr>
          <p:nvPr/>
        </p:nvSpPr>
        <p:spPr>
          <a:xfrm>
            <a:off x="6819900" y="2543175"/>
            <a:ext cx="3324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整理今天客户跟进情况，生成日报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10350" y="3248025"/>
            <a:ext cx="44005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282523"/>
                </a:solidFill>
              </a:defRPr>
            </a:pPr>
            <a:r>
              <a:rPr sz="1575" b="1">
                <a:solidFill>
                  <a:srgbClr val="282523"/>
                </a:solidFill>
              </a:rPr>
              <a:t>加载 ERP 上下文 → 整理内容 → 保存草稿 → 预览 → 确认提交</a:t>
            </a:r>
            <a:endParaRPr sz="1575" b="1">
              <a:solidFill>
                <a:srgbClr val="282523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10350" y="4086225"/>
            <a:ext cx="44005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E635E"/>
                </a:solidFill>
              </a:defRPr>
            </a:pPr>
            <a:r>
              <a:rPr sz="1350" b="0">
                <a:solidFill>
                  <a:srgbClr val="6E635E"/>
                </a:solidFill>
              </a:rPr>
              <a:t>结果：减少重复整理，同时保留接收人、自定义字段等业务信息。</a:t>
            </a:r>
            <a:endParaRPr sz="1350" b="0">
              <a:solidFill>
                <a:srgbClr val="6E63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04850" y="533400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E9DCC9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19150" y="54292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个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47825" y="548640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核心业务场景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9150" y="583882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 + 日报</a:t>
            </a:r>
            <a:endParaRPr sz="1050" b="0">
              <a:solidFill>
                <a:srgbClr val="6E635E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3409950" y="533400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FCFAF6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3524250" y="54292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4 种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352925" y="548640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工作流方案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524250" y="583882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流程与 Agent 对比</a:t>
            </a:r>
            <a:endParaRPr sz="1050" b="0">
              <a:solidFill>
                <a:srgbClr val="6E635E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115050" y="533400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E9DCC9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229350" y="54292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2 类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58025" y="548640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写入确认闸门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229350" y="583882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审批提交 + 日报提交</a:t>
            </a:r>
            <a:endParaRPr sz="1050" b="0">
              <a:solidFill>
                <a:srgbClr val="6E635E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8820150" y="5334000"/>
            <a:ext cx="2466975" cy="866775"/>
          </a:xfrm>
          <a:prstGeom prst="roundRect">
            <a:avLst>
              <a:gd name="adj" fmla="val 18681"/>
            </a:avLst>
          </a:prstGeom>
          <a:solidFill>
            <a:srgbClr val="FCFAF6"/>
          </a:solidFill>
          <a:ln w="10478">
            <a:solidFill>
              <a:srgbClr val="C9B7A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934450" y="54292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8 项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763125" y="5486400"/>
            <a:ext cx="13620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后续量化指标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934450" y="5838825"/>
            <a:ext cx="2238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6E635E"/>
                </a:solidFill>
              </a:defRPr>
            </a:pPr>
            <a:r>
              <a:rPr sz="1050" b="0">
                <a:solidFill>
                  <a:srgbClr val="6E635E"/>
                </a:solidFill>
              </a:rPr>
              <a:t>准确率、轮次、成功率、耗时</a:t>
            </a:r>
            <a:endParaRPr sz="105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矩形 30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遇到的问题：动态配置与流程状态叠加后迅速变复杂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429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810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74364A"/>
                </a:solidFill>
              </a:defRPr>
            </a:pPr>
            <a:r>
              <a:rPr sz="3150" b="1">
                <a:solidFill>
                  <a:srgbClr val="74364A"/>
                </a:solidFill>
              </a:rPr>
              <a:t>40</a:t>
            </a:r>
            <a:endParaRPr sz="3150" b="1">
              <a:solidFill>
                <a:srgbClr val="74364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933575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注册节点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顶层 9 + 审批 14 + 标准日报 10 + Agentic 7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624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6005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B44842"/>
                </a:solidFill>
              </a:defRPr>
            </a:pPr>
            <a:r>
              <a:rPr sz="3150" b="1">
                <a:solidFill>
                  <a:srgbClr val="B44842"/>
                </a:solidFill>
              </a:rPr>
              <a:t>9</a:t>
            </a:r>
            <a:endParaRPr sz="3150" b="1">
              <a:solidFill>
                <a:srgbClr val="B44842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553075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审批复核路由</a:t>
            </a:r>
            <a:endParaRPr sz="1650" b="1">
              <a:solidFill>
                <a:srgbClr val="B44842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6005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decision_review 需要处理 9 类分支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981950" y="1571625"/>
            <a:ext cx="3324225" cy="1362075"/>
          </a:xfrm>
          <a:prstGeom prst="roundRect">
            <a:avLst>
              <a:gd name="adj" fmla="val 15385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220075" y="1724025"/>
            <a:ext cx="847725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BF7326"/>
                </a:solidFill>
              </a:defRPr>
            </a:pPr>
            <a:r>
              <a:rPr sz="3150" b="1">
                <a:solidFill>
                  <a:srgbClr val="BF7326"/>
                </a:solidFill>
              </a:rPr>
              <a:t>7</a:t>
            </a:r>
            <a:endParaRPr sz="3150" b="1">
              <a:solidFill>
                <a:srgbClr val="BF732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72575" y="1809750"/>
            <a:ext cx="18573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日报恢复路线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220075" y="2352675"/>
            <a:ext cx="2847975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interrupt_daily_report resume 后有 7 类去向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" y="32480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EAF3EC"/>
          </a:solidFill>
          <a:ln w="11430">
            <a:solidFill>
              <a:srgbClr val="3E7551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81075" y="3409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E7551"/>
                </a:solidFill>
              </a:defRPr>
            </a:pPr>
            <a:r>
              <a:rPr sz="1575" b="1">
                <a:solidFill>
                  <a:srgbClr val="3E7551"/>
                </a:solidFill>
              </a:rPr>
              <a:t>审批组件太多</a:t>
            </a:r>
            <a:endParaRPr sz="1575" b="1">
              <a:solidFill>
                <a:srgbClr val="3E7551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819400" y="34099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字段、选项和审批规则都可能按公司动态配置。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76975" y="32480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9E9E7"/>
          </a:solidFill>
          <a:ln w="11430">
            <a:solidFill>
              <a:srgbClr val="B44842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515100" y="34099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44842"/>
                </a:solidFill>
              </a:defRPr>
            </a:pPr>
            <a:r>
              <a:rPr sz="1575" b="1">
                <a:solidFill>
                  <a:srgbClr val="B44842"/>
                </a:solidFill>
              </a:rPr>
              <a:t>if-else 持续增长</a:t>
            </a:r>
            <a:endParaRPr sz="1575" b="1">
              <a:solidFill>
                <a:srgbClr val="B44842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353425" y="34099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新建、继续、修改、取消、确认与字段缺失都要分流。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42950" y="45815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FF1DF"/>
          </a:solidFill>
          <a:ln w="1143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81075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BF7326"/>
                </a:solidFill>
              </a:defRPr>
            </a:pPr>
            <a:r>
              <a:rPr sz="1575" b="1">
                <a:solidFill>
                  <a:srgbClr val="BF7326"/>
                </a:solidFill>
              </a:rPr>
              <a:t>状态相互影响</a:t>
            </a:r>
            <a:endParaRPr sz="1575" b="1">
              <a:solidFill>
                <a:srgbClr val="BF7326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19400" y="47434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多轮对话、人工中断、恢复和重复提交需要协同。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276975" y="4581525"/>
            <a:ext cx="5172075" cy="1066800"/>
          </a:xfrm>
          <a:prstGeom prst="roundRect">
            <a:avLst>
              <a:gd name="adj" fmla="val 17857"/>
            </a:avLst>
          </a:prstGeom>
          <a:solidFill>
            <a:srgbClr val="F3E8E5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15100" y="47434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故障定位困难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353425" y="4743450"/>
            <a:ext cx="2819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282523"/>
                </a:solidFill>
              </a:defRPr>
            </a:pPr>
            <a:r>
              <a:rPr sz="1200" b="0">
                <a:solidFill>
                  <a:srgbClr val="282523"/>
                </a:solidFill>
              </a:rPr>
              <a:t>需要区分模型、路由、状态恢复与 ERP 接口问题。</a:t>
            </a:r>
            <a:endParaRPr sz="1200" b="0">
              <a:solidFill>
                <a:srgbClr val="28252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62000" y="6000750"/>
            <a:ext cx="10668000" cy="419100"/>
          </a:xfrm>
          <a:prstGeom prst="roundRect">
            <a:avLst>
              <a:gd name="adj" fmla="val 27273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90600" y="6105525"/>
            <a:ext cx="1021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根本原因：动态配置 × 多轮对话 × 状态流转 × ERP 写入风险同时叠加</a:t>
            </a:r>
            <a:endParaRPr sz="15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问题排查：需要从“看结果”升级为“看完整链路”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19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71525" y="15049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74364A"/>
                </a:solidFill>
              </a:defRPr>
            </a:pPr>
            <a:r>
              <a:rPr sz="1875" b="1">
                <a:solidFill>
                  <a:srgbClr val="74364A"/>
                </a:solidFill>
              </a:rPr>
              <a:t>一次请求可能同时经过四类环节</a:t>
            </a:r>
            <a:endParaRPr sz="1875" b="1">
              <a:solidFill>
                <a:srgbClr val="74364A"/>
              </a:solidFill>
            </a:endParaRPr>
          </a:p>
        </p:txBody>
      </p:sp>
      <p:sp>
        <p:nvSpPr>
          <p:cNvPr id="6" name="右箭头 5"/>
          <p:cNvSpPr>
            <a:spLocks noGrp="1"/>
          </p:cNvSpPr>
          <p:nvPr/>
        </p:nvSpPr>
        <p:spPr>
          <a:xfrm>
            <a:off x="2790825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7" name="右箭头 6"/>
          <p:cNvSpPr>
            <a:spLocks noGrp="1"/>
          </p:cNvSpPr>
          <p:nvPr/>
        </p:nvSpPr>
        <p:spPr>
          <a:xfrm>
            <a:off x="5600700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8" name="右箭头 7"/>
          <p:cNvSpPr>
            <a:spLocks noGrp="1"/>
          </p:cNvSpPr>
          <p:nvPr/>
        </p:nvSpPr>
        <p:spPr>
          <a:xfrm>
            <a:off x="8410575" y="2771775"/>
            <a:ext cx="619125" cy="3238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666750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FF1DF"/>
          </a:solidFill>
          <a:ln w="13335">
            <a:solidFill>
              <a:srgbClr val="BF7326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57250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F7326"/>
                </a:solidFill>
              </a:defRPr>
            </a:pPr>
            <a:r>
              <a:rPr sz="1650" b="1">
                <a:solidFill>
                  <a:srgbClr val="BF7326"/>
                </a:solidFill>
              </a:rPr>
              <a:t>模型理解</a:t>
            </a:r>
            <a:endParaRPr sz="1650" b="1">
              <a:solidFill>
                <a:srgbClr val="BF73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57250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意图是否识别正确？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字段是否提取完整？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3476625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3E8E5"/>
          </a:solidFill>
          <a:ln w="13335">
            <a:solidFill>
              <a:srgbClr val="7436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67125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74364A"/>
                </a:solidFill>
              </a:defRPr>
            </a:pPr>
            <a:r>
              <a:rPr sz="1650" b="1">
                <a:solidFill>
                  <a:srgbClr val="74364A"/>
                </a:solidFill>
              </a:rPr>
              <a:t>流程路由</a:t>
            </a:r>
            <a:endParaRPr sz="1650" b="1">
              <a:solidFill>
                <a:srgbClr val="74364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667125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进入了哪个节点？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为什么选择这个分支？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286500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EAF3EC"/>
          </a:solidFill>
          <a:ln w="13335">
            <a:solidFill>
              <a:srgbClr val="3E755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477000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3E7551"/>
                </a:solidFill>
              </a:defRPr>
            </a:pPr>
            <a:r>
              <a:rPr sz="1650" b="1">
                <a:solidFill>
                  <a:srgbClr val="3E7551"/>
                </a:solidFill>
              </a:rPr>
              <a:t>状态变化</a:t>
            </a:r>
            <a:endParaRPr sz="1650" b="1">
              <a:solidFill>
                <a:srgbClr val="3E7551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477000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当前等待什么？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中断恢复是否正确？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9096375" y="2143125"/>
            <a:ext cx="2190750" cy="1666875"/>
          </a:xfrm>
          <a:prstGeom prst="roundRect">
            <a:avLst>
              <a:gd name="adj" fmla="val 12571"/>
            </a:avLst>
          </a:prstGeom>
          <a:solidFill>
            <a:srgbClr val="F9E9E7"/>
          </a:solidFill>
          <a:ln w="13335">
            <a:solidFill>
              <a:srgbClr val="B44842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9286875" y="238125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B44842"/>
                </a:solidFill>
              </a:defRPr>
            </a:pPr>
            <a:r>
              <a:rPr sz="1650" b="1">
                <a:solidFill>
                  <a:srgbClr val="B44842"/>
                </a:solidFill>
              </a:rPr>
              <a:t>ERP 工具</a:t>
            </a:r>
            <a:endParaRPr sz="1650" b="1">
              <a:solidFill>
                <a:srgbClr val="B44842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286875" y="2924175"/>
            <a:ext cx="1809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调用了哪个接口？</a:t>
            </a:r>
            <a:endParaRPr sz="1275" b="0">
              <a:solidFill>
                <a:srgbClr val="282523"/>
              </a:solidFill>
            </a:endParaRPr>
          </a:p>
          <a:p>
            <a:pPr algn="ctr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入参与返回是否正确？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42950" y="4267200"/>
            <a:ext cx="10706100" cy="1714500"/>
          </a:xfrm>
          <a:prstGeom prst="roundRect">
            <a:avLst>
              <a:gd name="adj" fmla="val 12778"/>
            </a:avLst>
          </a:prstGeom>
          <a:solidFill>
            <a:srgbClr val="FFFFFF"/>
          </a:solidFill>
          <a:ln w="13335">
            <a:solidFill>
              <a:srgbClr val="A66C6B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057275" y="44958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74364A"/>
                </a:solidFill>
              </a:defRPr>
            </a:pPr>
            <a:r>
              <a:rPr sz="1800" b="1">
                <a:solidFill>
                  <a:srgbClr val="74364A"/>
                </a:solidFill>
              </a:rPr>
              <a:t>LangSmith / Trace 需要重点观察</a:t>
            </a:r>
            <a:endParaRPr sz="1800" b="1">
              <a:solidFill>
                <a:srgbClr val="74364A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66800" y="50101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85875" y="4933950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节点执行顺序与路由原因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1066800" y="52673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285875" y="5191125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模型输入输出与字段抽取结果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1066800" y="552450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1285875" y="5448300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Tool 调用参数、返回和耗时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1066800" y="57816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285875" y="5705475"/>
            <a:ext cx="9591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282523"/>
                </a:solidFill>
              </a:defRPr>
            </a:pPr>
            <a:r>
              <a:rPr sz="1275" b="0">
                <a:solidFill>
                  <a:srgbClr val="282523"/>
                </a:solidFill>
              </a:rPr>
              <a:t>中断前后的状态差异与失败位置</a:t>
            </a:r>
            <a:endParaRPr sz="1275" b="0">
              <a:solidFill>
                <a:srgbClr val="282523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47725" y="6191250"/>
            <a:ext cx="10496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D293B"/>
                </a:solidFill>
              </a:defRPr>
            </a:pPr>
            <a:r>
              <a:rPr sz="1350" b="1">
                <a:solidFill>
                  <a:srgbClr val="5D293B"/>
                </a:solidFill>
              </a:rPr>
              <a:t>建议截图：审批完整 Trace + 日报 interrupt/resume + Agentic Workflow 计划与闸门</a:t>
            </a:r>
            <a:endParaRPr sz="1350" b="1">
              <a:solidFill>
                <a:srgbClr val="5D293B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优化方向：稳定流程标准化，开放判断 Agent 化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20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33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57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3E7551"/>
                </a:solidFill>
              </a:defRPr>
            </a:pPr>
            <a:r>
              <a:rPr sz="1950" b="1">
                <a:solidFill>
                  <a:srgbClr val="3E7551"/>
                </a:solidFill>
              </a:rPr>
              <a:t>适合保留在流程中的内容</a:t>
            </a:r>
            <a:endParaRPr sz="1950" b="1">
              <a:solidFill>
                <a:srgbClr val="3E7551"/>
              </a:solidFill>
            </a:endParaRPr>
          </a:p>
        </p:txBody>
      </p:sp>
      <p:sp>
        <p:nvSpPr>
          <p:cNvPr id="7" name="椭圆 6"/>
          <p:cNvSpPr>
            <a:spLocks noGrp="1"/>
          </p:cNvSpPr>
          <p:nvPr/>
        </p:nvSpPr>
        <p:spPr>
          <a:xfrm>
            <a:off x="1104900" y="25241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323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字段是否完整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104900" y="29813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23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业务校验是否通过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1104900" y="34385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323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是否已经生成预览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1104900" y="38957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323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用户是否明确确认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1104900" y="43529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323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写入是否幂等、可审计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448425" y="1533525"/>
            <a:ext cx="5010150" cy="3257550"/>
          </a:xfrm>
          <a:prstGeom prst="roundRect">
            <a:avLst>
              <a:gd name="adj" fmla="val 7895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772275" y="1819275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BF7326"/>
                </a:solidFill>
              </a:defRPr>
            </a:pPr>
            <a:r>
              <a:rPr sz="1950" b="1">
                <a:solidFill>
                  <a:srgbClr val="BF7326"/>
                </a:solidFill>
              </a:rPr>
              <a:t>适合交给 Agent 的内容</a:t>
            </a:r>
            <a:endParaRPr sz="1950" b="1">
              <a:solidFill>
                <a:srgbClr val="BF7326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819900" y="25241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38975" y="24479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理解用户真实目标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6819900" y="29813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38975" y="29051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从自然语言提取信息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6819900" y="34385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038975" y="33623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决定需要查询哪些上下文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5" name="椭圆 24"/>
          <p:cNvSpPr>
            <a:spLocks noGrp="1"/>
          </p:cNvSpPr>
          <p:nvPr/>
        </p:nvSpPr>
        <p:spPr>
          <a:xfrm>
            <a:off x="6819900" y="38957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038975" y="38195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组织日报和业务摘要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819900" y="43529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38975" y="4276725"/>
            <a:ext cx="38766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282523"/>
                </a:solidFill>
              </a:defRPr>
            </a:pPr>
            <a:r>
              <a:rPr sz="1500" b="0">
                <a:solidFill>
                  <a:srgbClr val="282523"/>
                </a:solidFill>
              </a:rPr>
              <a:t>面对开放任务制定下一步</a:t>
            </a:r>
            <a:endParaRPr sz="1500" b="0">
              <a:solidFill>
                <a:srgbClr val="282523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" y="52197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74364A"/>
                </a:solidFill>
              </a:defRPr>
            </a:pPr>
            <a:r>
              <a:rPr sz="1725" b="1">
                <a:solidFill>
                  <a:srgbClr val="74364A"/>
                </a:solidFill>
              </a:rPr>
              <a:t>配套改进</a:t>
            </a:r>
            <a:endParaRPr sz="1725" b="1">
              <a:solidFill>
                <a:srgbClr val="74364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8105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7630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规则配置化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349567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359092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节点单一职责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210300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FFFFFF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305550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74364A"/>
                </a:solidFill>
              </a:defRPr>
            </a:pPr>
            <a:r>
              <a:rPr sz="1350" b="1">
                <a:solidFill>
                  <a:srgbClr val="74364A"/>
                </a:solidFill>
              </a:rPr>
              <a:t>统一 ERP 工具</a:t>
            </a:r>
            <a:endParaRPr sz="1350" b="1">
              <a:solidFill>
                <a:srgbClr val="74364A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924925" y="5657850"/>
            <a:ext cx="2476500" cy="619125"/>
          </a:xfrm>
          <a:prstGeom prst="roundRect">
            <a:avLst>
              <a:gd name="adj" fmla="val 24615"/>
            </a:avLst>
          </a:prstGeom>
          <a:solidFill>
            <a:srgbClr val="74364A"/>
          </a:solidFill>
          <a:ln w="11430">
            <a:solidFill>
              <a:srgbClr val="74364A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9020175" y="583882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LangSmith 全链路观测</a:t>
            </a:r>
            <a:endParaRPr sz="13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八句话总结：AI 负责理解，ERP 负责可信执行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CORE TAKEAWAYS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21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43827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76300" y="1647825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76300" y="176212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552575" y="162877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AI不是替代ERP，而是给ERP增加自然语言入口。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85800" y="249555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10" name="椭圆 9"/>
          <p:cNvSpPr>
            <a:spLocks noGrp="1"/>
          </p:cNvSpPr>
          <p:nvPr/>
        </p:nvSpPr>
        <p:spPr>
          <a:xfrm>
            <a:off x="876300" y="2705100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76300" y="28194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552575" y="268605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首批选择审批和日报，因为高频、典型、容易验证闭环。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85800" y="355282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4" name="椭圆 13"/>
          <p:cNvSpPr>
            <a:spLocks noGrp="1"/>
          </p:cNvSpPr>
          <p:nvPr/>
        </p:nvSpPr>
        <p:spPr>
          <a:xfrm>
            <a:off x="876300" y="3762375"/>
            <a:ext cx="476250" cy="4762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387667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552575" y="374332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用户只说业务目标，AI负责理解和补充信息。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461010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EAF3EC"/>
          </a:solidFill>
          <a:ln w="12383">
            <a:solidFill>
              <a:srgbClr val="3E7551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76300" y="4819650"/>
            <a:ext cx="476250" cy="476250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76300" y="49339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552575" y="480060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ERP继续负责权限、规则、字段和最终写入。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229350" y="143827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6419850" y="1647825"/>
            <a:ext cx="476250" cy="4762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419850" y="176212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096125" y="162877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LangChain提供基础组件，LangGraph负责流程，Deep Agents探索自主规划。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229350" y="249555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FF1DF"/>
          </a:solidFill>
          <a:ln w="12383">
            <a:solidFill>
              <a:srgbClr val="BF7326"/>
            </a:solidFill>
            <a:prstDash val="solid"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6419850" y="2705100"/>
            <a:ext cx="476250" cy="476250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419850" y="281940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06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096125" y="268605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最终选择LangGraph，是因为ERP更需要可控、可恢复和可审计。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6229350" y="3552825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9E9E7"/>
          </a:solidFill>
          <a:ln w="12383">
            <a:solidFill>
              <a:srgbClr val="B44842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6419850" y="3762375"/>
            <a:ext cx="476250" cy="476250"/>
          </a:xfrm>
          <a:prstGeom prst="ellipse">
            <a:avLst/>
          </a:prstGeom>
          <a:solidFill>
            <a:srgbClr val="B44842"/>
          </a:solidFill>
          <a:ln w="0">
            <a:solidFill>
              <a:srgbClr val="B4484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419850" y="3876675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07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096125" y="3743325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82523"/>
                </a:solidFill>
              </a:defRPr>
            </a:pPr>
            <a:r>
              <a:rPr sz="1350" b="1">
                <a:solidFill>
                  <a:srgbClr val="282523"/>
                </a:solidFill>
              </a:rPr>
              <a:t>当前最大问题是动态字段、流程分支和状态复杂度。</a:t>
            </a:r>
            <a:endParaRPr sz="1350" b="1">
              <a:solidFill>
                <a:srgbClr val="282523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229350" y="4610100"/>
            <a:ext cx="5276850" cy="895350"/>
          </a:xfrm>
          <a:prstGeom prst="roundRect">
            <a:avLst>
              <a:gd name="adj" fmla="val 20213"/>
            </a:avLst>
          </a:prstGeom>
          <a:solidFill>
            <a:srgbClr val="F3E8E5"/>
          </a:solidFill>
          <a:ln w="12383">
            <a:solidFill>
              <a:srgbClr val="74364A"/>
            </a:solidFill>
            <a:prstDash val="solid"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6419850" y="4819650"/>
            <a:ext cx="476250" cy="476250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6419850" y="4933950"/>
            <a:ext cx="47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08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096125" y="4800600"/>
            <a:ext cx="41052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282523"/>
                </a:solidFill>
              </a:defRPr>
            </a:pPr>
            <a:r>
              <a:rPr sz="1275" b="1">
                <a:solidFill>
                  <a:srgbClr val="282523"/>
                </a:solidFill>
              </a:rPr>
              <a:t>下一步要把试点沉淀为统一Schema、统一Tool和统一观测体系。</a:t>
            </a:r>
            <a:endParaRPr sz="1275" b="1">
              <a:solidFill>
                <a:srgbClr val="282523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04850" y="5895975"/>
            <a:ext cx="10782300" cy="533400"/>
          </a:xfrm>
          <a:prstGeom prst="roundRect">
            <a:avLst>
              <a:gd name="adj" fmla="val 26786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971550" y="6038850"/>
            <a:ext cx="1024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一条主线：AI 降低用户操作门槛，ERP 保证业务执行可信</a:t>
            </a:r>
            <a:endParaRPr sz="165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" name="矩形 35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下一步：从两个场景沉淀 ERP 智能化底座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ERP × AI PRACTICE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22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右箭头 4"/>
          <p:cNvSpPr>
            <a:spLocks noGrp="1"/>
          </p:cNvSpPr>
          <p:nvPr/>
        </p:nvSpPr>
        <p:spPr>
          <a:xfrm>
            <a:off x="402907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6" name="右箭头 5"/>
          <p:cNvSpPr>
            <a:spLocks noGrp="1"/>
          </p:cNvSpPr>
          <p:nvPr/>
        </p:nvSpPr>
        <p:spPr>
          <a:xfrm>
            <a:off x="7743825" y="3124200"/>
            <a:ext cx="552450" cy="361950"/>
          </a:xfrm>
          <a:prstGeom prst="rightArrow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953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3E8E5"/>
          </a:solidFill>
          <a:ln w="14288">
            <a:solidFill>
              <a:srgbClr val="74364A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9810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近期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810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完善审批与日报闭环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19175" y="355282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动态字段适配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19175" y="4019550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382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确认与错误恢复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4" name="椭圆 13"/>
          <p:cNvSpPr>
            <a:spLocks noGrp="1"/>
          </p:cNvSpPr>
          <p:nvPr/>
        </p:nvSpPr>
        <p:spPr>
          <a:xfrm>
            <a:off x="1019175" y="4486275"/>
            <a:ext cx="85725" cy="85725"/>
          </a:xfrm>
          <a:prstGeom prst="ellipse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2382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链路观测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41007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FFF1DF"/>
          </a:solidFill>
          <a:ln w="14288">
            <a:solidFill>
              <a:srgbClr val="BF7326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17" name="矩形 16"/>
          <p:cNvSpPr>
            <a:spLocks noGrp="1"/>
          </p:cNvSpPr>
          <p:nvPr/>
        </p:nvSpPr>
        <p:spPr>
          <a:xfrm>
            <a:off x="469582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BF7326"/>
                </a:solidFill>
              </a:defRPr>
            </a:pPr>
            <a:r>
              <a:rPr sz="1500" b="1">
                <a:solidFill>
                  <a:srgbClr val="BF7326"/>
                </a:solidFill>
              </a:rPr>
              <a:t>中期</a:t>
            </a:r>
            <a:endParaRPr sz="1500" b="1">
              <a:solidFill>
                <a:srgbClr val="BF7326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9582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沉淀通用能力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733925" y="355282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495300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统一业务 Schema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1" name="椭圆 20"/>
          <p:cNvSpPr>
            <a:spLocks noGrp="1"/>
          </p:cNvSpPr>
          <p:nvPr/>
        </p:nvSpPr>
        <p:spPr>
          <a:xfrm>
            <a:off x="4733925" y="4019550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5300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统一 ERP Tool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4733925" y="4486275"/>
            <a:ext cx="85725" cy="85725"/>
          </a:xfrm>
          <a:prstGeom prst="ellipse">
            <a:avLst/>
          </a:prstGeom>
          <a:solidFill>
            <a:srgbClr val="BF7326"/>
          </a:solidFill>
          <a:ln w="0">
            <a:solidFill>
              <a:srgbClr val="BF7326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95300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公司级配置适配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8124825" y="1781175"/>
            <a:ext cx="3333750" cy="3257550"/>
          </a:xfrm>
          <a:prstGeom prst="roundRect">
            <a:avLst>
              <a:gd name="adj" fmla="val 8187"/>
            </a:avLst>
          </a:prstGeom>
          <a:solidFill>
            <a:srgbClr val="EAF3EC"/>
          </a:solidFill>
          <a:ln w="14288">
            <a:solidFill>
              <a:srgbClr val="3E7551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26" name="矩形 25"/>
          <p:cNvSpPr>
            <a:spLocks noGrp="1"/>
          </p:cNvSpPr>
          <p:nvPr/>
        </p:nvSpPr>
        <p:spPr>
          <a:xfrm>
            <a:off x="8410575" y="2057400"/>
            <a:ext cx="857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E7551"/>
                </a:solidFill>
              </a:defRPr>
            </a:pPr>
            <a:r>
              <a:rPr sz="1500" b="1">
                <a:solidFill>
                  <a:srgbClr val="3E7551"/>
                </a:solidFill>
              </a:rPr>
              <a:t>长期</a:t>
            </a:r>
            <a:endParaRPr sz="1500" b="1">
              <a:solidFill>
                <a:srgbClr val="3E755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10575" y="2514600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282523"/>
                </a:solidFill>
              </a:defRPr>
            </a:pPr>
            <a:r>
              <a:rPr sz="2025" b="1">
                <a:solidFill>
                  <a:srgbClr val="282523"/>
                </a:solidFill>
              </a:rPr>
              <a:t>扩展更多 ERP 场景</a:t>
            </a:r>
            <a:endParaRPr sz="2025" b="1">
              <a:solidFill>
                <a:srgbClr val="282523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8448675" y="355282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667750" y="347662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订单与库存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0" name="椭圆 29"/>
          <p:cNvSpPr>
            <a:spLocks noGrp="1"/>
          </p:cNvSpPr>
          <p:nvPr/>
        </p:nvSpPr>
        <p:spPr>
          <a:xfrm>
            <a:off x="8448675" y="4019550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667750" y="3943350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客户跟进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8448675" y="4486275"/>
            <a:ext cx="85725" cy="85725"/>
          </a:xfrm>
          <a:prstGeom prst="ellipse">
            <a:avLst/>
          </a:prstGeom>
          <a:solidFill>
            <a:srgbClr val="3E7551"/>
          </a:solidFill>
          <a:ln w="0">
            <a:solidFill>
              <a:srgbClr val="3E7551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667750" y="4410075"/>
            <a:ext cx="25050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282523"/>
                </a:solidFill>
              </a:defRPr>
            </a:pPr>
            <a:r>
              <a:rPr sz="1425" b="0">
                <a:solidFill>
                  <a:srgbClr val="282523"/>
                </a:solidFill>
              </a:rPr>
              <a:t>经营分析与任务执行</a:t>
            </a:r>
            <a:endParaRPr sz="1425" b="0">
              <a:solidFill>
                <a:srgbClr val="282523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704850" y="5495925"/>
            <a:ext cx="10782300" cy="790575"/>
          </a:xfrm>
          <a:prstGeom prst="roundRect">
            <a:avLst>
              <a:gd name="adj" fmla="val 22892"/>
            </a:avLst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981075" y="5695950"/>
            <a:ext cx="10229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以 LangGraph 作为主框架：让 AI 理解任务，让 ERP 流程稳定、可控、可追踪</a:t>
            </a:r>
            <a:endParaRPr sz="1875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矩形 38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附录：聊天助手顶层路由图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LANGGRAPH STUDIO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23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270459"/>
            <a:ext cx="6400800" cy="3060032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节点职责（与代码对应）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012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START / END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0" y="176212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进入主图 / 本轮处理结束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1640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21170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memory_agent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15500" y="221170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记录输入，补充短期记忆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6136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266128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intent_router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15500" y="266128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按意图与会话状态分配业务 Agent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0632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11086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user_profile_agent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15500" y="311086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加载当前用户和直属上级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35128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356044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user_info_agent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15500" y="356044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回答用户、上级和部门问题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01002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approval_creation_agent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15500" y="401002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进入审批发起子流程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44119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445960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15500" y="445960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进入标准日报子流程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48550" y="48615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48550" y="490918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daily_report_create_agent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715500" y="490918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自主调用日报工具完成任务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48550" y="53111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448550" y="535876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daily_report_agentic_workflow_demo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9715500" y="535876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演示 Agent 规划与流程闸门</a:t>
            </a:r>
            <a:endParaRPr sz="1125" b="0">
              <a:solidFill>
                <a:srgbClr val="6E635E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448550" y="57607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448550" y="5808345"/>
            <a:ext cx="205740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D293B"/>
                </a:solidFill>
              </a:defRPr>
            </a:pPr>
            <a:r>
              <a:rPr sz="1125" b="1">
                <a:solidFill>
                  <a:srgbClr val="5D293B"/>
                </a:solidFill>
              </a:rPr>
              <a:t>general_chat</a:t>
            </a:r>
            <a:endParaRPr sz="1125" b="1">
              <a:solidFill>
                <a:srgbClr val="5D293B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9715500" y="5808345"/>
            <a:ext cx="1885950" cy="3829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E635E"/>
                </a:solidFill>
              </a:defRPr>
            </a:pPr>
            <a:r>
              <a:rPr sz="1125" b="0">
                <a:solidFill>
                  <a:srgbClr val="6E635E"/>
                </a:solidFill>
              </a:rPr>
              <a:t>处理闲聊并保留业务上下文</a:t>
            </a:r>
            <a:endParaRPr sz="112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审批子图：入口、上下文与路由决策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1/2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24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111938"/>
            <a:ext cx="6400800" cy="3377074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节点职责：入口与路由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96425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610725" y="176212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进入审批子图 / 本轮处理结束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27647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3241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approval_creation_entry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10725" y="232410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标记进入审批发起流程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83845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28860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10725" y="288607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加载用户上下文和可用审批模板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40042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4480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classify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10725" y="344805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识别模板、会话状态和用户动作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01002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decision_review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10725" y="401002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复核路由与提交条件，限制循环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452437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57200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clarify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10725" y="457200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返回缺失、冲突或模板选择提示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508635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5133975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general_chat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10725" y="5133975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处理非审批问题并保留审批上下文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7448550" y="5648325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7448550" y="5695950"/>
            <a:ext cx="1952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resume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610725" y="5695950"/>
            <a:ext cx="19907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提示当前等待项，帮助继续审批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" name="矩形 29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审批子图：字段、审批人与安全提交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APPROVAL CREATION AGENT · 2/2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25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2111938"/>
            <a:ext cx="6400800" cy="3377074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节点职责：业务执行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496425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610725" y="1762125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收集动态字段，缺失时继续追问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356757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404382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validate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610725" y="2404382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按 ERP 或模板规则校验字段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999014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046639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assignee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10725" y="3046639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获取审批节点，必要时选择审批人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641271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3688896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610725" y="3688896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生成完整预览，等待明确确认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4283529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331154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10725" y="4331154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确认守卫通过后正式提交 ERP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4925786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4973411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already_submitted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610725" y="4973411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返回原提交结果，防止重复提交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5568043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48550" y="5615668"/>
            <a:ext cx="19526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610725" y="5615668"/>
            <a:ext cx="1990725" cy="5755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取消申请并重置审批状态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标准日报子图：准备上下文与收集信息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1/2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26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853840"/>
            <a:ext cx="6400800" cy="389327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节点职责：准备与编辑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6393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53600" y="17621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进入日报子图 / 本轮处理结束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4638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5114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daily_report_entry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753600" y="25114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初始化标准日报模式和会话状态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32131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2607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daily_report_action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753600" y="32607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判断加载、补内容、改日期或提交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39624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40100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load_daily_report_context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753600" y="40100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加载字段、配置、草稿和同步数据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47117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47593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collect_daily_report_content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753600" y="47593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收集或修改日报工作内容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448550" y="546100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48550" y="5508625"/>
            <a:ext cx="209550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collect_daily_report_date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753600" y="5508625"/>
            <a:ext cx="1847850" cy="68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收集日期并重载当天上下文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标准日报子图：草稿、预览与提交恢复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DAILY REPORT AGENT · 2/2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27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419100" y="1390650"/>
            <a:ext cx="6667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450" y="1853840"/>
            <a:ext cx="6400800" cy="389327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7296150" y="1314450"/>
            <a:ext cx="4457700" cy="497205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7448550" y="1428750"/>
            <a:ext cx="4152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4364A"/>
                </a:solidFill>
              </a:defRPr>
            </a:pPr>
            <a:r>
              <a:rPr sz="1500" b="1">
                <a:solidFill>
                  <a:srgbClr val="74364A"/>
                </a:solidFill>
              </a:rPr>
              <a:t>节点职责：写入与恢复</a:t>
            </a:r>
            <a:endParaRPr sz="1500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0" y="1714500"/>
            <a:ext cx="14288" cy="44005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48550" y="176212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save_daily_report_draft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829800" y="176212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将完整 payload 保存为 ERP 草稿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48550" y="261366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48550" y="266128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preview_daily_report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829800" y="266128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生成预览以及确认、修改、取消动作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351282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48550" y="356044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submit_daily_report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829800" y="356044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明确确认后提交；失败时保留编辑态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448550" y="441198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448550" y="445960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cancel_daily_report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9829800" y="445960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取消提交并回到日报内容编辑</a:t>
            </a:r>
            <a:endParaRPr sz="1200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5311140"/>
            <a:ext cx="41529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448550" y="5358765"/>
            <a:ext cx="217170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interrupt_daily_report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829800" y="5358765"/>
            <a:ext cx="1771650" cy="8324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E635E"/>
                </a:solidFill>
              </a:defRPr>
            </a:pPr>
            <a:r>
              <a:rPr sz="1200" b="0">
                <a:solidFill>
                  <a:srgbClr val="6E635E"/>
                </a:solidFill>
              </a:rPr>
              <a:t>暂停等待输入，resume 后继续路由</a:t>
            </a:r>
            <a:endParaRPr sz="1200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0" y="0"/>
            <a:ext cx="12192000" cy="1104900"/>
          </a:xfrm>
          <a:prstGeom prst="rect">
            <a:avLst/>
          </a:prstGeom>
          <a:solidFill>
            <a:srgbClr val="74364A"/>
          </a:solidFill>
          <a:ln w="0">
            <a:solidFill>
              <a:srgbClr val="74364A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276225"/>
            <a:ext cx="9810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附录：Agentic Workflow 子图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9525000" y="457200"/>
            <a:ext cx="1952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E8D9DD"/>
                </a:solidFill>
              </a:defRPr>
            </a:pPr>
            <a:r>
              <a:rPr sz="975" b="1">
                <a:solidFill>
                  <a:srgbClr val="E8D9DD"/>
                </a:solidFill>
              </a:rPr>
              <a:t>AGENTIC WORKFLOW DEMO</a:t>
            </a:r>
            <a:endParaRPr sz="975" b="1">
              <a:solidFill>
                <a:srgbClr val="E8D9DD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44250" y="6419850"/>
            <a:ext cx="400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A66C6B"/>
                </a:solidFill>
              </a:defRPr>
            </a:pPr>
            <a:r>
              <a:rPr sz="900" b="1">
                <a:solidFill>
                  <a:srgbClr val="A66C6B"/>
                </a:solidFill>
              </a:rPr>
              <a:t>28</a:t>
            </a:r>
            <a:endParaRPr sz="900" b="1">
              <a:solidFill>
                <a:srgbClr val="A66C6B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14350" y="1390650"/>
            <a:ext cx="5143500" cy="481965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13" y="1524000"/>
            <a:ext cx="4587573" cy="4552950"/>
          </a:xfrm>
          <a:prstGeom prst="rect">
            <a:avLst/>
          </a:prstGeom>
        </p:spPr>
      </p:pic>
      <p:sp>
        <p:nvSpPr>
          <p:cNvPr id="7" name="圆角矩形 6"/>
          <p:cNvSpPr>
            <a:spLocks noGrp="1"/>
          </p:cNvSpPr>
          <p:nvPr/>
        </p:nvSpPr>
        <p:spPr>
          <a:xfrm>
            <a:off x="5886450" y="1352550"/>
            <a:ext cx="5867400" cy="4933950"/>
          </a:xfrm>
          <a:prstGeom prst="roundRect">
            <a:avLst>
              <a:gd name="adj" fmla="val 3475"/>
            </a:avLst>
          </a:prstGeom>
          <a:solidFill>
            <a:srgbClr val="FFFFFF"/>
          </a:solidFill>
          <a:ln w="11430">
            <a:solidFill>
              <a:srgbClr val="C9B7AE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矩形 7"/>
          <p:cNvSpPr>
            <a:spLocks noGrp="1"/>
          </p:cNvSpPr>
          <p:nvPr/>
        </p:nvSpPr>
        <p:spPr>
          <a:xfrm>
            <a:off x="6038850" y="1466850"/>
            <a:ext cx="5562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74364A"/>
                </a:solidFill>
              </a:defRPr>
            </a:pPr>
            <a:r>
              <a:rPr sz="1575" b="1">
                <a:solidFill>
                  <a:srgbClr val="74364A"/>
                </a:solidFill>
              </a:rPr>
              <a:t>节点职责（与代码对应）</a:t>
            </a:r>
            <a:endParaRPr sz="1575" b="1">
              <a:solidFill>
                <a:srgbClr val="74364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086725" y="1752600"/>
            <a:ext cx="14288" cy="4362450"/>
          </a:xfrm>
          <a:prstGeom prst="rect">
            <a:avLst/>
          </a:prstGeom>
          <a:solidFill>
            <a:srgbClr val="C9B7AE"/>
          </a:solidFill>
          <a:ln w="0">
            <a:solidFill>
              <a:srgbClr val="C9B7A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38850" y="1800225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START / END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201025" y="1800225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进入演示子图 / 本轮处理结束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38850" y="2309813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038850" y="2357438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demo_agent_plan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201025" y="2357438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理解目标、抽取日期与内容，提出下一步建议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38850" y="2867025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038850" y="2914650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demo_confirm_date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01025" y="2914650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将相对日期转成 ERP 可用的明确日期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38850" y="3424238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38850" y="3471863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demo_load_context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01025" y="3471863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加载 ERP 默认 payload、草稿和同步数据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38850" y="3981450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038850" y="4029075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demo_agent_compose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01025" y="4029075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根据计划与上下文生成正文，只修改内容字段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38850" y="4538663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038850" y="4586288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demo_save_draft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201025" y="4586288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由 Workflow 执行草稿写入，不让 Agent 直写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38850" y="5095875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038850" y="5143500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demo_preview_gate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201025" y="5143500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生成预览并暂停，等待用户确认或修改</a:t>
            </a:r>
            <a:endParaRPr sz="1275" b="0">
              <a:solidFill>
                <a:srgbClr val="6E635E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38850" y="5653088"/>
            <a:ext cx="5562600" cy="9525"/>
          </a:xfrm>
          <a:prstGeom prst="rect">
            <a:avLst/>
          </a:prstGeom>
          <a:solidFill>
            <a:srgbClr val="EFEAE4"/>
          </a:solidFill>
          <a:ln w="0">
            <a:solidFill>
              <a:srgbClr val="EFEAE4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6038850" y="5700713"/>
            <a:ext cx="19526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D293B"/>
                </a:solidFill>
              </a:defRPr>
            </a:pPr>
            <a:r>
              <a:rPr sz="1200" b="1">
                <a:solidFill>
                  <a:srgbClr val="5D293B"/>
                </a:solidFill>
              </a:rPr>
              <a:t>demo_submit_gate</a:t>
            </a:r>
            <a:endParaRPr sz="1200" b="1">
              <a:solidFill>
                <a:srgbClr val="5D293B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201025" y="5700713"/>
            <a:ext cx="3400425" cy="4905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E635E"/>
                </a:solidFill>
              </a:defRPr>
            </a:pPr>
            <a:r>
              <a:rPr sz="1275" b="0">
                <a:solidFill>
                  <a:srgbClr val="6E635E"/>
                </a:solidFill>
              </a:rPr>
              <a:t>校验预览状态与明确确认后才允许提交</a:t>
            </a:r>
            <a:endParaRPr sz="1275" b="0">
              <a:solidFill>
                <a:srgbClr val="6E635E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2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3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4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5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6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7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8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ags/tag9.xml><?xml version="1.0" encoding="utf-8"?>
<p:tagLst xmlns:p="http://schemas.openxmlformats.org/presentationml/2006/main">
  <p:tag name="KSO_WM_DIAGRAM_VIRTUALLY_FRAME" val="{&quot;height&quot;:87,&quot;left&quot;:61.5,&quot;top&quot;:333.75,&quot;width&quot;:618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7066</Words>
  <Application>WPS 演示</Application>
  <PresentationFormat>Converted Presentation</PresentationFormat>
  <Paragraphs>1140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东波1410842834</cp:lastModifiedBy>
  <cp:revision>2</cp:revision>
  <dcterms:created xsi:type="dcterms:W3CDTF">2026-08-13T10:03:47Z</dcterms:created>
  <dcterms:modified xsi:type="dcterms:W3CDTF">2026-08-13T10:04:31Z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04A584510D424FE98E4573498CCDA4B6_12</vt:lpwstr>
  </property>
</Properties>
</file>