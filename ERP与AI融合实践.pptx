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91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90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【只记一句】AI没有替代ERP，而是为ERP增加自然语言业务入口。</a:t>
            </a:r>
          </a:p>
          <a:p/>
          <a:p>
            <a:r>
              <a:t>【可直接照读】今天整场分享只围绕一句话：AI没有替代ERP，而是为ERP增加自然语言业务入口。传统ERP要求用户先找到菜单、理解字段、填写表单；引入AI以后，用户只需要表达业务目标，AI负责理解、追问和整理，ERP仍然负责权限、规则、字段和最终写入。接下来我用聊天发起审批和聊天填写日报两个场景说明这条路径。</a:t>
            </a:r>
          </a:p>
          <a:p/>
          <a:p>
            <a:r>
              <a:t>【时间建议】约 50 秒</a:t>
            </a:r>
          </a:p>
          <a:p/>
          <a:p>
            <a:r>
              <a:t>[Sources]</a:t>
            </a:r>
          </a:p>
          <a:p>
            <a:r>
              <a:t>- D:/PythonProject/LearnOne/ai_approval_assistant/docs/architecture.md</a:t>
            </a:r>
          </a:p>
          <a:p>
            <a:r>
              <a:t>- Visual style references supplied by the user: C:/Users/EDY/Pictures/1.jpg–16.jpg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【只记一句】今天只回答四个问题：场景、路径、效果、问题。</a:t>
            </a:r>
          </a:p>
          <a:p/>
          <a:p>
            <a:r>
              <a:t>【可直接照读】整场分享围绕四个问题展开。第一，AI 为什么要进入 ERP；第二，如何通过聊天助手落地；第三，目前已经实现了哪些可用能力；第四，为什么看起来只是请假和日报，最后却出现了很多节点和分支。</a:t>
            </a:r>
          </a:p>
          <a:p/>
          <a:p>
            <a:r>
              <a:t>【时间建议】约 35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【只记一句】首批场景选审批和日报，是因为频率高、规则清晰、容易验证闭环。</a:t>
            </a:r>
          </a:p>
          <a:p/>
          <a:p>
            <a:r>
              <a:t>【可直接照读】用户不需要先找到 ERP 菜单，也不需要记住表单字段，只要表达业务目标。审批场景验证动态字段与确认提交，日报场景验证上下文加载、草稿、预览和提交。四种方案分别对应显式流程、稳定执行、Agent 决策和自主加闸门。</a:t>
            </a:r>
          </a:p>
          <a:p/>
          <a:p>
            <a:r>
              <a:t>【时间建议】约 50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【只记一句】AI 接入已经普及，但规模化产生价值仍然困难。</a:t>
            </a:r>
          </a:p>
          <a:p/>
          <a:p>
            <a:r>
              <a:t>【可直接照读】麦肯锡 2025 年调研显示，88% 的组织已经常态化使用 AI，但接近三分之二还没有开始企业级规模化。62% 正在试验或使用 AI Agent，只有 39% 报告了企业级 EBIT 影响。核心差距不在模型，而在能否嵌入真实流程。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McKinsey, The state of AI in 2025: Agents, innovation, and transformation (survey of 1,993 participants across 105 nations): https://www.mckinsey.com/capabilities/quantumblack/our-insights/the-state-of-ai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Kingdee AI Suite: https://www.kingdee.com/products/ai_suite_cn.html</a:t>
            </a:r>
          </a:p>
          <a:p>
            <a:r>
              <a:t>- Yonyou BIP / enterprise AI: https://www.yonyou.com/</a:t>
            </a:r>
          </a:p>
          <a:p>
            <a:r>
              <a:t>- SAP Joule: https://www.sap.com/products/artificial-intelligence.html</a:t>
            </a:r>
          </a:p>
          <a:p>
            <a:r>
              <a:t>- Oracle AI for Fusion Applications: https://www.oracle.com/applications/ai/</a:t>
            </a:r>
          </a:p>
          <a:p>
            <a:r>
              <a:t>- Microsoft Dynamics 365 Business Central AI: https://learn.microsoft.com/en-us/dynamics365/business-central/ai-overview</a:t>
            </a:r>
          </a:p>
          <a:p>
            <a:r>
              <a:t>- Digiwin: https://www.digiwin.com/</a:t>
            </a:r>
          </a:p>
          <a:p>
            <a:r>
              <a:t>- Yonyou YonSuite: https://www.yonsuite.com/</a:t>
            </a:r>
          </a:p>
          <a:p>
            <a:r>
              <a:t>- Grasp / 管家婆: https://www.grasp.com.cn/</a:t>
            </a:r>
          </a:p>
          <a:p/>
          <a:p>
            <a:r>
              <a:t>注：产品名称与可用能力因版、地区、授权方式而异；本页用于介绍代表性平台与典型 ERP + AI 场景。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Kingdee AI Suite: https://www.kingdee.com/products/ai_suite_cn.html</a:t>
            </a:r>
          </a:p>
          <a:p>
            <a:r>
              <a:t>- Yonyou BIP / enterprise AI: https://www.yonyou.com/</a:t>
            </a:r>
          </a:p>
          <a:p>
            <a:r>
              <a:t>- SAP Joule: https://www.sap.com/products/artificial-intelligence.html</a:t>
            </a:r>
          </a:p>
          <a:p>
            <a:r>
              <a:t>- Oracle AI for Fusion Applications: https://www.oracle.com/applications/ai/</a:t>
            </a:r>
          </a:p>
          <a:p>
            <a:r>
              <a:t>- Microsoft Dynamics 365 Business Central AI: https://learn.microsoft.com/en-us/dynamics365/business-central/ai-overview</a:t>
            </a:r>
          </a:p>
          <a:p>
            <a:r>
              <a:t>- Digiwin: https://www.digiwin.com/</a:t>
            </a:r>
          </a:p>
          <a:p>
            <a:r>
              <a:t>- Yonyou YonSuite: https://www.yonsuite.com/</a:t>
            </a:r>
          </a:p>
          <a:p>
            <a:r>
              <a:t>- Grasp / 管家婆: https://www.grasp.com.cn/</a:t>
            </a:r>
          </a:p>
          <a:p/>
          <a:p>
            <a:r>
              <a:t>注：产品名称与可用能力因版、地区、授权方式而异；本页用于介绍代表性平台与典型 ERP + AI 场景。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【只记一句】最终分工是 LangChain 做基础，LangGraph做主流程，Deep Agents做探索。</a:t>
            </a:r>
          </a:p>
          <a:p/>
          <a:p>
            <a:r>
              <a:t>【可直接照读】选择 LangGraph 是因为流程清晰、状态可持久化、路径便于排查，并且能把 ERP 校验和提交做成明确闸门。</a:t>
            </a:r>
          </a:p>
          <a:p/>
          <a:p>
            <a:r>
              <a:t>【时间建议】约 40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D:/PythonProject/LearnOne/ai_approval_assistant/app/graph/workflow.py</a:t>
            </a:r>
          </a:p>
          <a:p>
            <a:r>
              <a:t>- D:/PythonProject/LearnOne/ai_approval_assistant/docs/architecture.md</a:t>
            </a:r>
          </a:p>
          <a:p>
            <a:r>
              <a:t>- C:/Users/EDY/Pictures/1.jpg</a:t>
            </a:r>
          </a:p>
          <a:p>
            <a:r>
              <a:t>- C:/Users/EDY/Pictures/13.jpg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【只记一句】三者是分层组合，最终主流程选 LangGraph。</a:t>
            </a:r>
          </a:p>
          <a:p/>
          <a:p>
            <a:r>
              <a:t>【可直接照读】LangChain提供模型和 Tool 等基础构件；LangGraph负责状态、分支和人工中断；Deep Agents提供更高层的自主规划。ERP 涉及真实写入，所以先保证流程可控。</a:t>
            </a:r>
          </a:p>
          <a:p/>
          <a:p>
            <a:r>
              <a:t>【时间建议】约 35 秒</a:t>
            </a:r>
          </a:p>
          <a:p/>
          <a:p>
            <a:r>
              <a:t>[Sources]</a:t>
            </a:r>
          </a:p>
          <a:p>
            <a:r>
              <a:t>- D:/PythonProject/LearnOne/ai_approval_assistant/pyproject.toml</a:t>
            </a:r>
          </a:p>
          <a:p>
            <a:r>
              <a:t>- D:/PythonProject/LearnOne/ai_approval_assistant/docs/architecture.md</a:t>
            </a:r>
          </a:p>
          <a:p>
            <a:r>
              <a:t>- C:/Users/EDY/Pictures/16.jpg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【只记一句】ERP 场景更看重可控执行，而不是代码看起来更少。</a:t>
            </a:r>
          </a:p>
          <a:p/>
          <a:p>
            <a:r>
              <a:t>【可直接照读】LangChain适合简单调用，LangGraph适合有状态和人工确认的流程，Deep Agents适合开放长任务。审批和日报需要暂停、恢复和安全写入，因此 LangGraph 更贴合主流程。</a:t>
            </a:r>
          </a:p>
          <a:p/>
          <a:p>
            <a:r>
              <a:t>【时间建议】约 35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D:/PythonProject/LearnOne/ai_approval_assistant/app/graph/workflow.py</a:t>
            </a:r>
          </a:p>
          <a:p>
            <a:r>
              <a:t>- D:/PythonProject/LearnOne/ai_deep_agents_assistant/app/agents/approval_agent.py</a:t>
            </a:r>
          </a:p>
          <a:p>
            <a:r>
              <a:t>- C:/Users/EDY/Pictures/5.jpg</a:t>
            </a:r>
          </a:p>
          <a:p>
            <a:r>
              <a:t>- C:/Users/EDY/Pictures/7.jpg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【只记一句】聊天发起审批的关键是动态适配，而不是把请假话术写死。</a:t>
            </a:r>
          </a:p>
          <a:p/>
          <a:p>
            <a:r>
              <a:t>【可直接照读】用户说“我明天下午请假两小时”，助手先识别审批模板，再根据公司配置追问缺失字段，校验后生成预览，只有用户明确确认才写入 ERP。用户看到的是一句话入口，系统内部仍然遵守原来的字段、审批人和权限规则。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D:/PythonProject/LearnOne/ai_approval_assistant/app/graph/approval_workflow.py</a:t>
            </a:r>
          </a:p>
          <a:p>
            <a:r>
              <a:t>- D:/PythonProject/LearnOne/ai_approval_assistant/README.md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【只记一句】同一个请假动作，在不同公司可能对应不同表单。</a:t>
            </a:r>
          </a:p>
          <a:p/>
          <a:p>
            <a:r>
              <a:t>【可直接照读】审批最难的地方是组件多、字段不一样，而且每家公司还能配置不同规则。解决方法不是为每家公司增加一组 if-else，而是让 ERP 定义模板和字段，AI负责理解表达，聊天助手根据配置动态追问、校验和预览。这样新增组件主要是增加配置和适配，而不是重写主流程。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D:/PythonProject/LearnOne/ai_approval_assistant/app/services/crm_service.py</a:t>
            </a:r>
          </a:p>
          <a:p>
            <a:r>
              <a:t>- D:/PythonProject/LearnOne/ai_approval_assistant/README.md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【只记一句】标准日报优先用固定流程，先保证稳定和可恢复。</a:t>
            </a:r>
          </a:p>
          <a:p/>
          <a:p>
            <a:r>
              <a:t>【可直接照读】用户说“帮我写今天日报”，系统加载当天配置、已有草稿和同步数据，收集工作内容，保存草稿，生成预览，确认后提交。这个场景步骤比较明确，所以把流程显式化，便于控制风险，也便于出现中断后继续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D:/PythonProject/LearnOne/ai_approval_assistant/app/agents/daily_report_chat_agent.py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【只记一句】自主日报让 Agent 决定下一步，但写入边界仍然固定。</a:t>
            </a:r>
          </a:p>
          <a:p/>
          <a:p>
            <a:r>
              <a:t>【可直接照读】当用户只说“把今天客户跟进整理成日报”时，输入并不完整，Agent需要判断是否先确认日期、加载哪些 ERP 数据、是否继续追问以及何时生成预览。它提升了自然表达的适应性，但不能编造内容、跳过预览或自动提交。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D:/PythonProject/LearnOne/ai_approval_assistant/app/agents/daily_report_create_agent.py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【只记一句】开放性工作交给 Agent，确定性写入交给 Workflow。</a:t>
            </a:r>
          </a:p>
          <a:p/>
          <a:p>
            <a:r>
              <a:t>【可直接照读】Agent可以理解目标、制定计划和组织正文；Workflow负责保存草稿、生成预览、等待确认和执行提交。这个 Agentic Workflow demo 体现的是一种折中：让模型有灵活性，但把高风险动作放在明确的流程闸门之后。</a:t>
            </a:r>
          </a:p>
          <a:p/>
          <a:p>
            <a:r>
              <a:t>【时间建议】约 50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D:/PythonProject/LearnOne/ai_approval_assistant/app/graph/daily_report_agentic_workflow_demo.py</a:t>
            </a:r>
          </a:p>
          <a:p>
            <a:r>
              <a:t>- D:/PythonProject/LearnOne/ai_approval_assistant/app/agents/daily_report_agentic_workflow_demo.py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【只记一句】四种方案是按风险和开放程度选择，不是互相替代。</a:t>
            </a:r>
          </a:p>
          <a:p/>
          <a:p>
            <a:r>
              <a:t>【可直接照读】审批和标准日报已经具备生产落地的特征，因为流程和提交边界清晰；自主日报更适合能力探索，灵活性高但需要更多约束；Agentic Workflow是演进方向，用自主规划处理开放任务，再用流程闸门保证安全。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D:/PythonProject/LearnOne/ai_approval_assistant/docs/architecture.md</a:t>
            </a:r>
          </a:p>
          <a:p>
            <a:r>
              <a:t>- D:/PythonProject/LearnOne/ai_approval_assistant/app/graph/workflow.py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【只记一句】预期效果不是让 AI 多回答一句，而是让两个业务动作形成可确认、可恢复、可衡量的闭环。</a:t>
            </a:r>
          </a:p>
          <a:p/>
          <a:p>
            <a:r>
              <a:t>【可直接照读】当前已实现聊天请假、动态字段收集、审批预览和确认提交，以及聊天写日报、草稿、预览和 interrupt/resume 恢复。下一页用两个场景验证这条业务闭环。后续可以用模板识别准确率、平均对话轮次、必填字段完成率、预览到提交成功率、恢复成功率和 ERP Tool P95 延迟衡量规模化效果。</a:t>
            </a:r>
          </a:p>
          <a:p/>
          <a:p>
            <a:r>
              <a:t>【时间建议】约 50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【只记一句】复杂度来自配置、状态和安全边界叠加。</a:t>
            </a:r>
          </a:p>
          <a:p/>
          <a:p>
            <a:r>
              <a:t>【可直接照读】审批组件太多，每个组件字段不同；LangGraph中 if-else 持续增加；多轮对话、人工中断和恢复让节点状态相互影响；出现问题时还要区分模型、路由、状态和 ERP 接口。当前四类工作流一共注册了约 40 个节点：顶层 9 个、审批子图 14 个、标准日报 10 个、Agentic Workflow 7 个。这个数字能直观说明，聊天入口很简单，业务执行并不简单。</a:t>
            </a:r>
          </a:p>
          <a:p/>
          <a:p>
            <a:r>
              <a:t>【时间建议】约 75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D:/PythonProject/LearnOne/ai_approval_assistant/app/graph/approval_workflow.py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D:/PythonProject/LearnOne/ai_approval_assistant/app/graph/daily_report_agentic_workflow_demo.py</a:t>
            </a:r>
          </a:p>
          <a:p>
            <a:r>
              <a:t>- D:/PythonProject/LearnOne/ai_approval_assistant/app/graph/workflow.py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【只记一句】这四项是本次没有完成生产级处理、后续必须补齐的可信性与运行治理能力。</a:t>
            </a:r>
          </a:p>
          <a:p/>
          <a:p>
            <a:r>
              <a:t>【可直接照读】第一是记忆边界，ERP业务事实不能依赖模型记忆，必须以实时ERP数据和当前用户权限为准；第二是幻觉防护，审批字段、客户信息和日报事实必须来自用户输入或ERP上下文，关键写入前还要预览确认；第三是可观测性，需要通过Trace、日志和指标知道模型如何判断、走了哪些节点、调用了什么Tool；第四是Agent Runtime治理，需要补齐超时、重试、降级和异常恢复。这些能力本次只完成了部分验证，还没有形成完整的生产级方案。</a:t>
            </a:r>
          </a:p>
          <a:p/>
          <a:p>
            <a:r>
              <a:t>【时间建议】约 70 秒</a:t>
            </a:r>
          </a:p>
          <a:p/>
          <a:p>
            <a:r>
              <a:t>[Sources]</a:t>
            </a:r>
          </a:p>
          <a:p>
            <a:r>
              <a:t>- User-provided reference screenshot: C:/Users/EDY/AppData/Local/Temp/codex-clipboard-aa65bb8f-8161-400a-b762-b18ec105a92c.png</a:t>
            </a:r>
          </a:p>
          <a:p>
            <a:r>
              <a:t>- D:/PythonProject/LearnOne/ai_approval_assistant/docs/architecture.md</a:t>
            </a:r>
          </a:p>
          <a:p>
            <a:r>
              <a:t>- D:/PythonProject/LearnOne/ai_approval_assistant/docs/studio_debug.md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【只记一句】排查问题要看完整 Trace，而不是只看最终回答。</a:t>
            </a:r>
          </a:p>
          <a:p/>
          <a:p>
            <a:r>
              <a:t>【可直接照读】一次请求可能同时经过模型理解、流程路由、状态变化和 ERP 工具四类环节。LangSmith需要重点观察节点顺序、分支原因、模型字段抽取、Tool参数与耗时，以及 interrupt前后的状态差异。这样才能快速判断问题发生在哪一层，而不是凭感觉修改代码。</a:t>
            </a:r>
          </a:p>
          <a:p/>
          <a:p>
            <a:r>
              <a:t>【时间建议】约 60 秒</a:t>
            </a:r>
          </a:p>
          <a:p/>
          <a:p>
            <a:r>
              <a:t>[Sources]</a:t>
            </a:r>
          </a:p>
          <a:p>
            <a:r>
              <a:t>- D:/PythonProject/LearnOne/ai_approval_assistant/docs/studio_debug.md</a:t>
            </a:r>
          </a:p>
          <a:p>
            <a:r>
              <a:t>- D:/PythonProject/LearnOne/ai_approval_assistant/app/graph/workflow.py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【只记一句】优化原则是把稳定规则流程化，把开放判断 Agent 化。</a:t>
            </a:r>
          </a:p>
          <a:p/>
          <a:p>
            <a:r>
              <a:t>【可直接照读】字段完整性、业务校验、预览确认、幂等和审计必须留在 Workflow 中；理解目标、提取信息、选择上下文和组织内容可以交给 Agent。配套动作包括规则配置化、节点单一职责、统一 ERP Tool 和全链路观测。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D:/PythonProject/LearnOne/ai_approval_assistant/docs/architecture.md</a:t>
            </a:r>
          </a:p>
          <a:p>
            <a:r>
              <a:t>- D:/PythonProject/LearnOne/ai_approval_assistant/docs/studio_debug.md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【只记一句】AI没有替代ERP，而是为ERP增加自然语言业务入口。</a:t>
            </a:r>
          </a:p>
          <a:p/>
          <a:p>
            <a:r>
              <a:t>【可直接照读】最后把这次实践收敛成一个核心结论：AI没有替代ERP，而是为ERP增加自然语言业务入口。用户不再需要先理解系统菜单，而是直接说出请假、写日报这样的业务目标；AI负责理解意图、补充信息和组织交互，ERP继续负责权限、规则、字段以及最终写入。所以变化的是用户与ERP交互的方式，不变的是ERP对业务执行的控制。技术上，LangChain提供基础组件，LangGraph负责可控流程，Deep Agents用于探索自主规划。</a:t>
            </a:r>
          </a:p>
          <a:p/>
          <a:p>
            <a:r>
              <a:t>【领导追问时可补充】可以概括为：AI负责理解与交互，ERP负责规则与执行；用户从找功能、填表单，转向说目标、确认结果。</a:t>
            </a:r>
          </a:p>
          <a:p/>
          <a:p>
            <a:r>
              <a:t>【时间建议】约 60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- D:/PythonProject/LearnOne/ai_approval_assistant/docs/architecture.md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【只记一句】下一步是把两个试点沉淀成可复用底座。</a:t>
            </a:r>
          </a:p>
          <a:p/>
          <a:p>
            <a:r>
              <a:t>【可直接照读】近期完善审批与日报的动态字段、错误恢复和链路观测；中期沉淀统一业务 Schema、ERP Tool和公司级配置适配；长期扩展订单、库存、客户跟进和经营分析。最终目标是让 AI 理解任务，让 ERP 流程稳定、可控、可追踪。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- D:/PythonProject/LearnOne/ai_approval_assistant/docs/architecture.md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C:/Users/EDY/AppData/Local/Temp/codex-clipboard-a168231d-4563-4e49-8319-92fa1617d4ed.png</a:t>
            </a:r>
          </a:p>
          <a:p>
            <a:r>
              <a:t>- D:/PythonProject/LearnOne/ai_approval_assistant/app/graph/workflow.py</a:t>
            </a:r>
          </a:p>
          <a:p>
            <a:r>
              <a:t>- D:/PythonProject/LearnOne/ai_approval_assistant/app/agents/approval_agent.py</a:t>
            </a:r>
          </a:p>
          <a:p>
            <a:r>
              <a:t>- D:/PythonProject/LearnOne/ai_approval_assistant/app/agents/daily_report_create_agent.py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C:/Users/EDY/AppData/Local/Temp/codex-clipboard-39e93d19-0368-48e9-9041-d15d064c8b2e.png</a:t>
            </a:r>
          </a:p>
          <a:p>
            <a:r>
              <a:t>- D:/PythonProject/LearnOne/ai_approval_assistant/app/graph/approval_workflow.py</a:t>
            </a:r>
          </a:p>
          <a:p>
            <a:r>
              <a:t>- D:/PythonProject/LearnOne/ai_approval_assistant/app/agents/approval_agent.py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C:/Users/EDY/AppData/Local/Temp/codex-clipboard-39e93d19-0368-48e9-9041-d15d064c8b2e.png</a:t>
            </a:r>
          </a:p>
          <a:p>
            <a:r>
              <a:t>- D:/PythonProject/LearnOne/ai_approval_assistant/app/graph/approval_workflow.py</a:t>
            </a:r>
          </a:p>
          <a:p>
            <a:r>
              <a:t>- D:/PythonProject/LearnOne/ai_approval_assistant/app/agents/approval_agent.py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C:/Users/EDY/AppData/Local/Temp/codex-clipboard-05e8c312-0ae2-40a4-b844-9af537fa1dea.png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D:/PythonProject/LearnOne/ai_approval_assistant/app/agents/daily_report_chat_agent.py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C:/Users/EDY/AppData/Local/Temp/codex-clipboard-05e8c312-0ae2-40a4-b844-9af537fa1dea.png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D:/PythonProject/LearnOne/ai_approval_assistant/app/agents/daily_report_chat_agent.py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【只记一句】daily_report_create_agent 是自主规划的独立实验版，Agent可以选择工具，但ERP写入边界仍然固定。</a:t>
            </a:r>
          </a:p>
          <a:p/>
          <a:p>
            <a:r>
              <a:t>【可直接照读】它接收更开放的日报请求，由Agent自主决定下一步：先调用后端工具确认权威日期，再加载字段、配置、草稿和同步数据，保存草稿并生成预览。它和标准daily_report_agent的区别是，标准版由LangGraph固定流程保证稳定执行，自主版由Agent根据上下文选择工具。为了避免误写，代码移除了普通提交工具，改为guarded_submit_daily_report，只有用户明确确认后才允许提交；接口失败也必须明确返回，不能假装保存成功。当前它是独立实验入口，用于验证开放任务中的自主工具选择，不替代标准日报主流程。</a:t>
            </a:r>
          </a:p>
          <a:p/>
          <a:p>
            <a:r>
              <a:t>【时间建议】约 75 秒</a:t>
            </a:r>
          </a:p>
          <a:p/>
          <a:p>
            <a:r>
              <a:t>[Sources]</a:t>
            </a:r>
          </a:p>
          <a:p>
            <a:r>
              <a:t>- D:/PythonProject/LearnOne/ai_approval_assistant/app/agents/daily_report_create_agent.py</a:t>
            </a:r>
          </a:p>
          <a:p>
            <a:r>
              <a:t>- D:/PythonProject/LearnOne/ai_approval_assistant/app/tools/daily_report_tools.py</a:t>
            </a:r>
          </a:p>
          <a:p>
            <a:r>
              <a:t>- D:/PythonProject/LearnOne/ai_approval_assistant/app/agents/daily_report_chat_agent.py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C:/Users/EDY/AppData/Local/Temp/codex-clipboard-b08edd2a-092c-42e0-b5a8-e9c7d58a5c65.png</a:t>
            </a:r>
          </a:p>
          <a:p>
            <a:r>
              <a:t>- D:/PythonProject/LearnOne/ai_approval_assistant/app/graph/daily_report_agentic_workflow_demo.py</a:t>
            </a:r>
          </a:p>
          <a:p>
            <a:r>
              <a:t>- D:/PythonProject/LearnOne/ai_approval_assistant/app/agents/daily_report_agentic_workflow_demo.py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C:/Users/EDY/AppData/Local/Temp/codex-clipboard-05e8c312-0ae2-40a4-b844-9af537fa1dea.png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D:/PythonProject/LearnOne/ai_approval_assistant/app/agents/daily_report_chat_agent.py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【只记一句】企业级 RAG 的重点不是向量库，而是知识治理、权限、来源和业务边界。</a:t>
            </a:r>
          </a:p>
          <a:p/>
          <a:p>
            <a:r>
              <a:t>【可直接照读】企业级 RAG 不是把几份文档放进向量库，再做一个知识库聊天。它首先要治理知识源，包括制度、SOP、操作手册、ERP 字段说明和审批规则，并记录版本、更新时间、责任人和原文位置。其次，检索时必须在服务端强制加入租户、公司、部门和 ACL 权限，再通过混合检索与重排找到证据。最后还要明确边界：RAG 回答规则和知识，ERP Tool 查询实时数据，LangGraph 控制预览、确认、提交和审计。</a:t>
            </a:r>
          </a:p>
          <a:p/>
          <a:p>
            <a:r>
              <a:t>【ERP 示例】员工问“差旅报销需要哪些材料”，走 RAG；问“我的报销单现在到谁审批”，走 ERP Tool；说“帮我发起报销”，进入 LangGraph 业务流程。</a:t>
            </a:r>
          </a:p>
          <a:p/>
          <a:p>
            <a:r>
              <a:t>【时间建议】约 75 秒</a:t>
            </a:r>
          </a:p>
          <a:p/>
          <a:p>
            <a:r>
              <a:t>[Sources]</a:t>
            </a:r>
          </a:p>
          <a:p>
            <a:r>
              <a:t>- D:/PythonProject/LearnOne/docs/python_rag_notes.md</a:t>
            </a:r>
          </a:p>
          <a:p>
            <a:r>
              <a:t>- D:/PythonProject/LearnOne/docs/docs/rag_demo_sources/approval_rag_guide.md</a:t>
            </a:r>
          </a:p>
          <a:p>
            <a:r>
              <a:t>- D:/PythonProject/LearnOne/ai_approval_assistant/docs/architecture.md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【只记一句】Milvus 同时承载语义、关键词和权限过滤，是 ERP 知识检索的基础底座。</a:t>
            </a:r>
          </a:p>
          <a:p/>
          <a:p>
            <a:r>
              <a:t>【可直接照读】Milvus 中不只保存向量，还要保存原文、Dense 向量、BM25 稀疏向量，以及来源、页码、标题、公司、部门、权限、版本和更新时间。查询时，先由检索服务强制注入当前用户的权限范围，再同时执行 Dense 语义召回和 BM25 精确召回，通过 RRF 或加权方式融合，最后由 Reranker 精排并返回带来源的证据。ERP 里既有“请假怎么申请”这种语义问题，也有制度号、审批编号、产品编码等精确词，因此 Dense 加 BM25 比单路向量检索更适合。</a:t>
            </a:r>
          </a:p>
          <a:p/>
          <a:p>
            <a:r>
              <a:t>【部署口径】Milvus Lite 适合本地学习和 Demo；Standalone 适合单机试点；企业生产再根据数据规模、并发、高可用和弹性选择 Distributed 或云服务。</a:t>
            </a:r>
          </a:p>
          <a:p/>
          <a:p>
            <a:r>
              <a:t>【时间建议】约 85 秒</a:t>
            </a:r>
          </a:p>
          <a:p/>
          <a:p>
            <a:r>
              <a:t>[Sources]</a:t>
            </a:r>
          </a:p>
          <a:p>
            <a:r>
              <a:t>- D:/PythonProject/LearnOne/docs/python_milvus_notes.md</a:t>
            </a:r>
          </a:p>
          <a:p>
            <a:r>
              <a:t>- D:/PythonProject/LearnOne/docs/python_rag_notes.md</a:t>
            </a:r>
          </a:p>
          <a:p>
            <a:r>
              <a:t>- D:/PythonProject/LearnOne/docs2/milvus_hnsw_ivf_annoy_cold_start_update_multitenancy.md</a:t>
            </a:r>
          </a:p>
          <a:p>
            <a:r>
              <a:t>- Milvus Hybrid Search documentation: https://milvus.io/docs/multi-vector-search.md</a:t>
            </a:r>
          </a:p>
          <a:p>
            <a:r>
              <a:t>- Milvus Multi-tenancy documentation: https://milvus.io/docs/multi_tenancy.md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【只记一句】先用 Milvus 建立稳定 RAG 基线，再用真实评测证明 GraphRAG 或 LightRAG 是否值得增加复杂度。</a:t>
            </a:r>
          </a:p>
          <a:p/>
          <a:p>
            <a:r>
              <a:t>【可直接照读】传统的 Milvus 混合 RAG 最适合制度、FAQ、字段说明和操作手册，成本可控、增量更新简单，应该作为 ERP 第一阶段基线。Microsoft GraphRAG 会抽取实体和关系、进行社区发现，并支持 Local Search 和 Global Search，适合跨文档多跳关系、全局主题和风险总结，但离线索引成本、实体消歧、增量更新和权限传播都更复杂。LightRAG 同样融合图关系和向量检索，更强调增量使用体验，适合第二阶段快速验证，但“Light”不代表没有实体抽取和索引成本。</a:t>
            </a:r>
          </a:p>
          <a:p/>
          <a:p>
            <a:r>
              <a:t>【验证方法】必须使用同一批文档、同一模型和同一评测集，对比准确率、证据覆盖率、索引成本、P95 延迟和增量更新时间；如果图检索没有显著增益，就不应该为了技术完整而引入更多中间件。</a:t>
            </a:r>
          </a:p>
          <a:p/>
          <a:p>
            <a:r>
              <a:t>【时间建议】约 95 秒</a:t>
            </a:r>
          </a:p>
          <a:p/>
          <a:p>
            <a:r>
              <a:t>[Sources]</a:t>
            </a:r>
          </a:p>
          <a:p>
            <a:r>
              <a:t>- D:/PythonProject/LearnOne/docs/python_rag_graphrag_lightrag_notes.md</a:t>
            </a:r>
          </a:p>
          <a:p>
            <a:r>
              <a:t>- D:/PythonProject/LearnOne/docs/python_rag_notes.md</a:t>
            </a:r>
          </a:p>
          <a:p>
            <a:r>
              <a:t>- Microsoft GraphRAG documentation: https://microsoft.github.io/graphrag/</a:t>
            </a:r>
          </a:p>
          <a:p>
            <a:r>
              <a:t>- LightRAG repository: https://github.com/HKUDS/LightRAG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【只记一句】用户只说业务目标，Agent 负责理解和选路，RAG 或 ERP Tool 负责执行，LangGraph 负责追问、确认和写入控制。</a:t>
            </a:r>
          </a:p>
          <a:p/>
          <a:p>
            <a:r>
              <a:t>【可直接照读】用户从前端输入自然语言后，LLM 先识别这是制度问答、实时查询还是业务动作；制度问题进入 RAG，实时数据和动态模板通过 ERP Tool 获取；如果要执行审批，LangGraph 会继续补充字段、校验、生成预览，并在用户确认后才写入 ERP。整个过程可以返回执行计划、工具调用、检索证据和 ERP 结果，方便现场演示和问题排查。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D:/PythonProject/LearnOne/ai_erp_rag_assistant/app/graph/workflow.py</a:t>
            </a:r>
          </a:p>
          <a:p>
            <a:r>
              <a:t>- D:/PythonProject/LearnOne/ai_erp_rag_assistant/app/services/milvus_service.py</a:t>
            </a:r>
          </a:p>
          <a:p>
            <a:r>
              <a:t>- D:/PythonProject/LearnOne/ai_erp_rag_assistant/app/services/erp_client.py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【只记一句】下一阶段不是继续堆框架，而是补齐 ERP 智能化所需的工程化、流程治理和企业知识能力。</a:t>
            </a:r>
          </a:p>
          <a:p/>
          <a:p>
            <a:r>
              <a:t>【可直接照读】后续学习与探索主要分三个方向。近期重点强化 AI 工程化，包括 Structured Output、统一 Schema、Tool Calling 的幂等设计，以及通过 LangSmith 建立评测体系；中期继续深入 LangGraph，重点学习 State、Checkpoint、Subgraph、节点复用和 Human-in-the-loop，把复杂流程拆得更清晰；长期重点探索企业级 RAG，包括混合检索、Rerank、权限过滤、知识治理，并用真实评测判断 GraphRAG 或 LightRAG 是否值得引入。最终目标不是掌握更多名词，而是把这些能力沉淀成可评测、可治理、可规模化的 ERP 智能化底座。</a:t>
            </a:r>
          </a:p>
          <a:p/>
          <a:p>
            <a:r>
              <a:t>【时间建议】约 70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- D:/PythonProject/LearnOne/ai_approval_assistant/docs/architecture.md</a:t>
            </a:r>
          </a:p>
          <a:p>
            <a:r>
              <a:t>- D:/PythonProject/LearnOne/docs/python_langchain_notes.md</a:t>
            </a:r>
          </a:p>
          <a:p>
            <a:r>
              <a:t>- D:/PythonProject/LearnOne/docs/python_rag_notes.md</a:t>
            </a:r>
          </a:p>
          <a:p>
            <a:r>
              <a:t>- D:/PythonProject/LearnOne/docs/python_milvus_notes.md</a:t>
            </a:r>
          </a:p>
          <a:p>
            <a:r>
              <a:t>- D:/PythonProject/LearnOne/docs/python_rag_graphrag_lightrag_notes.md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【只记一句】AI没有替代ERP，而是为ERP增加自然语言业务入口。</a:t>
            </a:r>
          </a:p>
          <a:p/>
          <a:p>
            <a:r>
              <a:t>【可直接照读】最后再重复一次今天最重要的结论：AI没有替代ERP，而是为ERP增加自然语言业务入口。用户从找功能、填表单，转向说目标、确认结果；AI负责理解和交互，ERP继续负责规则和可信执行。后续无论扩展到采购、订单、库存还是知识问答，都应该坚持这一职责边界。谢谢大家，欢迎交流。</a:t>
            </a:r>
          </a:p>
          <a:p/>
          <a:p>
            <a:r>
              <a:t>【时间建议】约 30 秒</a:t>
            </a:r>
          </a:p>
          <a:p/>
          <a:p>
            <a:r>
              <a:t>[Sources]</a:t>
            </a:r>
          </a:p>
          <a:p>
            <a:r>
              <a:t>- Closing slide; no external claims.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207645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95960" y="765175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ERP 与 AI 融合实践</a:t>
            </a:r>
            <a:endParaRPr sz="405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343025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0">
                <a:solidFill>
                  <a:srgbClr val="ECDDE1"/>
                </a:solidFill>
              </a:defRPr>
            </a:pPr>
            <a:endParaRPr sz="2025" b="0">
              <a:solidFill>
                <a:srgbClr val="ECDDE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70510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282523"/>
                </a:solidFill>
              </a:defRPr>
            </a:pPr>
            <a:r>
              <a:rPr sz="2325" b="1">
                <a:solidFill>
                  <a:srgbClr val="282523"/>
                </a:solidFill>
              </a:rPr>
              <a:t>AI为ERP增加自然语言业务入口</a:t>
            </a:r>
            <a:endParaRPr sz="2325" b="1">
              <a:solidFill>
                <a:srgbClr val="282523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4238625"/>
            <a:ext cx="2400300" cy="1104900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467225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智能审批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23925" y="4914900"/>
            <a:ext cx="2114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approval_creation_agent</a:t>
            </a:r>
            <a:endParaRPr sz="975" b="0">
              <a:solidFill>
                <a:srgbClr val="6E635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505200" y="4238625"/>
            <a:ext cx="2400300" cy="1104900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3676650" y="4467225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标准日报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48075" y="4914900"/>
            <a:ext cx="2114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</a:t>
            </a:r>
            <a:endParaRPr sz="975" b="0">
              <a:solidFill>
                <a:srgbClr val="6E635E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29350" y="4238625"/>
            <a:ext cx="2400300" cy="1104900"/>
          </a:xfrm>
          <a:prstGeom prst="roundRect">
            <a:avLst>
              <a:gd name="adj" fmla="val 18966"/>
            </a:avLst>
          </a:prstGeom>
          <a:solidFill>
            <a:srgbClr val="E9DCC9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6400800" y="4467225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自主日报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72225" y="4914900"/>
            <a:ext cx="2114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daily_report_create_agent</a:t>
            </a:r>
            <a:endParaRPr sz="975" b="0">
              <a:solidFill>
                <a:srgbClr val="6E635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953500" y="4238625"/>
            <a:ext cx="2400300" cy="1104900"/>
          </a:xfrm>
          <a:prstGeom prst="roundRect">
            <a:avLst>
              <a:gd name="adj" fmla="val 18966"/>
            </a:avLst>
          </a:prstGeom>
          <a:solidFill>
            <a:srgbClr val="E9DCC9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9124950" y="4467225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Agentic Workflow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96375" y="4914900"/>
            <a:ext cx="2114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daily_report_agentic_workflow_demo</a:t>
            </a:r>
            <a:endParaRPr sz="975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61531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A66C6B"/>
                </a:solidFill>
              </a:defRPr>
            </a:pPr>
            <a:r>
              <a:rPr sz="1050" b="1">
                <a:solidFill>
                  <a:srgbClr val="A66C6B"/>
                </a:solidFill>
              </a:rPr>
              <a:t>AI APPROVAL ASSISTANT · 场景实践分享</a:t>
            </a:r>
            <a:endParaRPr sz="1050" b="1">
              <a:solidFill>
                <a:srgbClr val="A66C6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本次分享围绕四个核心问题展开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02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23900" y="1657350"/>
            <a:ext cx="5181600" cy="1847850"/>
          </a:xfrm>
          <a:prstGeom prst="roundRect">
            <a:avLst>
              <a:gd name="adj" fmla="val 12887"/>
            </a:avLst>
          </a:prstGeom>
          <a:solidFill>
            <a:srgbClr val="F3E8E5"/>
          </a:solidFill>
          <a:ln w="14288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09650" y="1895475"/>
            <a:ext cx="66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74364A"/>
                </a:solidFill>
              </a:defRPr>
            </a:pPr>
            <a:r>
              <a:rPr sz="2250" b="1">
                <a:solidFill>
                  <a:srgbClr val="74364A"/>
                </a:solidFill>
              </a:rPr>
              <a:t>01</a:t>
            </a:r>
            <a:endParaRPr sz="2250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800225" y="1905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应用场景</a:t>
            </a:r>
            <a:endParaRPr sz="2025" b="1">
              <a:solidFill>
                <a:srgbClr val="7436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19175" y="24669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AI 与 ERP 如何结合？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19175" y="2867025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lang="zh-CN" sz="1350" b="0">
                <a:solidFill>
                  <a:srgbClr val="6E635E"/>
                </a:solidFill>
              </a:rPr>
              <a:t>不同功能的</a:t>
            </a:r>
            <a:r>
              <a:rPr lang="en-US" altLang="zh-CN" sz="1350" b="0">
                <a:solidFill>
                  <a:srgbClr val="6E635E"/>
                </a:solidFill>
              </a:rPr>
              <a:t>Agent</a:t>
            </a:r>
            <a:r>
              <a:rPr lang="zh-CN" sz="1350" b="0">
                <a:solidFill>
                  <a:srgbClr val="6E635E"/>
                </a:solidFill>
              </a:rPr>
              <a:t>和</a:t>
            </a:r>
            <a:r>
              <a:rPr lang="en-US" altLang="zh-CN" sz="1350" b="0">
                <a:solidFill>
                  <a:srgbClr val="6E635E"/>
                </a:solidFill>
              </a:rPr>
              <a:t>RAG</a:t>
            </a:r>
            <a:r>
              <a:rPr lang="zh-CN" altLang="en-US" sz="1350" b="0">
                <a:solidFill>
                  <a:srgbClr val="6E635E"/>
                </a:solidFill>
              </a:rPr>
              <a:t>问答</a:t>
            </a:r>
            <a:endParaRPr lang="zh-CN" altLang="en-US" sz="1350" b="0">
              <a:solidFill>
                <a:srgbClr val="6E635E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286500" y="1657350"/>
            <a:ext cx="5181600" cy="1847850"/>
          </a:xfrm>
          <a:prstGeom prst="roundRect">
            <a:avLst>
              <a:gd name="adj" fmla="val 12887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1895475"/>
            <a:ext cx="66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BF7326"/>
                </a:solidFill>
              </a:defRPr>
            </a:pPr>
            <a:r>
              <a:rPr sz="2250" b="1">
                <a:solidFill>
                  <a:srgbClr val="BF7326"/>
                </a:solidFill>
              </a:rPr>
              <a:t>02</a:t>
            </a:r>
            <a:endParaRPr sz="2250" b="1">
              <a:solidFill>
                <a:srgbClr val="BF73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362825" y="1905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实施路径</a:t>
            </a:r>
            <a:endParaRPr sz="2025" b="1">
              <a:solidFill>
                <a:srgbClr val="BF732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81775" y="24669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如何把想法做成可用能力？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81775" y="2867025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开发聊天助手，接入 ERP，并用 LangGraph 编排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23900" y="3876675"/>
            <a:ext cx="5181600" cy="1847850"/>
          </a:xfrm>
          <a:prstGeom prst="roundRect">
            <a:avLst>
              <a:gd name="adj" fmla="val 12887"/>
            </a:avLst>
          </a:prstGeom>
          <a:solidFill>
            <a:srgbClr val="EAF3EC"/>
          </a:solidFill>
          <a:ln w="14288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4114800"/>
            <a:ext cx="66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3E7551"/>
                </a:solidFill>
              </a:defRPr>
            </a:pPr>
            <a:r>
              <a:rPr sz="2250" b="1">
                <a:solidFill>
                  <a:srgbClr val="3E7551"/>
                </a:solidFill>
              </a:rPr>
              <a:t>03</a:t>
            </a:r>
            <a:endParaRPr sz="2250" b="1">
              <a:solidFill>
                <a:srgbClr val="3E755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00225" y="41243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预期效果</a:t>
            </a:r>
            <a:endParaRPr sz="2025" b="1">
              <a:solidFill>
                <a:srgbClr val="3E755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19175" y="46863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最终希望实现什么？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19175" y="50863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聊天请假、聊天发日报</a:t>
            </a:r>
            <a:r>
              <a:rPr lang="zh-CN" sz="1350" b="0">
                <a:solidFill>
                  <a:srgbClr val="6E635E"/>
                </a:solidFill>
              </a:rPr>
              <a:t>和</a:t>
            </a:r>
            <a:r>
              <a:rPr lang="en-US" altLang="zh-CN" sz="1350" b="0">
                <a:solidFill>
                  <a:srgbClr val="6E635E"/>
                </a:solidFill>
              </a:rPr>
              <a:t>RAG</a:t>
            </a:r>
            <a:r>
              <a:rPr lang="zh-CN" altLang="en-US" sz="1350" b="0">
                <a:solidFill>
                  <a:srgbClr val="6E635E"/>
                </a:solidFill>
              </a:rPr>
              <a:t>问答</a:t>
            </a:r>
            <a:r>
              <a:rPr sz="1350" b="0">
                <a:solidFill>
                  <a:srgbClr val="6E635E"/>
                </a:solidFill>
              </a:rPr>
              <a:t>，形成可确认的业务闭环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3876675"/>
            <a:ext cx="5181600" cy="1847850"/>
          </a:xfrm>
          <a:prstGeom prst="roundRect">
            <a:avLst>
              <a:gd name="adj" fmla="val 12887"/>
            </a:avLst>
          </a:prstGeom>
          <a:solidFill>
            <a:srgbClr val="F9E9E7"/>
          </a:solidFill>
          <a:ln w="14288">
            <a:solidFill>
              <a:srgbClr val="B4484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6572250" y="4114800"/>
            <a:ext cx="66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B44842"/>
                </a:solidFill>
              </a:defRPr>
            </a:pPr>
            <a:r>
              <a:rPr sz="2250" b="1">
                <a:solidFill>
                  <a:srgbClr val="B44842"/>
                </a:solidFill>
              </a:rPr>
              <a:t>04</a:t>
            </a:r>
            <a:endParaRPr sz="2250" b="1">
              <a:solidFill>
                <a:srgbClr val="B4484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62825" y="41243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B44842"/>
                </a:solidFill>
              </a:defRPr>
            </a:pPr>
            <a:r>
              <a:rPr sz="2025" b="1">
                <a:solidFill>
                  <a:srgbClr val="B44842"/>
                </a:solidFill>
              </a:rPr>
              <a:t>遇到的问题</a:t>
            </a:r>
            <a:endParaRPr sz="2025" b="1">
              <a:solidFill>
                <a:srgbClr val="B4484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81775" y="46863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实际开发为什么变复杂？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81775" y="50863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动态组件、if-else 增长、节点复杂、排查困难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6067425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核心目标：让用户直接表达业务目标，让 AI 在 ERP 的数据、规则和权限边界内协助执行</a:t>
            </a:r>
            <a:endParaRPr sz="1575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首批场景聚焦两个高频动作：审批与日报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03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42950" y="1533525"/>
            <a:ext cx="5048250" cy="3190875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4288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18383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聊天发起审批</a:t>
            </a:r>
            <a:endParaRPr sz="2100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276475"/>
            <a:ext cx="419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一句话表达需求，助手根据真实审批配置逐步引导</a:t>
            </a:r>
            <a:endParaRPr sz="1500" b="0">
              <a:solidFill>
                <a:srgbClr val="6E635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76325" y="3000375"/>
            <a:ext cx="3067050" cy="590550"/>
          </a:xfrm>
          <a:prstGeom prst="roundRect">
            <a:avLst>
              <a:gd name="adj" fmla="val 32258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285875" y="3143250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076450" y="3781425"/>
            <a:ext cx="3295650" cy="708660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2286000" y="3924300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请选择请假类型，并确认开始时间。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400800" y="1533525"/>
            <a:ext cx="5048250" cy="3190875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4288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6724650" y="18383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聊天填写日报</a:t>
            </a:r>
            <a:endParaRPr sz="2100" b="1">
              <a:solidFill>
                <a:srgbClr val="74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24650" y="2276475"/>
            <a:ext cx="419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用自然语言描述工作，助手加载 ERP 上下文并形成预览</a:t>
            </a:r>
            <a:endParaRPr sz="1500" b="0">
              <a:solidFill>
                <a:srgbClr val="6E635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724650" y="3000375"/>
            <a:ext cx="4067175" cy="647700"/>
          </a:xfrm>
          <a:prstGeom prst="roundRect">
            <a:avLst>
              <a:gd name="adj" fmla="val 29412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6934200" y="3143250"/>
            <a:ext cx="36480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77150" y="3848100"/>
            <a:ext cx="3333750" cy="552450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7886700" y="3990975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日报草稿已生成，确认后提交。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0575" y="5143500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82523"/>
                </a:solidFill>
              </a:defRPr>
            </a:pPr>
            <a:r>
              <a:rPr sz="1725" b="1">
                <a:solidFill>
                  <a:srgbClr val="282523"/>
                </a:solidFill>
              </a:rPr>
              <a:t>当前项目用四种方案验证不同业务复杂度下的 AI 编排方式</a:t>
            </a:r>
            <a:endParaRPr sz="1725" b="1">
              <a:solidFill>
                <a:srgbClr val="28252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90575" y="5676900"/>
            <a:ext cx="2505075" cy="666750"/>
          </a:xfrm>
          <a:prstGeom prst="roundRect">
            <a:avLst>
              <a:gd name="adj" fmla="val 24286"/>
            </a:avLst>
          </a:prstGeom>
          <a:solidFill>
            <a:srgbClr val="FFFFFF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5772150"/>
            <a:ext cx="2219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" y="6048375"/>
            <a:ext cx="2219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显式流程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3562350" y="5676900"/>
            <a:ext cx="2505075" cy="666750"/>
          </a:xfrm>
          <a:prstGeom prst="roundRect">
            <a:avLst>
              <a:gd name="adj" fmla="val 24286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705225" y="5772150"/>
            <a:ext cx="2219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标准日报</a:t>
            </a:r>
            <a:endParaRPr sz="1350" b="1">
              <a:solidFill>
                <a:srgbClr val="A66C6B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705225" y="6048375"/>
            <a:ext cx="2219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稳定执行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334125" y="5676900"/>
            <a:ext cx="2505075" cy="666750"/>
          </a:xfrm>
          <a:prstGeom prst="roundRect">
            <a:avLst>
              <a:gd name="adj" fmla="val 24286"/>
            </a:avLst>
          </a:prstGeom>
          <a:solidFill>
            <a:srgbClr val="FFFFF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77000" y="5772150"/>
            <a:ext cx="2219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自主日报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0" y="6048375"/>
            <a:ext cx="2219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Agent 决策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105900" y="5676900"/>
            <a:ext cx="2505075" cy="666750"/>
          </a:xfrm>
          <a:prstGeom prst="roundRect">
            <a:avLst>
              <a:gd name="adj" fmla="val 24286"/>
            </a:avLst>
          </a:prstGeom>
          <a:solidFill>
            <a:srgbClr val="FFFFFF"/>
          </a:solidFill>
          <a:ln w="13335">
            <a:solidFill>
              <a:srgbClr val="3E755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48775" y="5772150"/>
            <a:ext cx="2219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Agentic Workflow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48775" y="6048375"/>
            <a:ext cx="2219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 + 闸门</a:t>
            </a:r>
            <a:endParaRPr sz="112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行业现状：AI 使用率很高，规模化价值仍有明显断层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GLOBAL AI ADOPTION · 2025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04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485900"/>
            <a:ext cx="200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>
                <a:solidFill>
                  <a:srgbClr val="74364A"/>
                </a:solidFill>
              </a:defRPr>
            </a:pPr>
            <a:r>
              <a:rPr sz="4350" b="1">
                <a:solidFill>
                  <a:srgbClr val="74364A"/>
                </a:solidFill>
              </a:rPr>
              <a:t>88%</a:t>
            </a:r>
            <a:endParaRPr sz="4350" b="1">
              <a:solidFill>
                <a:srgbClr val="7436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181225"/>
            <a:ext cx="32194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至少一个业务职能常态化使用 AI</a:t>
            </a:r>
            <a:endParaRPr sz="1575" b="1">
              <a:solidFill>
                <a:srgbClr val="2825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705100"/>
            <a:ext cx="3714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2024 年为 78%，一年提升 10 个百分点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81050" y="3209925"/>
            <a:ext cx="4857750" cy="495300"/>
          </a:xfrm>
          <a:prstGeom prst="roundRect">
            <a:avLst>
              <a:gd name="adj" fmla="val 19231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3209925"/>
            <a:ext cx="4276725" cy="495300"/>
          </a:xfrm>
          <a:prstGeom prst="roundRect">
            <a:avLst>
              <a:gd name="adj" fmla="val 19231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3324225"/>
            <a:ext cx="161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88% 已使用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414337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但规模化仍是少数</a:t>
            </a:r>
            <a:endParaRPr sz="1875" b="1">
              <a:solidFill>
                <a:srgbClr val="28252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81050" y="4657725"/>
            <a:ext cx="4857750" cy="447675"/>
          </a:xfrm>
          <a:prstGeom prst="roundRect">
            <a:avLst>
              <a:gd name="adj" fmla="val 19149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781050" y="4657725"/>
            <a:ext cx="1619250" cy="447675"/>
          </a:xfrm>
          <a:prstGeom prst="roundRect">
            <a:avLst>
              <a:gd name="adj" fmla="val 19149"/>
            </a:avLst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33450" y="4752975"/>
            <a:ext cx="1952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约 1/3 已规模化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24175" y="47625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近 2/3 尚未开始企业级扩展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191250" y="1590675"/>
            <a:ext cx="2428875" cy="1809750"/>
          </a:xfrm>
          <a:prstGeom prst="roundRect">
            <a:avLst>
              <a:gd name="adj" fmla="val 12105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00800" y="1800225"/>
            <a:ext cx="20097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62%</a:t>
            </a:r>
            <a:endParaRPr sz="3225" b="1">
              <a:solidFill>
                <a:srgbClr val="BF732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00800" y="2457450"/>
            <a:ext cx="20097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试验或使用 AI Agent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81750" y="29527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23% 已扩展 · 39% 试验中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829675" y="1590675"/>
            <a:ext cx="2428875" cy="1809750"/>
          </a:xfrm>
          <a:prstGeom prst="roundRect">
            <a:avLst>
              <a:gd name="adj" fmla="val 12105"/>
            </a:avLst>
          </a:prstGeom>
          <a:solidFill>
            <a:srgbClr val="EAF3EC"/>
          </a:solidFill>
          <a:ln w="13335">
            <a:solidFill>
              <a:srgbClr val="3E755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39225" y="1800225"/>
            <a:ext cx="20097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39%</a:t>
            </a:r>
            <a:endParaRPr sz="3225" b="1">
              <a:solidFill>
                <a:srgbClr val="3E755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39225" y="2457450"/>
            <a:ext cx="20097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报告企业级 EBIT 影响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20175" y="29527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价值影响仍未成为多数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191250" y="3724275"/>
            <a:ext cx="2428875" cy="1809750"/>
          </a:xfrm>
          <a:prstGeom prst="roundRect">
            <a:avLst>
              <a:gd name="adj" fmla="val 12105"/>
            </a:avLst>
          </a:prstGeom>
          <a:solidFill>
            <a:srgbClr val="F9E9E7"/>
          </a:solidFill>
          <a:ln w="13335">
            <a:solidFill>
              <a:srgbClr val="B4484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400800" y="3933825"/>
            <a:ext cx="20097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51%</a:t>
            </a:r>
            <a:endParaRPr sz="3225" b="1">
              <a:solidFill>
                <a:srgbClr val="B4484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400800" y="4591050"/>
            <a:ext cx="20097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遇到至少一种负面后果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81750" y="50863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近三分之一提到 AI 不准确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829675" y="3724275"/>
            <a:ext cx="2428875" cy="1809750"/>
          </a:xfrm>
          <a:prstGeom prst="roundRect">
            <a:avLst>
              <a:gd name="adj" fmla="val 12105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039225" y="3933825"/>
            <a:ext cx="20097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6%</a:t>
            </a:r>
            <a:endParaRPr sz="3225" b="1">
              <a:solidFill>
                <a:srgbClr val="7436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039225" y="4591050"/>
            <a:ext cx="20097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被归为 AI 高绩效组织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020175" y="50863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更重视流程重构与规模化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62000" y="5791200"/>
            <a:ext cx="10668000" cy="485775"/>
          </a:xfrm>
          <a:prstGeom prst="roundRect">
            <a:avLst>
              <a:gd name="adj" fmla="val 27451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09650" y="5915025"/>
            <a:ext cx="10172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结论：真正的竞争点不是“接入模型”，而是把 AI 嵌入业务流程并形成可控执行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81050" y="63341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6E635E"/>
                </a:solidFill>
              </a:defRPr>
            </a:pPr>
            <a:r>
              <a:rPr sz="900" b="0">
                <a:solidFill>
                  <a:srgbClr val="6E635E"/>
                </a:solidFill>
              </a:rPr>
              <a:t>数据来源：McKinsey《The state of AI in 2025》（2025，n=1,993，覆盖 105 个国家）</a:t>
            </a:r>
            <a:endParaRPr sz="9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主流 ERP 的 AI：从“助手”走向业务智能体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ERP × AI · 2026</a:t>
            </a:r>
            <a:endParaRPr sz="975" b="1">
              <a:solidFill>
                <a:srgbClr val="E8D9DD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917" y="1352550"/>
            <a:ext cx="9076267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2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主流 ERP 的 AI：从“助手”走向业务智能体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825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ERP × AI · 2026</a:t>
            </a:r>
            <a:endParaRPr sz="975" b="1">
              <a:solidFill>
                <a:srgbClr val="E8D9DD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40485"/>
            <a:ext cx="12192000" cy="5424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最终选型：采用 LangGraph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09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514475"/>
            <a:ext cx="581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为什么选择 LangGraph 作为主框架？</a:t>
            </a:r>
            <a:endParaRPr sz="1950" b="1">
              <a:solidFill>
                <a:srgbClr val="74364A"/>
              </a:solidFill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857250" y="211455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1717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28750" y="215265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流程清晰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57500" y="2152650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审批、日报都需要明确的业务阶段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857250" y="282892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8860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28750" y="2867025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状态可控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2867025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支持多轮对话、暂停、恢复和人工确认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857250" y="354330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36004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28750" y="358140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便于排查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57500" y="3581400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Checkpointer </a:t>
            </a:r>
            <a:r>
              <a:rPr sz="1350" b="0">
                <a:solidFill>
                  <a:srgbClr val="6E635E"/>
                </a:solidFill>
              </a:rPr>
              <a:t>自动保存完整状态快照。用 </a:t>
            </a:r>
            <a:r>
              <a:rPr sz="1350" b="0">
                <a:solidFill>
                  <a:srgbClr val="6E635E"/>
                </a:solidFill>
              </a:rPr>
              <a:t>stream </a:t>
            </a:r>
            <a:r>
              <a:rPr sz="1350" b="0">
                <a:solidFill>
                  <a:srgbClr val="6E635E"/>
                </a:solidFill>
              </a:rPr>
              <a:t>看每一步节点的输入输出、状态增量更新。可视化的工具。</a:t>
            </a:r>
            <a:r>
              <a:rPr sz="1350" b="0">
                <a:solidFill>
                  <a:srgbClr val="6E635E"/>
                </a:solidFill>
              </a:rPr>
              <a:t>可以观察节点路径、状态变化和失败位置</a:t>
            </a:r>
            <a:r>
              <a:rPr sz="1350" b="0">
                <a:solidFill>
                  <a:srgbClr val="6E635E"/>
                </a:solidFill>
              </a:rPr>
              <a:t>。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839470" y="465328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9470" y="471043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410970" y="469138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适配 ERP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39720" y="4691380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更容易承载动态字段、校验和提交闸门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172325" y="1857375"/>
            <a:ext cx="4124325" cy="3324225"/>
          </a:xfrm>
          <a:prstGeom prst="roundRect">
            <a:avLst>
              <a:gd name="adj" fmla="val 7736"/>
            </a:avLst>
          </a:prstGeom>
          <a:solidFill>
            <a:srgbClr val="EAF3EC"/>
          </a:solidFill>
          <a:ln w="15240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7477125" y="21526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最终分工</a:t>
            </a:r>
            <a:endParaRPr sz="1875" b="1">
              <a:solidFill>
                <a:srgbClr val="3E755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86650" y="276225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LangChain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72550" y="276225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基础组件：模型、Prompt、Tool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86650" y="3400425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LangGraph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72550" y="3400425"/>
            <a:ext cx="2047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3E7551"/>
                </a:solidFill>
              </a:defRPr>
            </a:pPr>
            <a:r>
              <a:rPr sz="1275" b="1">
                <a:solidFill>
                  <a:srgbClr val="3E7551"/>
                </a:solidFill>
              </a:rPr>
              <a:t>主框架：ERP 流程、状态、人工确认</a:t>
            </a:r>
            <a:endParaRPr sz="1275" b="1">
              <a:solidFill>
                <a:srgbClr val="3E755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86650" y="411480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Deep Agents</a:t>
            </a:r>
            <a:endParaRPr sz="1500" b="1">
              <a:solidFill>
                <a:srgbClr val="BF7326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72550" y="4114800"/>
            <a:ext cx="2047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探索方向：自主规划、复杂任务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71525" y="5743575"/>
            <a:ext cx="10658475" cy="514350"/>
          </a:xfrm>
          <a:prstGeom prst="roundRect">
            <a:avLst>
              <a:gd name="adj" fmla="val 27778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66800" y="5876925"/>
            <a:ext cx="10048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结论：不是放弃</a:t>
            </a:r>
            <a:r>
              <a:rPr lang="en-US" sz="1650" b="1">
                <a:solidFill>
                  <a:srgbClr val="FFFFFF"/>
                </a:solidFill>
              </a:rPr>
              <a:t>Deep</a:t>
            </a:r>
            <a:r>
              <a:rPr sz="1650" b="1">
                <a:solidFill>
                  <a:srgbClr val="FFFFFF"/>
                </a:solidFill>
              </a:rPr>
              <a:t> Agent，而是先用 LangGraph 把 ERP 业务底座做稳</a:t>
            </a:r>
            <a:endParaRPr sz="16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三层关系：基础组件、运行时与 Agent 套件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07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49542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不是三套互相替代的框架，而是不同层级的能力组合</a:t>
            </a:r>
            <a:endParaRPr sz="1875" b="1">
              <a:solidFill>
                <a:srgbClr val="282523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2063750" y="1857375"/>
            <a:ext cx="8011795" cy="1260475"/>
          </a:xfrm>
          <a:prstGeom prst="roundRect">
            <a:avLst>
              <a:gd name="adj" fmla="val 22727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2428875" y="2343150"/>
            <a:ext cx="733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Deep Agents  ·  应用层 / Agent Harness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14625" y="2695575"/>
            <a:ext cx="676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F2E5E8"/>
                </a:solidFill>
              </a:defRPr>
            </a:pPr>
            <a:r>
              <a:rPr sz="1200" b="0">
                <a:solidFill>
                  <a:srgbClr val="F2E5E8"/>
                </a:solidFill>
              </a:rPr>
              <a:t>LangGraph </a:t>
            </a:r>
            <a:r>
              <a:rPr sz="1200" b="0">
                <a:solidFill>
                  <a:srgbClr val="F2E5E8"/>
                </a:solidFill>
              </a:rPr>
              <a:t>之上做高度业务封装，内置一堆中间件。</a:t>
            </a:r>
            <a:r>
              <a:rPr sz="1200" b="0">
                <a:solidFill>
                  <a:srgbClr val="F2E5E8"/>
                </a:solidFill>
              </a:rPr>
              <a:t>提供任务规划、子智能体、文件与长任务等高</a:t>
            </a:r>
            <a:r>
              <a:rPr sz="1200" b="0">
                <a:solidFill>
                  <a:srgbClr val="F2E5E8"/>
                </a:solidFill>
              </a:rPr>
              <a:t>，</a:t>
            </a:r>
            <a:r>
              <a:rPr sz="1200" b="0">
                <a:solidFill>
                  <a:srgbClr val="F2E5E8"/>
                </a:solidFill>
              </a:rPr>
              <a:t>流转逻辑是黑盒 </a:t>
            </a:r>
            <a:r>
              <a:rPr sz="1200" b="0">
                <a:solidFill>
                  <a:srgbClr val="F2E5E8"/>
                </a:solidFill>
              </a:rPr>
              <a:t>ReAct </a:t>
            </a:r>
            <a:r>
              <a:rPr sz="1200" b="0">
                <a:solidFill>
                  <a:srgbClr val="F2E5E8"/>
                </a:solidFill>
              </a:rPr>
              <a:t>循环</a:t>
            </a:r>
            <a:r>
              <a:rPr sz="1200" b="0">
                <a:solidFill>
                  <a:srgbClr val="F2E5E8"/>
                </a:solidFill>
              </a:rPr>
              <a:t>级能力</a:t>
            </a:r>
            <a:r>
              <a:rPr sz="1200" b="0">
                <a:solidFill>
                  <a:srgbClr val="F2E5E8"/>
                </a:solidFill>
              </a:rPr>
              <a:t>，</a:t>
            </a:r>
            <a:r>
              <a:rPr sz="1200" b="0">
                <a:solidFill>
                  <a:srgbClr val="F2E5E8"/>
                </a:solidFill>
              </a:rPr>
              <a:t>state</a:t>
            </a:r>
            <a:r>
              <a:rPr sz="1200" b="0">
                <a:solidFill>
                  <a:srgbClr val="F2E5E8"/>
                </a:solidFill>
              </a:rPr>
              <a:t>被框架</a:t>
            </a:r>
            <a:r>
              <a:rPr sz="1200" b="0">
                <a:solidFill>
                  <a:srgbClr val="F2E5E8"/>
                </a:solidFill>
              </a:rPr>
              <a:t>接管</a:t>
            </a:r>
            <a:endParaRPr sz="1200" b="0">
              <a:solidFill>
                <a:srgbClr val="F2E5E8"/>
              </a:solidFill>
            </a:endParaRPr>
          </a:p>
        </p:txBody>
      </p:sp>
      <p:sp>
        <p:nvSpPr>
          <p:cNvPr id="9" name="下箭头 8"/>
          <p:cNvSpPr>
            <a:spLocks noGrp="1"/>
          </p:cNvSpPr>
          <p:nvPr/>
        </p:nvSpPr>
        <p:spPr>
          <a:xfrm>
            <a:off x="5867400" y="3141345"/>
            <a:ext cx="457200" cy="361950"/>
          </a:xfrm>
          <a:prstGeom prst="down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619750" y="34575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  <a:endParaRPr sz="1200" b="0">
              <a:solidFill>
                <a:srgbClr val="A66C6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095500" y="3705225"/>
            <a:ext cx="8001000" cy="838200"/>
          </a:xfrm>
          <a:prstGeom prst="roundRect">
            <a:avLst>
              <a:gd name="adj" fmla="val 22727"/>
            </a:avLst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2428875" y="3962400"/>
            <a:ext cx="733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LangGraph  ·  运行时 / Agent Runtime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14625" y="4314825"/>
            <a:ext cx="676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F8EDEE"/>
                </a:solidFill>
              </a:defRPr>
            </a:pPr>
            <a:r>
              <a:rPr sz="1200" b="0">
                <a:solidFill>
                  <a:srgbClr val="F8EDEE"/>
                </a:solidFill>
              </a:rPr>
              <a:t>状态图编排框架，额外封装了「</a:t>
            </a:r>
            <a:r>
              <a:rPr sz="1200" b="0">
                <a:solidFill>
                  <a:srgbClr val="F8EDEE"/>
                </a:solidFill>
              </a:rPr>
              <a:t>state</a:t>
            </a:r>
            <a:r>
              <a:rPr sz="1200" b="0">
                <a:solidFill>
                  <a:srgbClr val="F8EDEE"/>
                </a:solidFill>
              </a:rPr>
              <a:t>、</a:t>
            </a:r>
            <a:r>
              <a:rPr sz="1200" b="0">
                <a:solidFill>
                  <a:srgbClr val="F8EDEE"/>
                </a:solidFill>
              </a:rPr>
              <a:t>循环、分支、状态持久化、中断、回溯</a:t>
            </a:r>
            <a:r>
              <a:t>、</a:t>
            </a:r>
            <a:r>
              <a:rPr sz="1200" b="0">
                <a:solidFill>
                  <a:srgbClr val="F8EDEE"/>
                </a:solidFill>
              </a:rPr>
              <a:t>多 </a:t>
            </a:r>
            <a:r>
              <a:rPr sz="1200" b="0">
                <a:solidFill>
                  <a:srgbClr val="F8EDEE"/>
                </a:solidFill>
              </a:rPr>
              <a:t>Agent、</a:t>
            </a:r>
            <a:r>
              <a:rPr sz="1200" b="0">
                <a:solidFill>
                  <a:srgbClr val="F8EDEE"/>
                </a:solidFill>
              </a:rPr>
              <a:t>事件流」</a:t>
            </a:r>
            <a:endParaRPr sz="1200" b="0">
              <a:solidFill>
                <a:srgbClr val="F8EDEE"/>
              </a:solidFill>
            </a:endParaRPr>
          </a:p>
        </p:txBody>
      </p:sp>
      <p:sp>
        <p:nvSpPr>
          <p:cNvPr id="14" name="下箭头 13"/>
          <p:cNvSpPr>
            <a:spLocks noGrp="1"/>
          </p:cNvSpPr>
          <p:nvPr/>
        </p:nvSpPr>
        <p:spPr>
          <a:xfrm>
            <a:off x="5867400" y="4629150"/>
            <a:ext cx="457200" cy="361950"/>
          </a:xfrm>
          <a:prstGeom prst="down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619750" y="49720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  <a:endParaRPr sz="1200" b="0">
              <a:solidFill>
                <a:srgbClr val="A66C6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095500" y="5324475"/>
            <a:ext cx="8001000" cy="838200"/>
          </a:xfrm>
          <a:prstGeom prst="roundRect">
            <a:avLst>
              <a:gd name="adj" fmla="val 22727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2428875" y="5581650"/>
            <a:ext cx="733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5D293B"/>
                </a:solidFill>
              </a:defRPr>
            </a:pPr>
            <a:r>
              <a:rPr sz="1875" b="1">
                <a:solidFill>
                  <a:srgbClr val="5D293B"/>
                </a:solidFill>
              </a:rPr>
              <a:t>LangChain  ·  基础层 / Agent Framework</a:t>
            </a:r>
            <a:endParaRPr sz="1875" b="1">
              <a:solidFill>
                <a:srgbClr val="5D293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14625" y="5934075"/>
            <a:ext cx="676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组件库，</a:t>
            </a:r>
            <a:r>
              <a:rPr sz="1200" b="0">
                <a:solidFill>
                  <a:srgbClr val="6E635E"/>
                </a:solidFill>
              </a:rPr>
              <a:t>（Prompt、LLM、Chain、Tool、Document、Retriever），</a:t>
            </a:r>
            <a:r>
              <a:rPr sz="1200" b="0">
                <a:solidFill>
                  <a:srgbClr val="6E635E"/>
                </a:solidFill>
              </a:rPr>
              <a:t>只负责单步 / 串行调用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" name="矩形 54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核心对比：ERP 场景更看重可控执行与状态管理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08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1581150"/>
            <a:ext cx="2000250" cy="57150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173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维度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524125" y="1581150"/>
            <a:ext cx="2571750" cy="57150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619375" y="1733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LangChain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95875" y="1581150"/>
            <a:ext cx="2571750" cy="57150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191125" y="1733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LangGraph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67625" y="1581150"/>
            <a:ext cx="2571750" cy="57150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762875" y="1733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Deep Agents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3875" y="2152650"/>
            <a:ext cx="20002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8175" y="234315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定位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24125" y="21526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638425" y="23431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基础开发框架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95875" y="21526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10175" y="23431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状态图运行时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67625" y="21526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781925" y="23431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高级 Agent 套件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3875" y="2895600"/>
            <a:ext cx="2000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8175" y="308610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控制流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524125" y="28956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638425" y="30861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链式调用为主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095875" y="28956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210175" y="30861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显式状态图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67625" y="28956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781925" y="30861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自主规划 + 工具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23875" y="3638550"/>
            <a:ext cx="20002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38175" y="382905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持久化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524125" y="36385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638425" y="38290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需自行组合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095875" y="36385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210175" y="38290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原生支持检查点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667625" y="36385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781925" y="38290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构建在 LangGraph 上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23875" y="4381500"/>
            <a:ext cx="2000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38175" y="457200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人工干预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524125" y="43815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638425" y="45720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需自行实现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095875" y="43815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210175" y="45720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interrupt / resume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667625" y="43815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781925" y="45720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支持危险工具中断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23875" y="5124450"/>
            <a:ext cx="20002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38175" y="531495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适合任务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524125" y="51244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638425" y="53149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简单问答、原型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095875" y="51244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210175" y="53149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审批、业务流程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667625" y="51244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781925" y="53149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长任务、复杂研究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781050" y="6019800"/>
            <a:ext cx="10629900" cy="400050"/>
          </a:xfrm>
          <a:prstGeom prst="roundRect">
            <a:avLst>
              <a:gd name="adj" fmla="val 28571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38225" y="6115050"/>
            <a:ext cx="1011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5D293B"/>
                </a:solidFill>
              </a:defRPr>
            </a:pPr>
            <a:endParaRPr sz="1350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聊天发起审批：用户只描述需求，助手完成流程引导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10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4859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用户体验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9150" y="2057400"/>
            <a:ext cx="3619500" cy="609600"/>
          </a:xfrm>
          <a:prstGeom prst="roundRect">
            <a:avLst>
              <a:gd name="adj" fmla="val 31250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2200275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657350" y="2895600"/>
            <a:ext cx="2895600" cy="552450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866900" y="30384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3695700"/>
            <a:ext cx="1771650" cy="533400"/>
          </a:xfrm>
          <a:prstGeom prst="roundRect">
            <a:avLst>
              <a:gd name="adj" fmla="val 35714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383857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调休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571625" y="4457700"/>
            <a:ext cx="3333750" cy="628650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781175" y="4600575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审批预览已生成，确认后提交。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886450" y="1485900"/>
            <a:ext cx="381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助手完成的四件事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5905500" y="209550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05500" y="21526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57950" y="208597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识别审批模板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57950" y="239077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结合用户身份和当前公司配置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5905500" y="295275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905500" y="30099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94322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动态补充信息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57950" y="324802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按实际表单追问日期、时长、原因等字段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5905500" y="381000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05500" y="38671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57950" y="380047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应用 ERP 流程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457950" y="410527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校验字段，并获取真实审批节点与办理人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5905500" y="466725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905500" y="47244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457950" y="465772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预览后提交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57950" y="496252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用户明确确认，才执行最终写入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62000" y="5724525"/>
            <a:ext cx="10620375" cy="533400"/>
          </a:xfrm>
          <a:prstGeom prst="roundRect">
            <a:avLst>
              <a:gd name="adj" fmla="val 26786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57275" y="5867400"/>
            <a:ext cx="100298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5D293B"/>
                </a:solidFill>
              </a:defRPr>
            </a:pPr>
            <a:r>
              <a:rPr sz="1650" b="1">
                <a:solidFill>
                  <a:srgbClr val="5D293B"/>
                </a:solidFill>
              </a:rPr>
              <a:t>核心价值：用户不必先理解 ERP 表单，系统仍然遵守原有审批规则</a:t>
            </a:r>
            <a:endParaRPr sz="1650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审批最难的不是聊天，而是适配动态配置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11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504950"/>
            <a:ext cx="6667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82523"/>
                </a:solidFill>
              </a:defRPr>
            </a:pPr>
            <a:r>
              <a:rPr sz="1950" b="1">
                <a:solidFill>
                  <a:srgbClr val="282523"/>
                </a:solidFill>
              </a:rPr>
              <a:t>同一个“请假”，不同公司可能完全不同</a:t>
            </a:r>
            <a:endParaRPr sz="1950" b="1">
              <a:solidFill>
                <a:srgbClr val="282523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2085975"/>
            <a:ext cx="4286250" cy="2667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4288">
            <a:solidFill>
              <a:srgbClr val="3E755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3336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公司 A</a:t>
            </a:r>
            <a:endParaRPr sz="1875" b="1">
              <a:solidFill>
                <a:srgbClr val="3E7551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04900" y="293370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23975" y="2857500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请假类型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04900" y="33623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23975" y="3286125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开始 / 结束时间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04900" y="37909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23975" y="3714750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请假事由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04900" y="42195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23975" y="4143375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审批人自动匹配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124700" y="2085975"/>
            <a:ext cx="4286250" cy="2667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4288">
            <a:solidFill>
              <a:srgbClr val="BF73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10450" y="23336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公司 B</a:t>
            </a:r>
            <a:endParaRPr sz="1875" b="1">
              <a:solidFill>
                <a:srgbClr val="BF7326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448550" y="293370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67625" y="2857500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假期余额规则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448550" y="33623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67625" y="3286125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日期时间 + 时长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448550" y="37909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667625" y="3714750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交接人员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7448550" y="42195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67625" y="4143375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发起人选择审批人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5429250" y="3133725"/>
            <a:ext cx="1333500" cy="419100"/>
          </a:xfrm>
          <a:prstGeom prst="right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467350" y="36385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不能写死</a:t>
            </a:r>
            <a:endParaRPr sz="1350" b="1">
              <a:solidFill>
                <a:srgbClr val="A66C6B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81050" y="5238750"/>
            <a:ext cx="3257550" cy="857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A66C6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62025" y="54102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ERP</a:t>
            </a:r>
            <a:endParaRPr sz="1425" b="1">
              <a:solidFill>
                <a:srgbClr val="7436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971675" y="5400675"/>
            <a:ext cx="1857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定义模板、字段和审批流程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352925" y="5238750"/>
            <a:ext cx="3257550" cy="857250"/>
          </a:xfrm>
          <a:prstGeom prst="roundRect">
            <a:avLst>
              <a:gd name="adj" fmla="val 20000"/>
            </a:avLst>
          </a:prstGeom>
          <a:solidFill>
            <a:srgbClr val="E9DCC9"/>
          </a:solidFill>
          <a:ln w="11430">
            <a:solidFill>
              <a:srgbClr val="A66C6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533900" y="54102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AI</a:t>
            </a:r>
            <a:endParaRPr sz="1425" b="1">
              <a:solidFill>
                <a:srgbClr val="74364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543550" y="5400675"/>
            <a:ext cx="1857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理解用户表达并提取信息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924800" y="5238750"/>
            <a:ext cx="3257550" cy="857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A66C6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105775" y="54102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聊天助手</a:t>
            </a:r>
            <a:endParaRPr sz="1425" b="1">
              <a:solidFill>
                <a:srgbClr val="74364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15425" y="5400675"/>
            <a:ext cx="1857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动态追问、校验、预览</a:t>
            </a:r>
            <a:endParaRPr sz="127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标准日报助手：固定流程优先保证稳定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12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04850" y="1504950"/>
            <a:ext cx="4048125" cy="390525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09650" y="17907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典型对话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28700" y="2343150"/>
            <a:ext cx="3276600" cy="857250"/>
          </a:xfrm>
          <a:prstGeom prst="roundRect">
            <a:avLst>
              <a:gd name="adj" fmla="val 22222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486025"/>
            <a:ext cx="285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466850" y="3467100"/>
            <a:ext cx="2934335" cy="6921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1676400" y="3609975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已加载今天的日报配置和草稿。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466850" y="4286250"/>
            <a:ext cx="2933700" cy="5715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676400" y="4429125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预览已生成，请确认提交。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86400" y="15049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稳定执行链路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5562600" y="202882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62600" y="20859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15050" y="200977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加载上下文</a:t>
            </a:r>
            <a:endParaRPr sz="1500" b="1">
              <a:solidFill>
                <a:srgbClr val="2825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29575" y="20288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字段、配置、草稿、同步数据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5562600" y="277177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562600" y="28289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15050" y="275272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补充内容</a:t>
            </a:r>
            <a:endParaRPr sz="1500" b="1">
              <a:solidFill>
                <a:srgbClr val="28252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29575" y="27717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日期与工作内容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5562600" y="351472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62600" y="35718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15050" y="349567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保存草稿</a:t>
            </a:r>
            <a:endParaRPr sz="1500" b="1">
              <a:solidFill>
                <a:srgbClr val="28252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29575" y="35147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保留 ERP 原始业务字段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5562600" y="425767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562600" y="43148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115050" y="423862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生成预览</a:t>
            </a:r>
            <a:endParaRPr sz="1500" b="1">
              <a:solidFill>
                <a:srgbClr val="2825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29575" y="42576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展示接收人、抄送人和自定义字段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5562600" y="5000625"/>
            <a:ext cx="400050" cy="4000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562600" y="50577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115050" y="498157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确认提交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29575" y="50006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明确确认后才写入 ERP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04850" y="5724525"/>
            <a:ext cx="10706100" cy="533400"/>
          </a:xfrm>
          <a:prstGeom prst="roundRect">
            <a:avLst>
              <a:gd name="adj" fmla="val 26786"/>
            </a:avLst>
          </a:prstGeom>
          <a:solidFill>
            <a:srgbClr val="EAF3EC"/>
          </a:solidFill>
          <a:ln w="10478">
            <a:solidFill>
              <a:srgbClr val="3E755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19175" y="5867400"/>
            <a:ext cx="1007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适合步骤明确、提交风险较高、需要持续恢复的业务流程</a:t>
            </a:r>
            <a:endParaRPr sz="1650" b="1">
              <a:solidFill>
                <a:srgbClr val="3E755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自主日报助手：让 Agent 决定下一步做什么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CREATE AGENT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13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581150"/>
            <a:ext cx="4361180" cy="3859530"/>
          </a:xfrm>
          <a:prstGeom prst="roundRect">
            <a:avLst>
              <a:gd name="adj" fmla="val 7311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88595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输入不再要求固定格式</a:t>
            </a:r>
            <a:endParaRPr sz="1950" b="1">
              <a:solidFill>
                <a:srgbClr val="BF7326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66800" y="2543175"/>
            <a:ext cx="3429000" cy="628650"/>
          </a:xfrm>
          <a:prstGeom prst="roundRect">
            <a:avLst>
              <a:gd name="adj" fmla="val 30303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276350" y="268605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把今天的客户跟进整理成日报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35814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Agent 自主判断</a:t>
            </a:r>
            <a:endParaRPr sz="1650" b="1">
              <a:solidFill>
                <a:srgbClr val="BF7326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04900" y="400050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23975" y="3924300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先确认日期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04900" y="43529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23975" y="4276725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需要加载哪些 ERP 数据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04900" y="47053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23975" y="4629150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是否继续追问内容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04900" y="50577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23975" y="4981575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何时生成预览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5324475" y="3057525"/>
            <a:ext cx="704850" cy="400050"/>
          </a:xfrm>
          <a:prstGeom prst="right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29350" y="1581150"/>
            <a:ext cx="5219700" cy="3648075"/>
          </a:xfrm>
          <a:prstGeom prst="roundRect">
            <a:avLst>
              <a:gd name="adj" fmla="val 7311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6591300" y="1885950"/>
            <a:ext cx="1714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能力提升</a:t>
            </a:r>
            <a:endParaRPr sz="1950" b="1">
              <a:solidFill>
                <a:srgbClr val="3E7551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648450" y="25241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67525" y="2447925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适应更自然、更开放的用户表达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648450" y="31051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67525" y="3028950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减少固定流程中的人工分支设计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648450" y="36861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67525" y="3609975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可按上下文自主调用日报工具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91300" y="4095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B44842"/>
                </a:solidFill>
              </a:defRPr>
            </a:pPr>
            <a:r>
              <a:rPr sz="1725" b="1">
                <a:solidFill>
                  <a:srgbClr val="B44842"/>
                </a:solidFill>
              </a:rPr>
              <a:t>仍需保留的边界</a:t>
            </a:r>
            <a:endParaRPr sz="1725" b="1">
              <a:solidFill>
                <a:srgbClr val="B4484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38925" y="4533900"/>
            <a:ext cx="421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不允许编造内容 · 不允许跳过预览 · 不允许自动提交</a:t>
            </a:r>
            <a:endParaRPr sz="1425" b="1">
              <a:solidFill>
                <a:srgbClr val="B44842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52475" y="5715000"/>
            <a:ext cx="10629900" cy="542925"/>
          </a:xfrm>
          <a:prstGeom prst="roundRect">
            <a:avLst>
              <a:gd name="adj" fmla="val 26316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47750" y="5857875"/>
            <a:ext cx="100393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适合作为能力探索：灵活性更高，但执行顺序与异常恢复更依赖约束</a:t>
            </a:r>
            <a:endParaRPr sz="1575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Agentic Workflow：把自主规划与流程闸门组合起来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14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504950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Agent 负责开放性工作</a:t>
            </a:r>
            <a:endParaRPr sz="1875" b="1">
              <a:solidFill>
                <a:srgbClr val="BF732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0" y="1504950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Workflow 负责确定性边界</a:t>
            </a:r>
            <a:endParaRPr sz="1875" b="1">
              <a:solidFill>
                <a:srgbClr val="3E755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2152650"/>
            <a:ext cx="4171950" cy="781050"/>
          </a:xfrm>
          <a:prstGeom prst="roundRect">
            <a:avLst>
              <a:gd name="adj" fmla="val 23171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227647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理解目标</a:t>
            </a:r>
            <a:endParaRPr sz="1575" b="1">
              <a:solidFill>
                <a:srgbClr val="BF732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33625" y="22860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识别用户要写什么日报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209925"/>
            <a:ext cx="4171950" cy="781050"/>
          </a:xfrm>
          <a:prstGeom prst="roundRect">
            <a:avLst>
              <a:gd name="adj" fmla="val 23171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3337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制定计划</a:t>
            </a:r>
            <a:endParaRPr sz="1575" b="1">
              <a:solidFill>
                <a:srgbClr val="BF73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33625" y="334327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明确需要哪些上下文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76300" y="4267200"/>
            <a:ext cx="4171950" cy="781050"/>
          </a:xfrm>
          <a:prstGeom prst="roundRect">
            <a:avLst>
              <a:gd name="adj" fmla="val 23171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439102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整理内容</a:t>
            </a:r>
            <a:endParaRPr sz="1575" b="1">
              <a:solidFill>
                <a:srgbClr val="BF732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33625" y="44005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结合用户输入生成正文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5457825" y="3209925"/>
            <a:ext cx="1047750" cy="428625"/>
          </a:xfrm>
          <a:prstGeom prst="right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400675" y="3714750"/>
            <a:ext cx="1143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A66C6B"/>
                </a:solidFill>
              </a:defRPr>
            </a:pPr>
            <a:r>
              <a:rPr sz="1275" b="1">
                <a:solidFill>
                  <a:srgbClr val="A66C6B"/>
                </a:solidFill>
              </a:rPr>
              <a:t>建议下一步</a:t>
            </a:r>
            <a:endParaRPr sz="1275" b="1">
              <a:solidFill>
                <a:srgbClr val="A66C6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162800" y="2057400"/>
            <a:ext cx="4171950" cy="647700"/>
          </a:xfrm>
          <a:prstGeom prst="roundRect">
            <a:avLst>
              <a:gd name="adj" fmla="val 26471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00925" y="2152650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保存草稿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217170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由流程执行写入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162800" y="2924175"/>
            <a:ext cx="4171950" cy="647700"/>
          </a:xfrm>
          <a:prstGeom prst="roundRect">
            <a:avLst>
              <a:gd name="adj" fmla="val 26471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00925" y="3019425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生成预览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0" y="30384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展示完整业务信息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162800" y="3790950"/>
            <a:ext cx="4171950" cy="647700"/>
          </a:xfrm>
          <a:prstGeom prst="roundRect">
            <a:avLst>
              <a:gd name="adj" fmla="val 26471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00925" y="3886200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人工确认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667750" y="390525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暂停等待用户动作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162800" y="4657725"/>
            <a:ext cx="4171950" cy="647700"/>
          </a:xfrm>
          <a:prstGeom prst="roundRect">
            <a:avLst>
              <a:gd name="adj" fmla="val 26471"/>
            </a:avLst>
          </a:prstGeom>
          <a:solidFill>
            <a:srgbClr val="3E7551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00925" y="4752975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提交闸门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67750" y="477202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E5F0E8"/>
                </a:solidFill>
              </a:defRPr>
            </a:pPr>
            <a:r>
              <a:rPr sz="1275" b="0">
                <a:solidFill>
                  <a:srgbClr val="E5F0E8"/>
                </a:solidFill>
              </a:rPr>
              <a:t>确认后才允许执行</a:t>
            </a:r>
            <a:endParaRPr sz="1275" b="0">
              <a:solidFill>
                <a:srgbClr val="E5F0E8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95350" y="5819775"/>
            <a:ext cx="10429875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1430">
            <a:solidFill>
              <a:srgbClr val="A66C6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200150" y="5934075"/>
            <a:ext cx="98202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核心思路：让 Agent 提供灵活性，让 Workflow 保证业务安全</a:t>
            </a:r>
            <a:endParaRPr sz="1650" b="1">
              <a:solidFill>
                <a:srgbClr val="74364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" name="矩形 56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四种方案不是替代关系，而是按任务选择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15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1590675"/>
            <a:ext cx="1857375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1752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方案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81250" y="1590675"/>
            <a:ext cx="2714625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476500" y="1752600"/>
            <a:ext cx="252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适合场景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95875" y="1590675"/>
            <a:ext cx="1714500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191125" y="17526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可控性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10375" y="1590675"/>
            <a:ext cx="1714500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905625" y="17526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灵活性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24875" y="1590675"/>
            <a:ext cx="2476500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20125" y="1752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当前定位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3875" y="2181225"/>
            <a:ext cx="1857375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8175" y="2409825"/>
            <a:ext cx="16287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审批助手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381250" y="2181225"/>
            <a:ext cx="2714625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495550" y="2409825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动态审批、真实提交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95875" y="2181225"/>
            <a:ext cx="1714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10175" y="2409825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10375" y="2181225"/>
            <a:ext cx="1714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924675" y="2409825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24875" y="2181225"/>
            <a:ext cx="2476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639175" y="2409825"/>
            <a:ext cx="2247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3875" y="3048000"/>
            <a:ext cx="185737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38175" y="3276600"/>
            <a:ext cx="16287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标准日报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381250" y="3048000"/>
            <a:ext cx="271462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495550" y="3276600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步骤明确、风险较高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095875" y="3048000"/>
            <a:ext cx="1714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210175" y="327660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10375" y="3048000"/>
            <a:ext cx="1714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24675" y="327660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中低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524875" y="3048000"/>
            <a:ext cx="2476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639175" y="3276600"/>
            <a:ext cx="2247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23875" y="3914775"/>
            <a:ext cx="1857375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38175" y="4143375"/>
            <a:ext cx="16287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自主日报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381250" y="3914775"/>
            <a:ext cx="2714625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495550" y="4143375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输入开放、路径不固定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095875" y="3914775"/>
            <a:ext cx="1714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210175" y="4143375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810375" y="3914775"/>
            <a:ext cx="1714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924675" y="4143375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24875" y="3914775"/>
            <a:ext cx="2476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639175" y="4143375"/>
            <a:ext cx="2247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能力探索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23875" y="4781550"/>
            <a:ext cx="185737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38175" y="5010150"/>
            <a:ext cx="16287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Agentic Workflow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381250" y="4781550"/>
            <a:ext cx="271462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495550" y="5010150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复杂任务、需要安全闸门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095875" y="4781550"/>
            <a:ext cx="1714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210175" y="501015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810375" y="4781550"/>
            <a:ext cx="1714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924675" y="501015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524875" y="4781550"/>
            <a:ext cx="2476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639175" y="5010150"/>
            <a:ext cx="2247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演进方向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71525" y="5962650"/>
            <a:ext cx="123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选择原则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809750" y="5949315"/>
            <a:ext cx="919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执行和审批需要明确流程，理解、规划和生成更适合交给</a:t>
            </a:r>
            <a:r>
              <a:rPr sz="1500" b="0">
                <a:solidFill>
                  <a:srgbClr val="282523"/>
                </a:solidFill>
              </a:rPr>
              <a:t> Agent</a:t>
            </a:r>
            <a:r>
              <a:rPr sz="1500" b="0">
                <a:solidFill>
                  <a:srgbClr val="282523"/>
                </a:solidFill>
              </a:rPr>
              <a:t>。</a:t>
            </a:r>
            <a:endParaRPr sz="1500" b="0">
              <a:solidFill>
                <a:srgbClr val="28252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预期效果：聊天请假、聊天发日报，并且过程可控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16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04850" y="1533525"/>
            <a:ext cx="5210175" cy="337185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4288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09650" y="18097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聊天请假</a:t>
            </a:r>
            <a:endParaRPr sz="2025" b="1">
              <a:solidFill>
                <a:srgbClr val="3E755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19175" y="2400300"/>
            <a:ext cx="3143250" cy="552450"/>
          </a:xfrm>
          <a:prstGeom prst="roundRect">
            <a:avLst>
              <a:gd name="adj" fmla="val 34483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228725" y="2543175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19175" y="3248025"/>
            <a:ext cx="4400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识别模板 → 补充类型和时间 → 校验 → 预览 → 确认提交</a:t>
            </a:r>
            <a:endParaRPr sz="1575" b="1">
              <a:solidFill>
                <a:srgbClr val="2825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19175" y="4086225"/>
            <a:ext cx="4400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结果：用户无需寻找请假入口，也不必理解所有表单字段。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296025" y="1533525"/>
            <a:ext cx="5210175" cy="337185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4288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6600825" y="18097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聊天发日报</a:t>
            </a:r>
            <a:endParaRPr sz="2025" b="1">
              <a:solidFill>
                <a:srgbClr val="BF73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10350" y="2400300"/>
            <a:ext cx="3743325" cy="552450"/>
          </a:xfrm>
          <a:prstGeom prst="roundRect">
            <a:avLst>
              <a:gd name="adj" fmla="val 34483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819900" y="2543175"/>
            <a:ext cx="3324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整理今天客户跟进情况，生成日报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10350" y="3248025"/>
            <a:ext cx="4400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加载 ERP 上下文 → 整理内容 → 保存草稿 → 预览 → 确认提交</a:t>
            </a:r>
            <a:endParaRPr sz="1575" b="1">
              <a:solidFill>
                <a:srgbClr val="28252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10350" y="4086225"/>
            <a:ext cx="4400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结果：减少重复整理，同时保留接收人、自定义字段等业务信息。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680845" y="5369560"/>
            <a:ext cx="2466975" cy="866775"/>
          </a:xfrm>
          <a:prstGeom prst="roundRect">
            <a:avLst>
              <a:gd name="adj" fmla="val 18681"/>
            </a:avLst>
          </a:prstGeom>
          <a:solidFill>
            <a:srgbClr val="E9DCC9"/>
          </a:solidFill>
          <a:ln w="10478">
            <a:solidFill>
              <a:srgbClr val="C9B7A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795145" y="546481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个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623820" y="5521960"/>
            <a:ext cx="13620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核心业务场景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795145" y="5874385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 + 日报</a:t>
            </a:r>
            <a:endParaRPr sz="1050" b="0">
              <a:solidFill>
                <a:srgbClr val="6E635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839970" y="5387340"/>
            <a:ext cx="2466975" cy="866775"/>
          </a:xfrm>
          <a:prstGeom prst="roundRect">
            <a:avLst>
              <a:gd name="adj" fmla="val 18681"/>
            </a:avLst>
          </a:prstGeom>
          <a:solidFill>
            <a:srgbClr val="FCFAF6"/>
          </a:solidFill>
          <a:ln w="10478">
            <a:solidFill>
              <a:srgbClr val="C9B7A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4270" y="548259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4 种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782945" y="5539740"/>
            <a:ext cx="13620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工作流方案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54270" y="5892165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流程与 Agent 对比</a:t>
            </a:r>
            <a:endParaRPr sz="1050" b="0">
              <a:solidFill>
                <a:srgbClr val="6E635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61020" y="5334000"/>
            <a:ext cx="2466975" cy="866775"/>
          </a:xfrm>
          <a:prstGeom prst="roundRect">
            <a:avLst>
              <a:gd name="adj" fmla="val 18681"/>
            </a:avLst>
          </a:prstGeom>
          <a:solidFill>
            <a:srgbClr val="E9DCC9"/>
          </a:solidFill>
          <a:ln w="10478">
            <a:solidFill>
              <a:srgbClr val="C9B7A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275320" y="54292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类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03995" y="5486400"/>
            <a:ext cx="13620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写入确认闸门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275320" y="5838825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审批提交 + 日报提交</a:t>
            </a:r>
            <a:endParaRPr sz="105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遇到的问题：动态配置与流程状态叠加后迅速变复杂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18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42950" y="1571625"/>
            <a:ext cx="3324225" cy="1362075"/>
          </a:xfrm>
          <a:prstGeom prst="roundRect">
            <a:avLst>
              <a:gd name="adj" fmla="val 15385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81075" y="1724025"/>
            <a:ext cx="8477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1">
                <a:solidFill>
                  <a:srgbClr val="74364A"/>
                </a:solidFill>
              </a:defRPr>
            </a:pPr>
            <a:endParaRPr sz="3150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933575" y="1809750"/>
            <a:ext cx="1857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注册节点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81075" y="2352675"/>
            <a:ext cx="28479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顶层 9 + 审批 14 + 标准日报 10 + Agentic 7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62450" y="1571625"/>
            <a:ext cx="3324225" cy="1362075"/>
          </a:xfrm>
          <a:prstGeom prst="roundRect">
            <a:avLst>
              <a:gd name="adj" fmla="val 15385"/>
            </a:avLst>
          </a:prstGeom>
          <a:solidFill>
            <a:srgbClr val="F9E9E7"/>
          </a:solidFill>
          <a:ln w="13335">
            <a:solidFill>
              <a:srgbClr val="B4484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00575" y="1724025"/>
            <a:ext cx="8477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1">
                <a:solidFill>
                  <a:srgbClr val="B44842"/>
                </a:solidFill>
              </a:defRPr>
            </a:pPr>
            <a:endParaRPr sz="3150" b="1">
              <a:solidFill>
                <a:srgbClr val="B4484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31765" y="1809750"/>
            <a:ext cx="1857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审批复核路由</a:t>
            </a:r>
            <a:endParaRPr sz="1650" b="1">
              <a:solidFill>
                <a:srgbClr val="B4484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00575" y="2352675"/>
            <a:ext cx="28479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decision_review 需要处理 </a:t>
            </a:r>
            <a:r>
              <a:rPr sz="1125" b="0">
                <a:solidFill>
                  <a:srgbClr val="6E635E"/>
                </a:solidFill>
              </a:rPr>
              <a:t>多</a:t>
            </a:r>
            <a:r>
              <a:rPr sz="1125" b="0">
                <a:solidFill>
                  <a:srgbClr val="6E635E"/>
                </a:solidFill>
              </a:rPr>
              <a:t>类分支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981950" y="1571625"/>
            <a:ext cx="3324225" cy="1362075"/>
          </a:xfrm>
          <a:prstGeom prst="roundRect">
            <a:avLst>
              <a:gd name="adj" fmla="val 15385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220075" y="1724025"/>
            <a:ext cx="8477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1">
                <a:solidFill>
                  <a:srgbClr val="BF7326"/>
                </a:solidFill>
              </a:defRPr>
            </a:pPr>
            <a:endParaRPr sz="3150" b="1">
              <a:solidFill>
                <a:srgbClr val="BF732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03970" y="1809750"/>
            <a:ext cx="1857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日报恢复路线</a:t>
            </a:r>
            <a:endParaRPr sz="1650" b="1">
              <a:solidFill>
                <a:srgbClr val="BF732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20075" y="2352675"/>
            <a:ext cx="28479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interrupt_daily_report resume 后有 </a:t>
            </a:r>
            <a:r>
              <a:rPr sz="1125" b="0">
                <a:solidFill>
                  <a:srgbClr val="6E635E"/>
                </a:solidFill>
              </a:rPr>
              <a:t>很多</a:t>
            </a:r>
            <a:r>
              <a:rPr sz="1125" b="0">
                <a:solidFill>
                  <a:srgbClr val="6E635E"/>
                </a:solidFill>
              </a:rPr>
              <a:t>类去向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42950" y="3248025"/>
            <a:ext cx="5172075" cy="1066800"/>
          </a:xfrm>
          <a:prstGeom prst="roundRect">
            <a:avLst>
              <a:gd name="adj" fmla="val 17857"/>
            </a:avLst>
          </a:prstGeom>
          <a:solidFill>
            <a:srgbClr val="EAF3EC"/>
          </a:solidFill>
          <a:ln w="11430">
            <a:solidFill>
              <a:srgbClr val="3E755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81075" y="3409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3E7551"/>
                </a:solidFill>
              </a:defRPr>
            </a:pPr>
            <a:r>
              <a:rPr sz="1575" b="1">
                <a:solidFill>
                  <a:srgbClr val="3E7551"/>
                </a:solidFill>
              </a:rPr>
              <a:t>审批组件太多</a:t>
            </a:r>
            <a:endParaRPr sz="1575" b="1">
              <a:solidFill>
                <a:srgbClr val="3E755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19400" y="3409950"/>
            <a:ext cx="2819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字段、选项和审批规则都可能按公司动态配置。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76975" y="3248025"/>
            <a:ext cx="5172075" cy="1066800"/>
          </a:xfrm>
          <a:prstGeom prst="roundRect">
            <a:avLst>
              <a:gd name="adj" fmla="val 17857"/>
            </a:avLst>
          </a:prstGeom>
          <a:solidFill>
            <a:srgbClr val="F9E9E7"/>
          </a:solidFill>
          <a:ln w="11430">
            <a:solidFill>
              <a:srgbClr val="B4484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15100" y="3409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B44842"/>
                </a:solidFill>
              </a:defRPr>
            </a:pPr>
            <a:r>
              <a:rPr sz="1575" b="1">
                <a:solidFill>
                  <a:srgbClr val="B44842"/>
                </a:solidFill>
              </a:rPr>
              <a:t>if-else 持续增长</a:t>
            </a:r>
            <a:endParaRPr sz="1575" b="1">
              <a:solidFill>
                <a:srgbClr val="B4484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53425" y="3409950"/>
            <a:ext cx="2819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新建、继续、修改、取消、确认与字段缺失都要分流。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42950" y="4581525"/>
            <a:ext cx="5172075" cy="1066800"/>
          </a:xfrm>
          <a:prstGeom prst="roundRect">
            <a:avLst>
              <a:gd name="adj" fmla="val 17857"/>
            </a:avLst>
          </a:prstGeom>
          <a:solidFill>
            <a:srgbClr val="FFF1DF"/>
          </a:solidFill>
          <a:ln w="11430">
            <a:solidFill>
              <a:srgbClr val="BF73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81075" y="4743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状态相互影响</a:t>
            </a:r>
            <a:endParaRPr sz="1575" b="1">
              <a:solidFill>
                <a:srgbClr val="BF7326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19400" y="4743450"/>
            <a:ext cx="2819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多轮对话、人工中断、恢复和重复提交需要协同。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276975" y="4581525"/>
            <a:ext cx="5172075" cy="1066800"/>
          </a:xfrm>
          <a:prstGeom prst="roundRect">
            <a:avLst>
              <a:gd name="adj" fmla="val 17857"/>
            </a:avLst>
          </a:prstGeom>
          <a:solidFill>
            <a:srgbClr val="F3E8E5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515100" y="4743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故障定位困难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53425" y="4743450"/>
            <a:ext cx="2819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需要区分模型、路由、状态恢复与 ERP 接口问题。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62000" y="6000750"/>
            <a:ext cx="10668000" cy="419100"/>
          </a:xfrm>
          <a:prstGeom prst="roundRect">
            <a:avLst>
              <a:gd name="adj" fmla="val 27273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90600" y="6105525"/>
            <a:ext cx="1021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根本原因：动态配置 × 多轮对话 × 状态流转 × ERP 写入风险同时叠加</a:t>
            </a:r>
            <a:endParaRPr sz="15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本次未处理：可信性与运行治理仍需补齐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17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33425" y="1533525"/>
            <a:ext cx="5010150" cy="3257550"/>
          </a:xfrm>
          <a:prstGeom prst="roundRect">
            <a:avLst>
              <a:gd name="adj" fmla="val 7895"/>
            </a:avLst>
          </a:prstGeom>
          <a:solidFill>
            <a:srgbClr val="EAF3EC"/>
          </a:solidFill>
          <a:ln w="14288">
            <a:solidFill>
              <a:srgbClr val="3E755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57275" y="1819275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可信性边界</a:t>
            </a:r>
            <a:endParaRPr sz="1950" b="1">
              <a:solidFill>
                <a:srgbClr val="3E7551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104900" y="25241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23975" y="24479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记忆只保留会话状态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104900" y="29813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23975" y="29051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业务事实实时查询 ERP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104900" y="34385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23975" y="33623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权限以当前用户为准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104900" y="38957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23975" y="38195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字段与客户信息禁止编造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104900" y="43529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23975" y="42767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关键写入必须预览确认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48425" y="1533525"/>
            <a:ext cx="5010150" cy="3257550"/>
          </a:xfrm>
          <a:prstGeom prst="roundRect">
            <a:avLst>
              <a:gd name="adj" fmla="val 7895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772275" y="1819275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可观测与运行时治理</a:t>
            </a:r>
            <a:endParaRPr sz="1950" b="1">
              <a:solidFill>
                <a:srgbClr val="BF7326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6819900" y="25241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38975" y="24479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Trace 记录节点与路由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819900" y="29813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038975" y="29051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日志记录 Tool 参数与结果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819900" y="34385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38975" y="33623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指标监控延迟与成功率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19900" y="38957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038975" y="38195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评测覆盖幻觉与权限越界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819900" y="43529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38975" y="42767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Runtime 提供超时、重试、降级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52197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后续优化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81050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记忆分层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3495675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590925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证据引用与校验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210300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305550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LangSmith 全链路观测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924925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020175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 Runtime 治理</a:t>
            </a:r>
            <a:endParaRPr sz="13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问题排查：需要从“看结果”升级为“看完整链路”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19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71525" y="15049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一次请求可能同时经过四类环节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790825" y="2771775"/>
            <a:ext cx="619125" cy="3238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5600700" y="2771775"/>
            <a:ext cx="619125" cy="3238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8410575" y="2771775"/>
            <a:ext cx="619125" cy="3238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2143125"/>
            <a:ext cx="2190750" cy="1666875"/>
          </a:xfrm>
          <a:prstGeom prst="roundRect">
            <a:avLst>
              <a:gd name="adj" fmla="val 12571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模型理解</a:t>
            </a:r>
            <a:endParaRPr sz="1650" b="1">
              <a:solidFill>
                <a:srgbClr val="BF732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9241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意图是否识别正确？</a:t>
            </a:r>
            <a:endParaRPr sz="1275" b="0">
              <a:solidFill>
                <a:srgbClr val="282523"/>
              </a:solidFill>
            </a:endParaRPr>
          </a:p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字段是否提取完整？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476625" y="2143125"/>
            <a:ext cx="2190750" cy="1666875"/>
          </a:xfrm>
          <a:prstGeom prst="roundRect">
            <a:avLst>
              <a:gd name="adj" fmla="val 12571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67125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流程路由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67125" y="29241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进入了哪个节点？</a:t>
            </a:r>
            <a:endParaRPr sz="1275" b="0">
              <a:solidFill>
                <a:srgbClr val="282523"/>
              </a:solidFill>
            </a:endParaRPr>
          </a:p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为什么选择这个分支？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286500" y="2143125"/>
            <a:ext cx="2190750" cy="1666875"/>
          </a:xfrm>
          <a:prstGeom prst="roundRect">
            <a:avLst>
              <a:gd name="adj" fmla="val 12571"/>
            </a:avLst>
          </a:prstGeom>
          <a:solidFill>
            <a:srgbClr val="EAF3EC"/>
          </a:solidFill>
          <a:ln w="13335">
            <a:solidFill>
              <a:srgbClr val="3E755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77000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状态变化</a:t>
            </a:r>
            <a:endParaRPr sz="1650" b="1">
              <a:solidFill>
                <a:srgbClr val="3E755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29241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当前等待什么？</a:t>
            </a:r>
            <a:endParaRPr sz="1275" b="0">
              <a:solidFill>
                <a:srgbClr val="282523"/>
              </a:solidFill>
            </a:endParaRPr>
          </a:p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中断恢复是否正确？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096375" y="2143125"/>
            <a:ext cx="2190750" cy="1666875"/>
          </a:xfrm>
          <a:prstGeom prst="roundRect">
            <a:avLst>
              <a:gd name="adj" fmla="val 12571"/>
            </a:avLst>
          </a:prstGeom>
          <a:solidFill>
            <a:srgbClr val="F9E9E7"/>
          </a:solidFill>
          <a:ln w="13335">
            <a:solidFill>
              <a:srgbClr val="B4484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286875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ERP 工具</a:t>
            </a:r>
            <a:endParaRPr sz="1650" b="1">
              <a:solidFill>
                <a:srgbClr val="B4484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86875" y="29241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调用了哪个接口？</a:t>
            </a:r>
            <a:endParaRPr sz="1275" b="0">
              <a:solidFill>
                <a:srgbClr val="282523"/>
              </a:solidFill>
            </a:endParaRPr>
          </a:p>
          <a:p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入参与返回是否正确？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42950" y="4267200"/>
            <a:ext cx="10702290" cy="2033905"/>
          </a:xfrm>
          <a:prstGeom prst="roundRect">
            <a:avLst>
              <a:gd name="adj" fmla="val 12778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57275" y="44958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LangSmith / Trace 需要重点观察</a:t>
            </a:r>
            <a:endParaRPr sz="1800" b="1">
              <a:solidFill>
                <a:srgbClr val="74364A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066800" y="501015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85875" y="4933950"/>
            <a:ext cx="959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节点执行顺序与路由原因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1066800" y="526732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85875" y="5191125"/>
            <a:ext cx="959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模型输入输出与字段抽取结果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1066800" y="552450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85875" y="5448300"/>
            <a:ext cx="959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Tool 调用参数、返回和耗时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1066800" y="578167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285875" y="5705475"/>
            <a:ext cx="959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中断前后的状态差异与失败位置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47725" y="6439535"/>
            <a:ext cx="10496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排查目标：快速定位问题发生在模型、路由、状态还是 ERP 接口</a:t>
            </a:r>
            <a:endParaRPr sz="1350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优化方向：稳定流程标准化，开放判断 Agent 化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20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33425" y="1533525"/>
            <a:ext cx="5010150" cy="3257550"/>
          </a:xfrm>
          <a:prstGeom prst="roundRect">
            <a:avLst>
              <a:gd name="adj" fmla="val 7895"/>
            </a:avLst>
          </a:prstGeom>
          <a:solidFill>
            <a:srgbClr val="EAF3EC"/>
          </a:solidFill>
          <a:ln w="14288">
            <a:solidFill>
              <a:srgbClr val="3E755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57275" y="1819275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适合保留在流程中的内容</a:t>
            </a:r>
            <a:endParaRPr sz="1950" b="1">
              <a:solidFill>
                <a:srgbClr val="3E7551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104900" y="25241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23975" y="24479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字段是否完整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104900" y="29813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23975" y="29051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业务校验是否通过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104900" y="34385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23975" y="33623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是否已经生成预览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104900" y="38957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23975" y="38195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用户是否明确确认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104900" y="43529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23975" y="42767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写入是否幂等、可审计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48425" y="1533525"/>
            <a:ext cx="5010150" cy="3257550"/>
          </a:xfrm>
          <a:prstGeom prst="roundRect">
            <a:avLst>
              <a:gd name="adj" fmla="val 7895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772275" y="1819275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适合交给 Agent 的内容</a:t>
            </a:r>
            <a:endParaRPr sz="1950" b="1">
              <a:solidFill>
                <a:srgbClr val="BF7326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6819900" y="25241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38975" y="24479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理解用户真实目标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819900" y="29813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038975" y="29051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从自然语言提取信息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819900" y="34385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38975" y="33623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决定需要查询哪些上下文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19900" y="38957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038975" y="38195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组织日报和业务摘要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819900" y="43529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38975" y="42767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面对开放任务制定下一步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52197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配套改进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81050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规则配置化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3495675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590925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节点单一职责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210300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305550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统一 ERP 工具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924925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020175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LangSmith 全链路观测</a:t>
            </a:r>
            <a:endParaRPr sz="13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核心结论：AI 增加自然语言入口，ERP 保证可信执行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CORE TAKEAWAYS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21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438275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3E8E5"/>
          </a:solidFill>
          <a:ln w="12383">
            <a:solidFill>
              <a:srgbClr val="74364A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76300" y="1647825"/>
            <a:ext cx="476250" cy="4762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76212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52575" y="1628775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AI没有替代ERP，而是为ERP增加自然语言业务入口。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2495550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3E8E5"/>
          </a:solidFill>
          <a:ln w="12383">
            <a:solidFill>
              <a:srgbClr val="74364A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876300" y="2705100"/>
            <a:ext cx="476250" cy="4762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8194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52575" y="2686050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首批选择审批和日报，因为高频、典型、容易验证闭环。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" y="3552825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876300" y="3762375"/>
            <a:ext cx="476250" cy="4762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387667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552575" y="3743325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用户只说业务目标，AI负责理解和补充信息。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4610100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76300" y="4819650"/>
            <a:ext cx="476250" cy="4762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49339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52575" y="4800600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ERP继续负责权限、规则、字段和最终写入。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229350" y="1438275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6419850" y="1647825"/>
            <a:ext cx="476250" cy="476250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19850" y="176212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96125" y="1628775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LangChain提供基础组件，LangGraph负责流程，Deep Agents探索自主规划。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229350" y="2495550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6419850" y="2705100"/>
            <a:ext cx="476250" cy="476250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19850" y="28194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96125" y="2686050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最终选择LangGraph，是因为ERP更需要可控、可恢复和可审计。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229350" y="3552825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9E9E7"/>
          </a:solidFill>
          <a:ln w="12383">
            <a:solidFill>
              <a:srgbClr val="B44842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6419850" y="3762375"/>
            <a:ext cx="476250" cy="476250"/>
          </a:xfrm>
          <a:prstGeom prst="ellipse">
            <a:avLst/>
          </a:prstGeom>
          <a:solidFill>
            <a:srgbClr val="B44842"/>
          </a:solidFill>
          <a:ln w="0">
            <a:solidFill>
              <a:srgbClr val="B4484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19850" y="387667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07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096125" y="3743325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当前最大问题是动态字段、流程分支和状态复杂度。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229350" y="4610100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3E8E5"/>
          </a:solidFill>
          <a:ln w="12383">
            <a:solidFill>
              <a:srgbClr val="74364A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6419850" y="4819650"/>
            <a:ext cx="476250" cy="4762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419850" y="49339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08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096125" y="4800600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下一步要把试点沉淀为统一Schema、统一Tool和统一观测体系。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04850" y="5895975"/>
            <a:ext cx="10782300" cy="533400"/>
          </a:xfrm>
          <a:prstGeom prst="roundRect">
            <a:avLst>
              <a:gd name="adj" fmla="val 26786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71550" y="6038850"/>
            <a:ext cx="1024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用户从“找功能、填表单”转向“说目标、确认结果”</a:t>
            </a:r>
            <a:endParaRPr sz="16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下一步：从两个场景沉淀 ERP 智能化底座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22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4029075" y="3124200"/>
            <a:ext cx="552450" cy="3619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7743825" y="3124200"/>
            <a:ext cx="552450" cy="3619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9532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F3E8E5"/>
          </a:solidFill>
          <a:ln w="14288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8107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近期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8107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完善审批与日报闭环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019175" y="355282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动态字段适配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19175" y="401955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3825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确认与错误恢复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19175" y="448627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链路观测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1007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469582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中期</a:t>
            </a:r>
            <a:endParaRPr sz="1500" b="1">
              <a:solidFill>
                <a:srgbClr val="BF732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9582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沉淀通用能力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733925" y="35528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5300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统一业务 Schema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4733925" y="40195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 ERP Tool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4733925" y="44862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5300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公司级配置适配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2482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EAF3EC"/>
          </a:solidFill>
          <a:ln w="14288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矩形 25"/>
          <p:cNvSpPr>
            <a:spLocks noGrp="1"/>
          </p:cNvSpPr>
          <p:nvPr/>
        </p:nvSpPr>
        <p:spPr>
          <a:xfrm>
            <a:off x="841057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长期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1057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扩展更多 ERP 场景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8448675" y="35528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66775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订单与库存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8448675" y="40195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66775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客户跟进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448675" y="44862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66775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经营分析与任务执行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04850" y="5495925"/>
            <a:ext cx="10782300" cy="790575"/>
          </a:xfrm>
          <a:prstGeom prst="roundRect">
            <a:avLst>
              <a:gd name="adj" fmla="val 22892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81075" y="5695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 LangGraph 作为主框架：让 AI 理解任务，让 ERP 流程稳定、可控、可追踪</a:t>
            </a:r>
            <a:endParaRPr sz="187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附录：聊天助手顶层路由图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LANGGRAPH STUDIO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23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2276809"/>
            <a:ext cx="6400800" cy="3060032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节点职责（与代码对应）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01200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START / END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0" y="176212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进入主图 / 本轮处理结束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16408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21170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memory_agent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0" y="221170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记录输入，补充短期记忆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261366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266128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intent_router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715500" y="266128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按意图与会话状态分配业务 Agent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306324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311086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user_profile_agent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715500" y="311086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加载当前用户和直属上级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351282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356044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user_info_agent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15500" y="356044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回答用户、上级和部门问题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39624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401002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approval_creation_agent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0" y="401002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进入审批发起子流程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441198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48550" y="445960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15500" y="445960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进入标准日报子流程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48550" y="486156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448550" y="490918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daily_report_create_agent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715500" y="490918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自主调用日报工具完成任务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48550" y="531114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448550" y="535876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daily_report_agentic_workflow_demo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715500" y="535876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演示 Agent 规划与流程闸门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448550" y="576072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448550" y="580834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general_chat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715500" y="580834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处理闲聊并保留业务上下文</a:t>
            </a:r>
            <a:endParaRPr sz="112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审批子图：入口、上下文与路由决策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1/2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24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111938"/>
            <a:ext cx="6400800" cy="3377074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节点职责：入口与路由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496425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610725" y="1762125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进入审批子图 / 本轮处理结束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276475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324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approval_creation_entry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610725" y="2324100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标记进入审批发起流程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283845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28860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load_context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10725" y="2886075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加载用户上下文和可用审批模板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3400425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344805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classify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10725" y="3448050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识别模板、会话状态和用户动作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39624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401002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decision_review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10725" y="4010025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复核路由与提交条件，限制循环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4524375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45720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clarify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10725" y="4572000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返回缺失、冲突或模板选择提示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508635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48550" y="51339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general_chat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10725" y="5133975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处理非审批问题并保留审批上下文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48550" y="5648325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448550" y="569595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resume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610725" y="5695950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提示当前等待项，帮助继续审批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审批子图：字段、审批人与安全提交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2/2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25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111938"/>
            <a:ext cx="6400800" cy="3377074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节点职责：业务执行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496425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610725" y="1762125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收集动态字段，缺失时继续追问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356757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404382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validate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610725" y="2404382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按 ERP 或模板规则校验字段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2999014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3046639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assignee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10725" y="3046639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获取审批节点，必要时选择审批人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3641271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3688896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10725" y="3688896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生成完整预览，等待明确确认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4283529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4331154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10725" y="4331154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确认守卫通过后正式提交 ERP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4925786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4973411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already_submitted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10725" y="4973411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返回原提交结果，防止重复提交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5568043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48550" y="5615668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10725" y="5615668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取消申请并重置审批状态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标准日报子图：准备上下文与收集信息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1/2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26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47370" y="151511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853840"/>
            <a:ext cx="6400800" cy="3893270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节点职责：准备与编辑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39300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53600" y="17621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进入日报子图 / 本轮处理结束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4638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5114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daily_report_entry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53600" y="25114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初始化标准日报模式和会话状态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32131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32607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daily_report_action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753600" y="32607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判断加载、补内容、改日期或提交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39624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40100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load_daily_report_context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753600" y="40100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加载字段、配置、草稿和同步数据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47117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47593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collect_daily_report_content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53600" y="47593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收集或修改日报工作内容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54610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55086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collect_daily_report_date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53600" y="55086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收集日期并重载当天上下文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标准日报子图：草稿、预览与提交恢复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2/2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27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853840"/>
            <a:ext cx="6400800" cy="3893270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节点职责：写入与恢复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0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save_daily_report_draft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829800" y="176212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将完整 payload 保存为 ERP 草稿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61366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66128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preview_daily_report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829800" y="266128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生成预览以及确认、修改、取消动作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351282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356044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submit_daily_report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829800" y="356044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明确确认后提交；失败时保留编辑态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441198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445960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cancel_daily_report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829800" y="445960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取消提交并回到日报内容编辑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531114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535876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interrupt_daily_report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829800" y="535876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暂停等待输入，resume 后继续路由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daily_report_create_agent：自主规划的日报实验版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CREATE AGENT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27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67080" y="1585595"/>
            <a:ext cx="4305300" cy="3648075"/>
          </a:xfrm>
          <a:prstGeom prst="roundRect">
            <a:avLst>
              <a:gd name="adj" fmla="val 7311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88595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开放输入，自主选择工具</a:t>
            </a:r>
            <a:endParaRPr sz="1950" b="1">
              <a:solidFill>
                <a:srgbClr val="BF7326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66800" y="2543175"/>
            <a:ext cx="3429000" cy="628650"/>
          </a:xfrm>
          <a:prstGeom prst="roundRect">
            <a:avLst>
              <a:gd name="adj" fmla="val 30303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276350" y="268605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把今天的客户跟进整理成日报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35814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Agent 自主判断</a:t>
            </a:r>
            <a:endParaRPr sz="1650" b="1">
              <a:solidFill>
                <a:srgbClr val="BF7326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04900" y="400050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23975" y="3924300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通过后端工具确认日期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04900" y="43529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23975" y="4276725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加载字段、配置、草稿与同步数据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04900" y="47053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23975" y="4629150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保存草稿并生成预览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04900" y="50577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23975" y="4895850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反馈后继续补充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5324475" y="3057525"/>
            <a:ext cx="704850" cy="400050"/>
          </a:xfrm>
          <a:prstGeom prst="right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29350" y="1581150"/>
            <a:ext cx="5219700" cy="3648075"/>
          </a:xfrm>
          <a:prstGeom prst="roundRect">
            <a:avLst>
              <a:gd name="adj" fmla="val 7311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6591300" y="1885950"/>
            <a:ext cx="1714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ERP 写入边界</a:t>
            </a:r>
            <a:endParaRPr sz="1950" b="1">
              <a:solidFill>
                <a:srgbClr val="3E7551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648450" y="25241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67525" y="2447925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不允许模型推断或编造日期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648450" y="31051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67525" y="3028950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接口失败必须明确返回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648450" y="36861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67525" y="3609975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自定义字段与附件必须保留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91300" y="4095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B44842"/>
                </a:solidFill>
              </a:defRPr>
            </a:pPr>
            <a:r>
              <a:rPr sz="1725" b="1">
                <a:solidFill>
                  <a:srgbClr val="B44842"/>
                </a:solidFill>
              </a:rPr>
              <a:t>提交闸门</a:t>
            </a:r>
            <a:endParaRPr sz="1725" b="1">
              <a:solidFill>
                <a:srgbClr val="B4484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38925" y="4533900"/>
            <a:ext cx="421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仅在用户明确确认后调用受保护的提交 Tool</a:t>
            </a:r>
            <a:endParaRPr sz="1425" b="1">
              <a:solidFill>
                <a:srgbClr val="B44842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52475" y="5715000"/>
            <a:ext cx="10629900" cy="542925"/>
          </a:xfrm>
          <a:prstGeom prst="roundRect">
            <a:avLst>
              <a:gd name="adj" fmla="val 26316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47750" y="5857875"/>
            <a:ext cx="100393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当前定位：独立实验入口，验证 Agent 自主工具选择，不替代标准日报流程</a:t>
            </a:r>
            <a:endParaRPr sz="1575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附录：Agentic Workflow 子图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28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14350" y="1390650"/>
            <a:ext cx="5143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13" y="1524000"/>
            <a:ext cx="4587573" cy="4552950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5886450" y="1352550"/>
            <a:ext cx="5867400" cy="4933950"/>
          </a:xfrm>
          <a:prstGeom prst="roundRect">
            <a:avLst>
              <a:gd name="adj" fmla="val 3475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6038850" y="1466850"/>
            <a:ext cx="556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节点职责（与代码对应）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86725" y="1752600"/>
            <a:ext cx="14288" cy="43624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38850" y="1800225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01025" y="1800225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进入演示子图 / 本轮处理结束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38850" y="2309813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38850" y="2357438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demo_agent_plan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01025" y="2357438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理解目标、抽取日期与内容，提出下一步建议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38850" y="2867025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38850" y="2914650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demo_confirm_date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01025" y="2914650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将相对日期转成 ERP 可用的明确日期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38850" y="3424238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38850" y="3471863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demo_load_context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201025" y="3471863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加载 ERP 默认 payload、草稿和同步数据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38850" y="3981450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38850" y="4029075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demo_agent_compose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201025" y="4029075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根据计划与上下文生成正文，只修改内容字段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38850" y="4538663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38850" y="4586288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demo_save_draft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01025" y="4586288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 Workflow 执行草稿写入，不让 Agent 直写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38850" y="5095875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38850" y="5143500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demo_preview_gate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01025" y="5143500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生成预览并暂停，等待用户确认或修改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38850" y="5653088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038850" y="5700713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demo_submit_gate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201025" y="5700713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校验预览状态与明确确认后才允许提交</a:t>
            </a:r>
            <a:endParaRPr sz="127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34925" y="0"/>
            <a:ext cx="12157075" cy="77089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16840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lang="en-US" altLang="zh-CN" sz="2850" b="1">
                <a:solidFill>
                  <a:srgbClr val="FFFFFF"/>
                </a:solidFill>
              </a:rPr>
              <a:t>Agentic Workflow</a:t>
            </a:r>
            <a:endParaRPr lang="en-US" altLang="zh-CN"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2/2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27</a:t>
            </a:r>
            <a:endParaRPr sz="900" b="1">
              <a:solidFill>
                <a:srgbClr val="A66C6B"/>
              </a:solidFill>
            </a:endParaRPr>
          </a:p>
        </p:txBody>
      </p:sp>
      <p:pic>
        <p:nvPicPr>
          <p:cNvPr id="29" name="图片 2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88340"/>
            <a:ext cx="12233910" cy="60559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企业级 RAG：连接 ERP 知识、权限与业务上下文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ARCHITECTURE 1/3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29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95325" y="1438275"/>
            <a:ext cx="10801350" cy="971550"/>
          </a:xfrm>
          <a:prstGeom prst="roundRect">
            <a:avLst>
              <a:gd name="adj" fmla="val 19608"/>
            </a:avLst>
          </a:prstGeom>
          <a:solidFill>
            <a:srgbClr val="F3E8E5"/>
          </a:solidFill>
          <a:ln w="12859">
            <a:solidFill>
              <a:srgbClr val="74364A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" y="171450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17716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04950" y="1619250"/>
            <a:ext cx="1952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知识源治理</a:t>
            </a:r>
            <a:endParaRPr sz="18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590925" y="1590675"/>
            <a:ext cx="752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制度 · SOP · 操作手册 · FAQ · ERP 字段说明与审批规则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90925" y="1971675"/>
            <a:ext cx="752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版本、更新时间、责任人、原文位置必须可追溯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5829300" y="2428875"/>
            <a:ext cx="523875" cy="19050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695325" y="2619375"/>
            <a:ext cx="10801350" cy="971550"/>
          </a:xfrm>
          <a:prstGeom prst="roundRect">
            <a:avLst>
              <a:gd name="adj" fmla="val 19608"/>
            </a:avLst>
          </a:prstGeom>
          <a:solidFill>
            <a:srgbClr val="FFF1DF"/>
          </a:solidFill>
          <a:ln w="12859">
            <a:solidFill>
              <a:srgbClr val="BF7326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914400" y="2895600"/>
            <a:ext cx="400050" cy="400050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9527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04950" y="2800350"/>
            <a:ext cx="1952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F7326"/>
                </a:solidFill>
              </a:defRPr>
            </a:pPr>
            <a:r>
              <a:rPr sz="1800" b="1">
                <a:solidFill>
                  <a:srgbClr val="BF7326"/>
                </a:solidFill>
              </a:rPr>
              <a:t>检索与安全底座</a:t>
            </a:r>
            <a:endParaRPr sz="1800" b="1">
              <a:solidFill>
                <a:srgbClr val="BF732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90925" y="2771775"/>
            <a:ext cx="752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Milvus Dense + BM25 混合检索 · RRF / Weighted 融合 · Reranker 精排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90925" y="3152775"/>
            <a:ext cx="752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tenant / company / department / ACL 在检索服务层强制过滤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5829300" y="3609975"/>
            <a:ext cx="523875" cy="19050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95325" y="3800475"/>
            <a:ext cx="10801350" cy="971550"/>
          </a:xfrm>
          <a:prstGeom prst="roundRect">
            <a:avLst>
              <a:gd name="adj" fmla="val 19608"/>
            </a:avLst>
          </a:prstGeom>
          <a:solidFill>
            <a:srgbClr val="EAF3EC"/>
          </a:solidFill>
          <a:ln w="12859">
            <a:solidFill>
              <a:srgbClr val="3E7551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914400" y="4076700"/>
            <a:ext cx="400050" cy="4000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1338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504950" y="3981450"/>
            <a:ext cx="1952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3E7551"/>
                </a:solidFill>
              </a:defRPr>
            </a:pPr>
            <a:r>
              <a:rPr sz="1800" b="1">
                <a:solidFill>
                  <a:srgbClr val="3E7551"/>
                </a:solidFill>
              </a:rPr>
              <a:t>ERP 业务协同</a:t>
            </a:r>
            <a:endParaRPr sz="1800" b="1">
              <a:solidFill>
                <a:srgbClr val="3E755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590925" y="3952875"/>
            <a:ext cx="752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RAG 回答规则 · ERP Tool 查询实时数据 · LangGraph 控制下一步动作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590925" y="4333875"/>
            <a:ext cx="752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预览、人工确认、正式提交和审计仍由业务流程负责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04850" y="5219700"/>
            <a:ext cx="10782300" cy="1066800"/>
          </a:xfrm>
          <a:prstGeom prst="roundRect">
            <a:avLst>
              <a:gd name="adj" fmla="val 16071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00125" y="5410200"/>
            <a:ext cx="10191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企业级 RAG 的核心不是“模型知道更多”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00125" y="5781675"/>
            <a:ext cx="10191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F2E7EA"/>
                </a:solidFill>
              </a:defRPr>
            </a:pPr>
            <a:r>
              <a:rPr sz="1500" b="0">
                <a:solidFill>
                  <a:srgbClr val="F2E7EA"/>
                </a:solidFill>
              </a:rPr>
              <a:t>而是知识有治理、检索有权限、回答有证据、执行有边界</a:t>
            </a:r>
            <a:endParaRPr sz="1500" b="0">
              <a:solidFill>
                <a:srgbClr val="F2E7EA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" name="矩形 53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Milvus：承载企业级混合检索与多租户隔离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MILVUS 2/3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30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438275"/>
            <a:ext cx="4133850" cy="3762375"/>
          </a:xfrm>
          <a:prstGeom prst="roundRect">
            <a:avLst>
              <a:gd name="adj" fmla="val 5823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62025" y="16764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Collection 数据结构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81075" y="2152650"/>
            <a:ext cx="1676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text</a:t>
            </a:r>
            <a:endParaRPr sz="1200" b="1">
              <a:solidFill>
                <a:srgbClr val="7436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09850" y="2152650"/>
            <a:ext cx="18859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Chunk 原文，支持引用与 BM25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524125"/>
            <a:ext cx="3476625" cy="9525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81075" y="2609850"/>
            <a:ext cx="1676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dense</a:t>
            </a:r>
            <a:endParaRPr sz="1200" b="1">
              <a:solidFill>
                <a:srgbClr val="7436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09850" y="2609850"/>
            <a:ext cx="18859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语义向量：同义表达与自然语言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981325"/>
            <a:ext cx="3476625" cy="9525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81075" y="3067050"/>
            <a:ext cx="1676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sparse</a:t>
            </a:r>
            <a:endParaRPr sz="1200" b="1">
              <a:solidFill>
                <a:srgbClr val="74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09850" y="3067050"/>
            <a:ext cx="18859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BM25：制度号、单据号、产品编码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3438525"/>
            <a:ext cx="3476625" cy="9525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81075" y="3524250"/>
            <a:ext cx="1676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来源 / 页码 / 标题</a:t>
            </a:r>
            <a:endParaRPr sz="1200" b="1">
              <a:solidFill>
                <a:srgbClr val="BF732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609850" y="3524250"/>
            <a:ext cx="18859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原文来源、页码与标题路径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71550" y="3895725"/>
            <a:ext cx="3476625" cy="9525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81075" y="3981450"/>
            <a:ext cx="1676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租户 / 公司 / 部门</a:t>
            </a:r>
            <a:endParaRPr sz="1200" b="1">
              <a:solidFill>
                <a:srgbClr val="BF732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609850" y="3981450"/>
            <a:ext cx="18859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多租户和组织权限隔离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1550" y="4352925"/>
            <a:ext cx="3476625" cy="9525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81075" y="4438650"/>
            <a:ext cx="1676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ACL / 版本 / 更新时间</a:t>
            </a:r>
            <a:endParaRPr sz="1200" b="1">
              <a:solidFill>
                <a:srgbClr val="BF732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609850" y="4438650"/>
            <a:ext cx="18859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权限、版本与增量更新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86375" y="14382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在线查询链路</a:t>
            </a:r>
            <a:endParaRPr sz="1875" b="1">
              <a:solidFill>
                <a:srgbClr val="3E7551"/>
              </a:solidFill>
            </a:endParaRP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7934325" y="2343150"/>
            <a:ext cx="419100" cy="161925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5219700" y="1895475"/>
            <a:ext cx="6286500" cy="457200"/>
          </a:xfrm>
          <a:prstGeom prst="roundRect">
            <a:avLst>
              <a:gd name="adj" fmla="val 29167"/>
            </a:avLst>
          </a:prstGeom>
          <a:solidFill>
            <a:srgbClr val="F3E8E5"/>
          </a:solidFill>
          <a:ln w="10954">
            <a:solidFill>
              <a:srgbClr val="7436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448300" y="2000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用户问题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10450" y="2000250"/>
            <a:ext cx="38385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意图、关键词与当前身份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7934325" y="2886075"/>
            <a:ext cx="419100" cy="161925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5219700" y="2438400"/>
            <a:ext cx="6286500" cy="457200"/>
          </a:xfrm>
          <a:prstGeom prst="roundRect">
            <a:avLst>
              <a:gd name="adj" fmla="val 29167"/>
            </a:avLst>
          </a:prstGeom>
          <a:solidFill>
            <a:srgbClr val="F9E9E7"/>
          </a:solidFill>
          <a:ln w="10954">
            <a:solidFill>
              <a:srgbClr val="B4484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448300" y="25431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强制权限过滤</a:t>
            </a:r>
            <a:endParaRPr sz="1350" b="1">
              <a:solidFill>
                <a:srgbClr val="B44842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410450" y="2543175"/>
            <a:ext cx="38385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tenant + company + department + ACL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33" name="右箭头 32"/>
          <p:cNvSpPr>
            <a:spLocks noGrp="1"/>
          </p:cNvSpPr>
          <p:nvPr/>
        </p:nvSpPr>
        <p:spPr>
          <a:xfrm>
            <a:off x="7934325" y="3429000"/>
            <a:ext cx="419100" cy="161925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5219700" y="2981325"/>
            <a:ext cx="6286500" cy="457200"/>
          </a:xfrm>
          <a:prstGeom prst="roundRect">
            <a:avLst>
              <a:gd name="adj" fmla="val 29167"/>
            </a:avLst>
          </a:prstGeom>
          <a:solidFill>
            <a:srgbClr val="FFF1DF"/>
          </a:solidFill>
          <a:ln w="10954">
            <a:solidFill>
              <a:srgbClr val="BF732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448300" y="30861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Dense + BM25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410450" y="3086100"/>
            <a:ext cx="38385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语义召回与精确召回并行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37" name="右箭头 36"/>
          <p:cNvSpPr>
            <a:spLocks noGrp="1"/>
          </p:cNvSpPr>
          <p:nvPr/>
        </p:nvSpPr>
        <p:spPr>
          <a:xfrm>
            <a:off x="7934325" y="3971925"/>
            <a:ext cx="419100" cy="161925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5219700" y="3524250"/>
            <a:ext cx="6286500" cy="457200"/>
          </a:xfrm>
          <a:prstGeom prst="roundRect">
            <a:avLst>
              <a:gd name="adj" fmla="val 29167"/>
            </a:avLst>
          </a:prstGeom>
          <a:solidFill>
            <a:srgbClr val="F3E8E5"/>
          </a:solidFill>
          <a:ln w="10954">
            <a:solidFill>
              <a:srgbClr val="74364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448300" y="36290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RRF / Weighted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410450" y="3629025"/>
            <a:ext cx="38385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融合不同检索结果的排名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41" name="右箭头 40"/>
          <p:cNvSpPr>
            <a:spLocks noGrp="1"/>
          </p:cNvSpPr>
          <p:nvPr/>
        </p:nvSpPr>
        <p:spPr>
          <a:xfrm>
            <a:off x="7934325" y="4514850"/>
            <a:ext cx="419100" cy="161925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5219700" y="4067175"/>
            <a:ext cx="6286500" cy="457200"/>
          </a:xfrm>
          <a:prstGeom prst="roundRect">
            <a:avLst>
              <a:gd name="adj" fmla="val 29167"/>
            </a:avLst>
          </a:prstGeom>
          <a:solidFill>
            <a:srgbClr val="EAF3EC"/>
          </a:solidFill>
          <a:ln w="10954">
            <a:solidFill>
              <a:srgbClr val="3E7551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448300" y="41719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Reranker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410450" y="4171950"/>
            <a:ext cx="38385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精排 Top-K，过滤高相似噪声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5219700" y="4610100"/>
            <a:ext cx="6286500" cy="457200"/>
          </a:xfrm>
          <a:prstGeom prst="roundRect">
            <a:avLst>
              <a:gd name="adj" fmla="val 29167"/>
            </a:avLst>
          </a:prstGeom>
          <a:solidFill>
            <a:srgbClr val="EAF3EC"/>
          </a:solidFill>
          <a:ln w="10954">
            <a:solidFill>
              <a:srgbClr val="3E7551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448300" y="471487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来源证据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410450" y="4714875"/>
            <a:ext cx="38385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返回文档、章节、版本与原文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95325" y="5381625"/>
            <a:ext cx="10801350" cy="866775"/>
          </a:xfrm>
          <a:prstGeom prst="roundRect">
            <a:avLst>
              <a:gd name="adj" fmla="val 17582"/>
            </a:avLst>
          </a:prstGeom>
          <a:solidFill>
            <a:srgbClr val="FFF1DF"/>
          </a:solidFill>
          <a:ln w="11430">
            <a:solidFill>
              <a:srgbClr val="BF7326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42975" y="5562600"/>
            <a:ext cx="1143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部署选择</a:t>
            </a:r>
            <a:endParaRPr sz="1500" b="1">
              <a:solidFill>
                <a:srgbClr val="BF7326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238375" y="5562600"/>
            <a:ext cx="2000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Lite：学习 / Demo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410075" y="5562600"/>
            <a:ext cx="2333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Standalone：单机试点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896100" y="5562600"/>
            <a:ext cx="42291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Distributed / Cloud：规模化、高可用、并发与弹性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42975" y="5905500"/>
            <a:ext cx="10163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ERP 同时存在语义问题与精确编号：Dense + BM25 比单路向量检索更合适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" name="矩形 48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企业选型：先建立 Milvus RAG 基线，再验证图检索增益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SELECTION 3/3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31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466850"/>
            <a:ext cx="3352800" cy="3467100"/>
          </a:xfrm>
          <a:prstGeom prst="roundRect">
            <a:avLst>
              <a:gd name="adj" fmla="val 6250"/>
            </a:avLst>
          </a:prstGeom>
          <a:solidFill>
            <a:srgbClr val="EAF3EC"/>
          </a:solidFill>
          <a:ln w="13811">
            <a:solidFill>
              <a:srgbClr val="3E755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1724025"/>
            <a:ext cx="2914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Milvus 混合 RAG</a:t>
            </a:r>
            <a:endParaRPr sz="1875" b="1">
              <a:solidFill>
                <a:srgbClr val="3E755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4875" y="21526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ERP 第一阶段首选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981075" y="27622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686050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适合：制度、FAQ、字段说明、操作手册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81075" y="32861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3209925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优势：稳定、成本可控、增量更新简单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981075" y="381000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00150" y="3733800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局限：不显式建模跨文档复杂关系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81075" y="43338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00150" y="4257675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重点：权限、混合检索、来源与评测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286250" y="1466850"/>
            <a:ext cx="3352800" cy="3467100"/>
          </a:xfrm>
          <a:prstGeom prst="roundRect">
            <a:avLst>
              <a:gd name="adj" fmla="val 6250"/>
            </a:avLst>
          </a:prstGeom>
          <a:solidFill>
            <a:srgbClr val="F3E8E5"/>
          </a:solidFill>
          <a:ln w="13811">
            <a:solidFill>
              <a:srgbClr val="74364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05325" y="1724025"/>
            <a:ext cx="2914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Microsoft GraphRAG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05325" y="21526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复杂关系专项验证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581525" y="276225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800600" y="2686050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适合：跨文档多跳、全局主题与风险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4581525" y="328612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00600" y="3209925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优势：实体关系、社区发现、全局检索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4581525" y="381000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800600" y="3733800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代价：索引成本高，实体消歧与更新复杂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4581525" y="433387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00600" y="4257675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风险：权限需传播到实体、关系和社区报告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886700" y="1466850"/>
            <a:ext cx="3352800" cy="3467100"/>
          </a:xfrm>
          <a:prstGeom prst="roundRect">
            <a:avLst>
              <a:gd name="adj" fmla="val 6250"/>
            </a:avLst>
          </a:prstGeom>
          <a:solidFill>
            <a:srgbClr val="FFF1DF"/>
          </a:solidFill>
          <a:ln w="13811">
            <a:solidFill>
              <a:srgbClr val="BF732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105775" y="1724025"/>
            <a:ext cx="2914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LightRAG</a:t>
            </a:r>
            <a:endParaRPr sz="1875" b="1">
              <a:solidFill>
                <a:srgbClr val="BF7326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05775" y="21526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第二阶段轻量试验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8181975" y="27622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401050" y="2686050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适合：图关系能力与持续增量知识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181975" y="32861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401050" y="3209925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优势：图召回与向量召回融合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8181975" y="381000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01050" y="3733800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代价：仍需实体抽取、消歧和图存储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8181975" y="43338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401050" y="4257675"/>
            <a:ext cx="25431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原则：Light 不代表没有索引成本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38" name="右箭头 37"/>
          <p:cNvSpPr>
            <a:spLocks noGrp="1"/>
          </p:cNvSpPr>
          <p:nvPr/>
        </p:nvSpPr>
        <p:spPr>
          <a:xfrm>
            <a:off x="4057650" y="5534025"/>
            <a:ext cx="228600" cy="19050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685800" y="5219700"/>
            <a:ext cx="3352800" cy="990600"/>
          </a:xfrm>
          <a:prstGeom prst="roundRect">
            <a:avLst>
              <a:gd name="adj" fmla="val 15385"/>
            </a:avLst>
          </a:prstGeom>
          <a:solidFill>
            <a:srgbClr val="EAF3EC"/>
          </a:solidFill>
          <a:ln w="11430">
            <a:solidFill>
              <a:srgbClr val="3E7551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66775" y="5381625"/>
            <a:ext cx="809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阶段 1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66775" y="5705475"/>
            <a:ext cx="29908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Milvus 混合 RAG + 权限 + 固定评测集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42" name="右箭头 41"/>
          <p:cNvSpPr>
            <a:spLocks noGrp="1"/>
          </p:cNvSpPr>
          <p:nvPr/>
        </p:nvSpPr>
        <p:spPr>
          <a:xfrm>
            <a:off x="7658100" y="5534025"/>
            <a:ext cx="228600" cy="19050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4286250" y="5219700"/>
            <a:ext cx="3352800" cy="990600"/>
          </a:xfrm>
          <a:prstGeom prst="roundRect">
            <a:avLst>
              <a:gd name="adj" fmla="val 15385"/>
            </a:avLst>
          </a:prstGeom>
          <a:solidFill>
            <a:srgbClr val="F3E8E5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467225" y="5381625"/>
            <a:ext cx="809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阶段 2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467225" y="5705475"/>
            <a:ext cx="29908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选择多跳 / 全局问题验证图 RAG 价值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886700" y="5219700"/>
            <a:ext cx="3352800" cy="990600"/>
          </a:xfrm>
          <a:prstGeom prst="roundRect">
            <a:avLst>
              <a:gd name="adj" fmla="val 15385"/>
            </a:avLst>
          </a:prstGeom>
          <a:solidFill>
            <a:srgbClr val="FFF1DF"/>
          </a:solidFill>
          <a:ln w="11430">
            <a:solidFill>
              <a:srgbClr val="BF7326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067675" y="5381625"/>
            <a:ext cx="809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阶段 3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067675" y="5705475"/>
            <a:ext cx="29908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同数据同模型比较质量、成本、P95 与增量更新</a:t>
            </a:r>
            <a:endParaRPr sz="1125" b="0">
              <a:solidFill>
                <a:srgbClr val="28252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" name="矩形 49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一次请求，如何从聊天走到 ERP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ERP WORKFLOW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32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2133600" y="2505075"/>
            <a:ext cx="200025" cy="2095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23875" y="1704975"/>
            <a:ext cx="1619250" cy="1524000"/>
          </a:xfrm>
          <a:prstGeom prst="roundRect">
            <a:avLst>
              <a:gd name="adj" fmla="val 11250"/>
            </a:avLst>
          </a:prstGeom>
          <a:solidFill>
            <a:srgbClr val="F3E8E5"/>
          </a:solidFill>
          <a:ln w="12383">
            <a:solidFill>
              <a:srgbClr val="74364A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123950" y="187642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1933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8175" y="23812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用户提问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8175" y="2695575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自然语言</a:t>
            </a:r>
            <a:endParaRPr sz="1125" b="0">
              <a:solidFill>
                <a:srgbClr val="282523"/>
              </a:solidFill>
            </a:endParaRPr>
          </a:p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表达业务目标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3990975" y="2505075"/>
            <a:ext cx="200025" cy="2095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381250" y="1704975"/>
            <a:ext cx="1619250" cy="1524000"/>
          </a:xfrm>
          <a:prstGeom prst="roundRect">
            <a:avLst>
              <a:gd name="adj" fmla="val 11250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2981325" y="1876425"/>
            <a:ext cx="400050" cy="400050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81325" y="1933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495550" y="23812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LLM 理解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495550" y="2695575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识别意图</a:t>
            </a:r>
            <a:endParaRPr sz="1125" b="0">
              <a:solidFill>
                <a:srgbClr val="282523"/>
              </a:solidFill>
            </a:endParaRPr>
          </a:p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抽取业务字段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5848350" y="2505075"/>
            <a:ext cx="200025" cy="2095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4238625" y="1704975"/>
            <a:ext cx="1619250" cy="1524000"/>
          </a:xfrm>
          <a:prstGeom prst="roundRect">
            <a:avLst>
              <a:gd name="adj" fmla="val 11250"/>
            </a:avLst>
          </a:prstGeom>
          <a:solidFill>
            <a:srgbClr val="F9E9E7"/>
          </a:solidFill>
          <a:ln w="12383">
            <a:solidFill>
              <a:srgbClr val="B44842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4838700" y="1876425"/>
            <a:ext cx="400050" cy="400050"/>
          </a:xfrm>
          <a:prstGeom prst="ellipse">
            <a:avLst/>
          </a:prstGeom>
          <a:solidFill>
            <a:srgbClr val="B44842"/>
          </a:solidFill>
          <a:ln w="0">
            <a:solidFill>
              <a:srgbClr val="B4484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838700" y="1933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352925" y="23812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路由选择</a:t>
            </a:r>
            <a:endParaRPr sz="1350" b="1">
              <a:solidFill>
                <a:srgbClr val="B4484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52925" y="2695575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制度问答</a:t>
            </a:r>
            <a:endParaRPr sz="1125" b="0">
              <a:solidFill>
                <a:srgbClr val="282523"/>
              </a:solidFill>
            </a:endParaRPr>
          </a:p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实时查询 · 业务动作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7705725" y="2505075"/>
            <a:ext cx="200025" cy="2095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096000" y="1704975"/>
            <a:ext cx="1619250" cy="1524000"/>
          </a:xfrm>
          <a:prstGeom prst="roundRect">
            <a:avLst>
              <a:gd name="adj" fmla="val 11250"/>
            </a:avLst>
          </a:prstGeom>
          <a:solidFill>
            <a:srgbClr val="F3E8E5"/>
          </a:solidFill>
          <a:ln w="12383">
            <a:solidFill>
              <a:srgbClr val="74364A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6696075" y="187642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96075" y="1933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210300" y="23812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能力调用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10300" y="2695575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RAG 检索</a:t>
            </a:r>
            <a:endParaRPr sz="1125" b="0">
              <a:solidFill>
                <a:srgbClr val="282523"/>
              </a:solidFill>
            </a:endParaRPr>
          </a:p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或 ERP Tool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9563100" y="2505075"/>
            <a:ext cx="200025" cy="2095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7953375" y="1704975"/>
            <a:ext cx="1619250" cy="1524000"/>
          </a:xfrm>
          <a:prstGeom prst="roundRect">
            <a:avLst>
              <a:gd name="adj" fmla="val 11250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8553450" y="1876425"/>
            <a:ext cx="400050" cy="4000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553450" y="1933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67675" y="23812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LangGraph 控制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067675" y="2695575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追问 · 校验</a:t>
            </a:r>
            <a:endParaRPr sz="1125" b="0">
              <a:solidFill>
                <a:srgbClr val="282523"/>
              </a:solidFill>
            </a:endParaRPr>
          </a:p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预览 · 确认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9810750" y="1704975"/>
            <a:ext cx="1619250" cy="1524000"/>
          </a:xfrm>
          <a:prstGeom prst="roundRect">
            <a:avLst>
              <a:gd name="adj" fmla="val 11250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10410825" y="1876425"/>
            <a:ext cx="400050" cy="4000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410825" y="1933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06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925050" y="23812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返回结果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925050" y="2695575"/>
            <a:ext cx="13906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证据回答</a:t>
            </a:r>
            <a:endParaRPr sz="1125" b="0">
              <a:solidFill>
                <a:srgbClr val="282523"/>
              </a:solidFill>
            </a:endParaRPr>
          </a:p>
          <a:p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或写入 ERP</a:t>
            </a:r>
            <a:endParaRPr sz="1125" b="0">
              <a:solidFill>
                <a:srgbClr val="282523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14375" y="3705225"/>
            <a:ext cx="2857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三个关键边界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85800" y="4143375"/>
            <a:ext cx="3352800" cy="1409700"/>
          </a:xfrm>
          <a:prstGeom prst="roundRect">
            <a:avLst>
              <a:gd name="adj" fmla="val 12162"/>
            </a:avLst>
          </a:prstGeom>
          <a:solidFill>
            <a:srgbClr val="EAF3EC"/>
          </a:solidFill>
          <a:ln w="11906">
            <a:solidFill>
              <a:srgbClr val="3E7551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85825" y="43434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LLM Agent</a:t>
            </a:r>
            <a:endParaRPr sz="1425" b="1">
              <a:solidFill>
                <a:srgbClr val="3E7551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85825" y="472440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负责理解与规划，不直接修改 ERP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4286250" y="4143375"/>
            <a:ext cx="3352800" cy="1409700"/>
          </a:xfrm>
          <a:prstGeom prst="roundRect">
            <a:avLst>
              <a:gd name="adj" fmla="val 12162"/>
            </a:avLst>
          </a:prstGeom>
          <a:solidFill>
            <a:srgbClr val="FFF1DF"/>
          </a:solidFill>
          <a:ln w="11906">
            <a:solidFill>
              <a:srgbClr val="BF7326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486275" y="43434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BF7326"/>
                </a:solidFill>
              </a:defRPr>
            </a:pPr>
            <a:r>
              <a:rPr sz="1425" b="1">
                <a:solidFill>
                  <a:srgbClr val="BF7326"/>
                </a:solidFill>
              </a:rPr>
              <a:t>RAG + Milvus</a:t>
            </a:r>
            <a:endParaRPr sz="1425" b="1">
              <a:solidFill>
                <a:srgbClr val="BF7326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486275" y="472440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只在权限范围内检索制度和文档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7886700" y="4143375"/>
            <a:ext cx="3352800" cy="1409700"/>
          </a:xfrm>
          <a:prstGeom prst="roundRect">
            <a:avLst>
              <a:gd name="adj" fmla="val 12162"/>
            </a:avLst>
          </a:prstGeom>
          <a:solidFill>
            <a:srgbClr val="F9E9E7"/>
          </a:solidFill>
          <a:ln w="11906">
            <a:solidFill>
              <a:srgbClr val="B44842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086725" y="43434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ERP Tool + LangGraph</a:t>
            </a:r>
            <a:endParaRPr sz="1425" b="1">
              <a:solidFill>
                <a:srgbClr val="B44842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086725" y="472440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ERP 提供实时事实，LangGraph 控制业务写入</a:t>
            </a:r>
            <a:endParaRPr sz="1200" b="0">
              <a:solidFill>
                <a:srgbClr val="28252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后续学习与探索：从工作流走向企业级 AI 底座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33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4029075" y="3124200"/>
            <a:ext cx="552450" cy="3619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7743825" y="3124200"/>
            <a:ext cx="552450" cy="3619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9532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F3E8E5"/>
          </a:solidFill>
          <a:ln w="14288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8107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近期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8107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强化 AI 工程化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019175" y="355282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Structured Output 与 Schema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19175" y="401955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3825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Tool Calling 与幂等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19175" y="448627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LangSmith 评测体系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1007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469582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中期</a:t>
            </a:r>
            <a:endParaRPr sz="1500" b="1">
              <a:solidFill>
                <a:srgbClr val="BF732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9582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深入 LangGraph 编排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733925" y="35528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5300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State 与 Checkpoint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4733925" y="40195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Subgraph 与节点复用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4733925" y="44862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5300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Human-in-the-loop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2482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EAF3EC"/>
          </a:solidFill>
          <a:ln w="14288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矩形 25"/>
          <p:cNvSpPr>
            <a:spLocks noGrp="1"/>
          </p:cNvSpPr>
          <p:nvPr/>
        </p:nvSpPr>
        <p:spPr>
          <a:xfrm>
            <a:off x="841057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长期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1057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探索企业级 RAG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8448675" y="35528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66775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混合检索与 Rerank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8448675" y="40195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66775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权限过滤与知识治理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448675" y="44862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66775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GraphRAG / LightRAG 评测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04850" y="5495925"/>
            <a:ext cx="10782300" cy="790575"/>
          </a:xfrm>
          <a:prstGeom prst="roundRect">
            <a:avLst>
              <a:gd name="adj" fmla="val 22892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81075" y="5695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学习目标：补齐 ERP 智能化所需的稳定性、评测、治理与规模化能力</a:t>
            </a:r>
            <a:r>
              <a:rPr lang="zh-CN" sz="1875" b="1">
                <a:solidFill>
                  <a:srgbClr val="FFFFFF"/>
                </a:solidFill>
                <a:ea typeface="宋体" panose="02010600030101010101" pitchFamily="2" charset="-122"/>
              </a:rPr>
              <a:t>，提升</a:t>
            </a:r>
            <a:r>
              <a:rPr lang="zh-CN" altLang="en-US" sz="1875" b="1">
                <a:solidFill>
                  <a:srgbClr val="FFFFFF"/>
                </a:solidFill>
                <a:ea typeface="宋体" panose="02010600030101010101" pitchFamily="2" charset="-122"/>
              </a:rPr>
              <a:t>智能体性，自主性</a:t>
            </a:r>
            <a:endParaRPr lang="zh-CN" altLang="en-US" sz="1875" b="1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谢谢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34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95325" y="2636520"/>
            <a:ext cx="10820400" cy="3162300"/>
          </a:xfrm>
          <a:prstGeom prst="roundRect">
            <a:avLst>
              <a:gd name="adj" fmla="val 7831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52525" y="3312795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AI没有替代ERP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52525" y="4131945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850" b="1">
                <a:solidFill>
                  <a:srgbClr val="F2E7EA"/>
                </a:solidFill>
              </a:defRPr>
            </a:pPr>
            <a:r>
              <a:rPr sz="2850" b="1">
                <a:solidFill>
                  <a:srgbClr val="F2E7EA"/>
                </a:solidFill>
              </a:rPr>
              <a:t>而是为ERP增加自然语言业务入口</a:t>
            </a:r>
            <a:endParaRPr sz="2850" b="1">
              <a:solidFill>
                <a:srgbClr val="F2E7E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556260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74364A"/>
                </a:solidFill>
              </a:defRPr>
            </a:pPr>
            <a:endParaRPr sz="1800" b="1">
              <a:solidFill>
                <a:srgbClr val="74364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8710</Words>
  <Application>WPS 演示</Application>
  <PresentationFormat>Converted Presentation</PresentationFormat>
  <Paragraphs>1358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东波1410842834</cp:lastModifiedBy>
  <cp:revision>17</cp:revision>
  <dcterms:created xsi:type="dcterms:W3CDTF">2026-08-18T06:46:00Z</dcterms:created>
  <dcterms:modified xsi:type="dcterms:W3CDTF">2026-08-19T09:39:16Z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ADCBD1ADAA214FCC829D70FAAF3AE688_12</vt:lpwstr>
  </property>
  <property fmtid="{D5CDD505-2E9C-101B-9397-08002B2CF9AE}" pid="3" name="KSOProductBuildVer">
    <vt:lpwstr>2052-12.1.0.28043</vt:lpwstr>
  </property>
</Properties>
</file>